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9" r:id="rId1"/>
  </p:sldMasterIdLst>
  <p:notesMasterIdLst>
    <p:notesMasterId r:id="rId71"/>
  </p:notesMasterIdLst>
  <p:sldIdLst>
    <p:sldId id="256" r:id="rId2"/>
    <p:sldId id="257" r:id="rId3"/>
    <p:sldId id="258" r:id="rId4"/>
    <p:sldId id="333" r:id="rId5"/>
    <p:sldId id="334" r:id="rId6"/>
    <p:sldId id="335" r:id="rId7"/>
    <p:sldId id="336" r:id="rId8"/>
    <p:sldId id="337" r:id="rId9"/>
    <p:sldId id="264" r:id="rId10"/>
    <p:sldId id="266" r:id="rId11"/>
    <p:sldId id="338" r:id="rId12"/>
    <p:sldId id="339" r:id="rId13"/>
    <p:sldId id="340" r:id="rId14"/>
    <p:sldId id="341" r:id="rId15"/>
    <p:sldId id="342" r:id="rId16"/>
    <p:sldId id="343" r:id="rId17"/>
    <p:sldId id="344" r:id="rId18"/>
    <p:sldId id="345" r:id="rId19"/>
    <p:sldId id="346" r:id="rId20"/>
    <p:sldId id="347" r:id="rId21"/>
    <p:sldId id="348" r:id="rId22"/>
    <p:sldId id="349" r:id="rId23"/>
    <p:sldId id="350" r:id="rId24"/>
    <p:sldId id="351" r:id="rId25"/>
    <p:sldId id="352" r:id="rId26"/>
    <p:sldId id="353" r:id="rId27"/>
    <p:sldId id="284" r:id="rId28"/>
    <p:sldId id="354" r:id="rId29"/>
    <p:sldId id="355" r:id="rId30"/>
    <p:sldId id="356" r:id="rId31"/>
    <p:sldId id="357" r:id="rId32"/>
    <p:sldId id="359" r:id="rId33"/>
    <p:sldId id="358" r:id="rId34"/>
    <p:sldId id="360" r:id="rId35"/>
    <p:sldId id="361" r:id="rId36"/>
    <p:sldId id="294" r:id="rId37"/>
    <p:sldId id="362" r:id="rId38"/>
    <p:sldId id="363" r:id="rId39"/>
    <p:sldId id="364" r:id="rId40"/>
    <p:sldId id="365" r:id="rId41"/>
    <p:sldId id="366" r:id="rId42"/>
    <p:sldId id="367" r:id="rId43"/>
    <p:sldId id="368" r:id="rId44"/>
    <p:sldId id="369" r:id="rId45"/>
    <p:sldId id="370" r:id="rId46"/>
    <p:sldId id="371" r:id="rId47"/>
    <p:sldId id="372" r:id="rId48"/>
    <p:sldId id="373" r:id="rId49"/>
    <p:sldId id="375" r:id="rId50"/>
    <p:sldId id="376" r:id="rId51"/>
    <p:sldId id="377" r:id="rId52"/>
    <p:sldId id="378" r:id="rId53"/>
    <p:sldId id="379" r:id="rId54"/>
    <p:sldId id="380" r:id="rId55"/>
    <p:sldId id="381" r:id="rId56"/>
    <p:sldId id="382" r:id="rId57"/>
    <p:sldId id="383" r:id="rId58"/>
    <p:sldId id="384" r:id="rId59"/>
    <p:sldId id="374" r:id="rId60"/>
    <p:sldId id="385" r:id="rId61"/>
    <p:sldId id="386" r:id="rId62"/>
    <p:sldId id="387" r:id="rId63"/>
    <p:sldId id="388" r:id="rId64"/>
    <p:sldId id="389" r:id="rId65"/>
    <p:sldId id="390" r:id="rId66"/>
    <p:sldId id="392" r:id="rId67"/>
    <p:sldId id="391" r:id="rId68"/>
    <p:sldId id="393" r:id="rId69"/>
    <p:sldId id="394" r:id="rId70"/>
  </p:sldIdLst>
  <p:sldSz cx="12241213" cy="6858000"/>
  <p:notesSz cx="6797675" cy="987425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pos="385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3" roundtripDataSignature="AMtx7mie6OEh0F/6IbHxL234z3KtVZPX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942" y="66"/>
      </p:cViewPr>
      <p:guideLst>
        <p:guide orient="horz" pos="2160"/>
        <p:guide pos="3840"/>
        <p:guide pos="38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8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371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5250" y="741363"/>
            <a:ext cx="66071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notes"/>
          <p:cNvSpPr>
            <a:spLocks noGrp="1" noRot="1" noChangeAspect="1"/>
          </p:cNvSpPr>
          <p:nvPr>
            <p:ph type="sldImg" idx="2"/>
          </p:nvPr>
        </p:nvSpPr>
        <p:spPr>
          <a:xfrm>
            <a:off x="95250" y="741363"/>
            <a:ext cx="66071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286" name="Google Shape;286;p1: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a:t>
            </a:fld>
            <a:endParaRPr/>
          </a:p>
        </p:txBody>
      </p:sp>
      <p:sp>
        <p:nvSpPr>
          <p:cNvPr id="287" name="Google Shape;287;p1: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endParaRPr/>
          </a:p>
        </p:txBody>
      </p:sp>
      <p:sp>
        <p:nvSpPr>
          <p:cNvPr id="288" name="Google Shape;288;p1: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Ingeniera de Software I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92:notes"/>
          <p:cNvSpPr>
            <a:spLocks noGrp="1" noRot="1" noChangeAspect="1"/>
          </p:cNvSpPr>
          <p:nvPr>
            <p:ph type="sldImg" idx="2"/>
          </p:nvPr>
        </p:nvSpPr>
        <p:spPr>
          <a:xfrm>
            <a:off x="95250" y="741363"/>
            <a:ext cx="66071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9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SzPts val="1400"/>
              <a:buNone/>
            </a:pPr>
            <a:endParaRPr/>
          </a:p>
        </p:txBody>
      </p:sp>
      <p:sp>
        <p:nvSpPr>
          <p:cNvPr id="295" name="Google Shape;295;p92: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s-ES"/>
              <a:t>Ingeniera de Software I </a:t>
            </a:r>
            <a:endParaRPr/>
          </a:p>
        </p:txBody>
      </p:sp>
      <p:sp>
        <p:nvSpPr>
          <p:cNvPr id="296" name="Google Shape;296;p92: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a:p>
        </p:txBody>
      </p:sp>
      <p:sp>
        <p:nvSpPr>
          <p:cNvPr id="297" name="Google Shape;297;p92: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9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97:notes"/>
          <p:cNvSpPr>
            <a:spLocks noGrp="1" noRot="1" noChangeAspect="1"/>
          </p:cNvSpPr>
          <p:nvPr>
            <p:ph type="sldImg" idx="2"/>
          </p:nvPr>
        </p:nvSpPr>
        <p:spPr>
          <a:xfrm>
            <a:off x="95250" y="741363"/>
            <a:ext cx="66071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f30b4104d4_0_0:notes"/>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40D39F2E-D02D-DE48-38D9-D1D1C2BDC344}"/>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8E78F486-9218-225C-705E-11A69C160134}"/>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3D9265FD-FF8C-37ED-7D63-B33600BD55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A2B7840D-A571-46C2-8590-C2A544B634D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a:t>
            </a:fld>
            <a:endParaRPr/>
          </a:p>
        </p:txBody>
      </p:sp>
    </p:spTree>
    <p:extLst>
      <p:ext uri="{BB962C8B-B14F-4D97-AF65-F5344CB8AC3E}">
        <p14:creationId xmlns:p14="http://schemas.microsoft.com/office/powerpoint/2010/main" val="4078961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9A4F3BA5-815D-B51C-10B2-21A13B93201C}"/>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473324F6-4D1E-A82F-6D81-47832BFFE485}"/>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87139616-2AC5-CDC2-8DD2-CFC3E3C813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FAA66AD3-8165-C03E-0CF0-EAE1406FC42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a:t>
            </a:fld>
            <a:endParaRPr/>
          </a:p>
        </p:txBody>
      </p:sp>
    </p:spTree>
    <p:extLst>
      <p:ext uri="{BB962C8B-B14F-4D97-AF65-F5344CB8AC3E}">
        <p14:creationId xmlns:p14="http://schemas.microsoft.com/office/powerpoint/2010/main" val="222285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47D26478-F65B-AC31-83C1-8BB0BF59F2B7}"/>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8570EDC7-244F-B5AF-0871-82D56E95BC39}"/>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E0A77CF4-1C87-2144-8DA5-D8A4C28FA2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6804764E-4C96-C248-172E-1E25B3436D5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a:t>
            </a:fld>
            <a:endParaRPr/>
          </a:p>
        </p:txBody>
      </p:sp>
    </p:spTree>
    <p:extLst>
      <p:ext uri="{BB962C8B-B14F-4D97-AF65-F5344CB8AC3E}">
        <p14:creationId xmlns:p14="http://schemas.microsoft.com/office/powerpoint/2010/main" val="900346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F7181305-10AA-26AE-4415-28E15E1D7261}"/>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A8DD9685-9B58-6D35-2630-EF601B43E42F}"/>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A809146F-F316-F01A-3194-85AB7E70F9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DF1959B0-357E-0439-3B86-40E6A9958CC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a:t>
            </a:fld>
            <a:endParaRPr/>
          </a:p>
        </p:txBody>
      </p:sp>
    </p:spTree>
    <p:extLst>
      <p:ext uri="{BB962C8B-B14F-4D97-AF65-F5344CB8AC3E}">
        <p14:creationId xmlns:p14="http://schemas.microsoft.com/office/powerpoint/2010/main" val="3434206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2:notes"/>
          <p:cNvSpPr>
            <a:spLocks noGrp="1" noRot="1" noChangeAspect="1"/>
          </p:cNvSpPr>
          <p:nvPr>
            <p:ph type="sldImg" idx="2"/>
          </p:nvPr>
        </p:nvSpPr>
        <p:spPr>
          <a:xfrm>
            <a:off x="95250" y="741363"/>
            <a:ext cx="66071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4:notes"/>
          <p:cNvSpPr>
            <a:spLocks noGrp="1" noRot="1" noChangeAspect="1"/>
          </p:cNvSpPr>
          <p:nvPr>
            <p:ph type="sldImg" idx="2"/>
          </p:nvPr>
        </p:nvSpPr>
        <p:spPr>
          <a:xfrm>
            <a:off x="95250" y="741363"/>
            <a:ext cx="66071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AD02CEFA-D184-7129-ACF5-14FCF9DA97E5}"/>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7FE803D0-C458-B85B-B3A8-8A79AD3533E5}"/>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EC30AE5-BAB8-7152-A1C9-C51A253C91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85BD8A79-3636-C2C0-B7E3-C3A67481A09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11</a:t>
            </a:fld>
            <a:endParaRPr/>
          </a:p>
        </p:txBody>
      </p:sp>
    </p:spTree>
    <p:extLst>
      <p:ext uri="{BB962C8B-B14F-4D97-AF65-F5344CB8AC3E}">
        <p14:creationId xmlns:p14="http://schemas.microsoft.com/office/powerpoint/2010/main" val="4079365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2AC85803-020F-D525-FBBE-100092D15C82}"/>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EBE15BAC-5B6C-5B0E-DAFD-F76312E18683}"/>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9B3F47A0-00E0-3A99-4F8D-610CCDBB39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42327FDA-CD1C-654A-C8E1-DD7FF488BAE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12</a:t>
            </a:fld>
            <a:endParaRPr/>
          </a:p>
        </p:txBody>
      </p:sp>
    </p:spTree>
    <p:extLst>
      <p:ext uri="{BB962C8B-B14F-4D97-AF65-F5344CB8AC3E}">
        <p14:creationId xmlns:p14="http://schemas.microsoft.com/office/powerpoint/2010/main" val="1274294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481D291E-4054-42C8-ACC2-17D063CBB7B9}"/>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020C73A4-072D-68CE-8365-A05B05331E46}"/>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69ED793B-90FF-7107-612D-84945B72299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7BD7AC9B-CF05-A6D9-16F5-AA4B2A4C1B3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13</a:t>
            </a:fld>
            <a:endParaRPr/>
          </a:p>
        </p:txBody>
      </p:sp>
    </p:spTree>
    <p:extLst>
      <p:ext uri="{BB962C8B-B14F-4D97-AF65-F5344CB8AC3E}">
        <p14:creationId xmlns:p14="http://schemas.microsoft.com/office/powerpoint/2010/main" val="2559757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6A1CADB9-5B2F-A926-737C-C3C705C73E59}"/>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87CECC61-DAA6-9A0C-9F7F-9F3C941963B6}"/>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54937842-D715-E8D7-1193-45BAB28109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AA7F54B8-A1C7-A717-EAFF-DB9A4529817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14</a:t>
            </a:fld>
            <a:endParaRPr/>
          </a:p>
        </p:txBody>
      </p:sp>
    </p:spTree>
    <p:extLst>
      <p:ext uri="{BB962C8B-B14F-4D97-AF65-F5344CB8AC3E}">
        <p14:creationId xmlns:p14="http://schemas.microsoft.com/office/powerpoint/2010/main" val="1599258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E8A1B9C8-180C-D09F-D404-5D21547D285B}"/>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CF818BE2-2943-5FE2-31D6-26EFDEDE9CD0}"/>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18AD7751-6A02-F955-1B31-27EB278AF0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674DE095-4484-37EC-45B3-6297C648E72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15</a:t>
            </a:fld>
            <a:endParaRPr/>
          </a:p>
        </p:txBody>
      </p:sp>
    </p:spTree>
    <p:extLst>
      <p:ext uri="{BB962C8B-B14F-4D97-AF65-F5344CB8AC3E}">
        <p14:creationId xmlns:p14="http://schemas.microsoft.com/office/powerpoint/2010/main" val="905979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FD7BCF5C-AB59-C1F2-7D1B-B70101366EDC}"/>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B401FDC3-5966-F6D1-9B09-FC9404F0537D}"/>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B353CDE5-0033-E6A7-6823-D1F01DC735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9AE71B05-CDCD-ECED-8575-92A242613AB5}"/>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16</a:t>
            </a:fld>
            <a:endParaRPr/>
          </a:p>
        </p:txBody>
      </p:sp>
    </p:spTree>
    <p:extLst>
      <p:ext uri="{BB962C8B-B14F-4D97-AF65-F5344CB8AC3E}">
        <p14:creationId xmlns:p14="http://schemas.microsoft.com/office/powerpoint/2010/main" val="37286833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C46D1FFF-F7C1-8139-FEA9-5257D150612C}"/>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C754D406-C93C-07A0-1084-363990D1C451}"/>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89CD10D-1BF8-55E2-E160-1B8A2061C6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A59997ED-74AB-C8BE-3EB6-27C38CFA94D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17</a:t>
            </a:fld>
            <a:endParaRPr/>
          </a:p>
        </p:txBody>
      </p:sp>
    </p:spTree>
    <p:extLst>
      <p:ext uri="{BB962C8B-B14F-4D97-AF65-F5344CB8AC3E}">
        <p14:creationId xmlns:p14="http://schemas.microsoft.com/office/powerpoint/2010/main" val="389258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FF294A6F-CC25-10CC-CB8A-B52B73979089}"/>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73970B1B-71FC-E6D5-0706-4E4E2A1CF5A6}"/>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D6042A7D-6D88-44FE-00B9-4DA2D41A8F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C9A6B437-5F2E-89C4-1AEA-0E7016CDCDB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18</a:t>
            </a:fld>
            <a:endParaRPr/>
          </a:p>
        </p:txBody>
      </p:sp>
    </p:spTree>
    <p:extLst>
      <p:ext uri="{BB962C8B-B14F-4D97-AF65-F5344CB8AC3E}">
        <p14:creationId xmlns:p14="http://schemas.microsoft.com/office/powerpoint/2010/main" val="2689605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3FB5E165-1760-0CAC-590B-0A25DD0D1EF5}"/>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229379DF-DEB9-87E0-4A13-6E51D307918F}"/>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1E8423E-B0C4-1913-CA9D-D4E26F6F22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28A13E51-93DF-0191-B05E-E6198E0A88F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19</a:t>
            </a:fld>
            <a:endParaRPr/>
          </a:p>
        </p:txBody>
      </p:sp>
    </p:spTree>
    <p:extLst>
      <p:ext uri="{BB962C8B-B14F-4D97-AF65-F5344CB8AC3E}">
        <p14:creationId xmlns:p14="http://schemas.microsoft.com/office/powerpoint/2010/main" val="2226846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868CDDA1-4A28-B7F8-8C56-2D21F1319E09}"/>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0C79E1E8-8ABF-A67B-8735-34BFB2C21DA6}"/>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DC99A5E4-0425-5172-DB17-89AC5AB8C8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FBAA78A9-A27E-8B0D-9B08-D682EDD58D5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20</a:t>
            </a:fld>
            <a:endParaRPr/>
          </a:p>
        </p:txBody>
      </p:sp>
    </p:spTree>
    <p:extLst>
      <p:ext uri="{BB962C8B-B14F-4D97-AF65-F5344CB8AC3E}">
        <p14:creationId xmlns:p14="http://schemas.microsoft.com/office/powerpoint/2010/main" val="822132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F82CAEDF-BD76-B674-C754-6E4FBF7B633F}"/>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B1001D5C-05B8-DEE6-E5F8-2FC9C727554C}"/>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E6D247CF-E7AA-CFB2-FC0B-440D57E3C7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6781C314-CECB-5B68-CAE0-508E6CDE336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21</a:t>
            </a:fld>
            <a:endParaRPr/>
          </a:p>
        </p:txBody>
      </p:sp>
    </p:spTree>
    <p:extLst>
      <p:ext uri="{BB962C8B-B14F-4D97-AF65-F5344CB8AC3E}">
        <p14:creationId xmlns:p14="http://schemas.microsoft.com/office/powerpoint/2010/main" val="3094574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5E6143E7-9BC2-C97D-AB49-0C41A40FE0AD}"/>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40AFA8A9-FD19-C32D-6DF5-C85831DF9B77}"/>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CEF8548-1DBD-C485-E70A-71C57ADD25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B24B3E7F-242B-DDE6-AB28-E03A8E4744F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22</a:t>
            </a:fld>
            <a:endParaRPr/>
          </a:p>
        </p:txBody>
      </p:sp>
    </p:spTree>
    <p:extLst>
      <p:ext uri="{BB962C8B-B14F-4D97-AF65-F5344CB8AC3E}">
        <p14:creationId xmlns:p14="http://schemas.microsoft.com/office/powerpoint/2010/main" val="3216868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65D3E020-4C9A-26DE-BAFF-E0AE46A45BCA}"/>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55212F7C-2209-D2DA-A7C9-1805BF089983}"/>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FB237FFB-7DE8-B8AD-FC0D-DDF4B645CF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7AA043A6-7204-82FF-3F78-0C7A4753852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23</a:t>
            </a:fld>
            <a:endParaRPr/>
          </a:p>
        </p:txBody>
      </p:sp>
    </p:spTree>
    <p:extLst>
      <p:ext uri="{BB962C8B-B14F-4D97-AF65-F5344CB8AC3E}">
        <p14:creationId xmlns:p14="http://schemas.microsoft.com/office/powerpoint/2010/main" val="3865896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92D837C4-2A92-EB41-D514-455ED573D807}"/>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3D328F50-4925-3EB9-75B4-9C331296E257}"/>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DE3DE119-0DE3-1070-5F9D-4904CBFB763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00C03075-7D52-E5F7-8398-49074537E27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24</a:t>
            </a:fld>
            <a:endParaRPr/>
          </a:p>
        </p:txBody>
      </p:sp>
    </p:spTree>
    <p:extLst>
      <p:ext uri="{BB962C8B-B14F-4D97-AF65-F5344CB8AC3E}">
        <p14:creationId xmlns:p14="http://schemas.microsoft.com/office/powerpoint/2010/main" val="27546633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1A4A8680-1A23-3477-4EAA-A5228D42D48F}"/>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78441AEC-6128-3D2E-D172-0FDC13DF7BA8}"/>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7B7C6E47-1786-1A66-4B90-A5E3458EEF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BBDF125C-02DE-8E53-E8BB-A5893ED646F8}"/>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25</a:t>
            </a:fld>
            <a:endParaRPr/>
          </a:p>
        </p:txBody>
      </p:sp>
    </p:spTree>
    <p:extLst>
      <p:ext uri="{BB962C8B-B14F-4D97-AF65-F5344CB8AC3E}">
        <p14:creationId xmlns:p14="http://schemas.microsoft.com/office/powerpoint/2010/main" val="19864428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C971BFAB-11B8-FD8C-B4E3-7C857B483C9D}"/>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355738CC-7AED-F328-FD96-CEA98C3ACE6A}"/>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BE69DD3A-7FBB-3986-59AF-BD20C27F6FA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064824BD-3C18-F4EE-5FC3-AA00D56635F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26</a:t>
            </a:fld>
            <a:endParaRPr/>
          </a:p>
        </p:txBody>
      </p:sp>
    </p:spTree>
    <p:extLst>
      <p:ext uri="{BB962C8B-B14F-4D97-AF65-F5344CB8AC3E}">
        <p14:creationId xmlns:p14="http://schemas.microsoft.com/office/powerpoint/2010/main" val="27829328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2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2" name="Google Shape;602;p21:notes"/>
          <p:cNvSpPr>
            <a:spLocks noGrp="1" noRot="1" noChangeAspect="1"/>
          </p:cNvSpPr>
          <p:nvPr>
            <p:ph type="sldImg" idx="2"/>
          </p:nvPr>
        </p:nvSpPr>
        <p:spPr>
          <a:xfrm>
            <a:off x="95250" y="741363"/>
            <a:ext cx="66071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92607007-18FE-9EE6-EB72-84E6B5398169}"/>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6F9C6F27-64D6-AD7D-4472-5AAA72290067}"/>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B64BB6A9-CCB3-A873-F082-B1F9445FB0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D8B33A53-8444-A2E7-BC78-11A45F1CF9F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28</a:t>
            </a:fld>
            <a:endParaRPr/>
          </a:p>
        </p:txBody>
      </p:sp>
    </p:spTree>
    <p:extLst>
      <p:ext uri="{BB962C8B-B14F-4D97-AF65-F5344CB8AC3E}">
        <p14:creationId xmlns:p14="http://schemas.microsoft.com/office/powerpoint/2010/main" val="15459559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C3ACB1DF-9481-2FAB-944C-4EE9D11FFE95}"/>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79CCB262-A346-3428-4711-5EDE2628F1DA}"/>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BE6F52D6-CEB2-3A9A-36E1-B40B6EA6B4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2603118F-5B3B-8741-CEF6-65C4CBC78F0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29</a:t>
            </a:fld>
            <a:endParaRPr/>
          </a:p>
        </p:txBody>
      </p:sp>
    </p:spTree>
    <p:extLst>
      <p:ext uri="{BB962C8B-B14F-4D97-AF65-F5344CB8AC3E}">
        <p14:creationId xmlns:p14="http://schemas.microsoft.com/office/powerpoint/2010/main" val="26294414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5DB027E2-8E60-935D-EFDE-B02771D118AD}"/>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E9D75C12-4616-E10A-0758-4EB9E8A50641}"/>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9E0F2F3A-3551-F2C3-7588-BD653BE628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CDD17671-EC78-D941-01AD-6D95EABCB3B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30</a:t>
            </a:fld>
            <a:endParaRPr/>
          </a:p>
        </p:txBody>
      </p:sp>
    </p:spTree>
    <p:extLst>
      <p:ext uri="{BB962C8B-B14F-4D97-AF65-F5344CB8AC3E}">
        <p14:creationId xmlns:p14="http://schemas.microsoft.com/office/powerpoint/2010/main" val="33989964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9A5479A9-F61C-3322-6CC5-2A4F6738B8A6}"/>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BFE360A0-7FE0-6E2C-8BEF-9CD4379CE8E6}"/>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CC79B532-5EBB-2E47-5F56-C2BAF41A60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C13AA8A3-45ED-A063-221A-A23DBB76CFD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31</a:t>
            </a:fld>
            <a:endParaRPr/>
          </a:p>
        </p:txBody>
      </p:sp>
    </p:spTree>
    <p:extLst>
      <p:ext uri="{BB962C8B-B14F-4D97-AF65-F5344CB8AC3E}">
        <p14:creationId xmlns:p14="http://schemas.microsoft.com/office/powerpoint/2010/main" val="7676044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B66323FF-908F-E6A2-94EE-40F2A1DA4144}"/>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44336607-A110-83D4-4E01-3271AE4EC355}"/>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7708BC56-0940-B832-BBCB-4A10F575A0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BE23F4DF-1327-B0EA-0200-DE4DBD3094F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32</a:t>
            </a:fld>
            <a:endParaRPr/>
          </a:p>
        </p:txBody>
      </p:sp>
    </p:spTree>
    <p:extLst>
      <p:ext uri="{BB962C8B-B14F-4D97-AF65-F5344CB8AC3E}">
        <p14:creationId xmlns:p14="http://schemas.microsoft.com/office/powerpoint/2010/main" val="6776011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EA0B9A06-A914-5459-EE09-373C6F8EFCAA}"/>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186667B6-95F3-BAC1-A39B-EA354767DC81}"/>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43AB4268-C836-548F-AB33-FF1CC6AF8A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E603C972-C774-0C7A-2E9D-10978EBB9F3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33</a:t>
            </a:fld>
            <a:endParaRPr/>
          </a:p>
        </p:txBody>
      </p:sp>
    </p:spTree>
    <p:extLst>
      <p:ext uri="{BB962C8B-B14F-4D97-AF65-F5344CB8AC3E}">
        <p14:creationId xmlns:p14="http://schemas.microsoft.com/office/powerpoint/2010/main" val="40107377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D396DF7A-BF52-0A90-77EE-1E61CBFC4BDB}"/>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3ACC262D-9F74-A01C-D609-A71C4D72BEB6}"/>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2CD08288-733F-BF61-49BA-B190AACC43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0AC73607-662D-FB02-F46C-62B89CB36518}"/>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34</a:t>
            </a:fld>
            <a:endParaRPr/>
          </a:p>
        </p:txBody>
      </p:sp>
    </p:spTree>
    <p:extLst>
      <p:ext uri="{BB962C8B-B14F-4D97-AF65-F5344CB8AC3E}">
        <p14:creationId xmlns:p14="http://schemas.microsoft.com/office/powerpoint/2010/main" val="7648700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48A600BE-AAB9-32EC-8367-E58E86E299BD}"/>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A67D0BCF-FF76-3370-04FF-0AAE2BFA8322}"/>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1460294F-8496-5926-1A41-58CA5B9925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5CD2185A-7631-19CA-9111-7838908F342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35</a:t>
            </a:fld>
            <a:endParaRPr/>
          </a:p>
        </p:txBody>
      </p:sp>
    </p:spTree>
    <p:extLst>
      <p:ext uri="{BB962C8B-B14F-4D97-AF65-F5344CB8AC3E}">
        <p14:creationId xmlns:p14="http://schemas.microsoft.com/office/powerpoint/2010/main" val="24918134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9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9" name="Google Shape;689;p99:notes"/>
          <p:cNvSpPr>
            <a:spLocks noGrp="1" noRot="1" noChangeAspect="1"/>
          </p:cNvSpPr>
          <p:nvPr>
            <p:ph type="sldImg" idx="2"/>
          </p:nvPr>
        </p:nvSpPr>
        <p:spPr>
          <a:xfrm>
            <a:off x="95250" y="741363"/>
            <a:ext cx="66071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756554D9-5850-4A23-1339-08E6A55C40E1}"/>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99E8B8AE-05E0-FFE2-D6AC-3C141B0BB97B}"/>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C4FBBB4-3C30-4D70-DBBF-E0C334634F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24622D63-6F05-127E-A116-66F6F354DBD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37</a:t>
            </a:fld>
            <a:endParaRPr/>
          </a:p>
        </p:txBody>
      </p:sp>
    </p:spTree>
    <p:extLst>
      <p:ext uri="{BB962C8B-B14F-4D97-AF65-F5344CB8AC3E}">
        <p14:creationId xmlns:p14="http://schemas.microsoft.com/office/powerpoint/2010/main" val="18432096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75F1D005-C0DC-DFD7-D9B9-D6C193C3DBFB}"/>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460CA3A8-74F8-66B3-9924-8DBDE5B4E696}"/>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3220A7B1-D1FB-86C9-30F8-F36FDF7B67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6E095508-8E72-A6BD-B560-7CBFDA8851A2}"/>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38</a:t>
            </a:fld>
            <a:endParaRPr/>
          </a:p>
        </p:txBody>
      </p:sp>
    </p:spTree>
    <p:extLst>
      <p:ext uri="{BB962C8B-B14F-4D97-AF65-F5344CB8AC3E}">
        <p14:creationId xmlns:p14="http://schemas.microsoft.com/office/powerpoint/2010/main" val="2670562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DEA378B5-3C38-82BD-A9B1-295F74CA0C7A}"/>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72993DFF-27C3-8ADE-E4C0-B38B96B7D2A7}"/>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DB13B4E9-2AD1-D9F4-3B8C-887D7DF251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795BB642-AD24-317E-A720-B9A86199B52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39</a:t>
            </a:fld>
            <a:endParaRPr/>
          </a:p>
        </p:txBody>
      </p:sp>
    </p:spTree>
    <p:extLst>
      <p:ext uri="{BB962C8B-B14F-4D97-AF65-F5344CB8AC3E}">
        <p14:creationId xmlns:p14="http://schemas.microsoft.com/office/powerpoint/2010/main" val="42641583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3D2787D0-7CFD-AF87-C56A-26835CF33A71}"/>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454C3843-3B1A-D29B-913A-2677E19E8D50}"/>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1A76A51-29C1-0488-73B3-5625F5F29F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BBE11BF1-8DFE-9186-F437-79566D79982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40</a:t>
            </a:fld>
            <a:endParaRPr/>
          </a:p>
        </p:txBody>
      </p:sp>
    </p:spTree>
    <p:extLst>
      <p:ext uri="{BB962C8B-B14F-4D97-AF65-F5344CB8AC3E}">
        <p14:creationId xmlns:p14="http://schemas.microsoft.com/office/powerpoint/2010/main" val="38178032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3CB8E546-E994-03FD-DB69-99F3AB3AB706}"/>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C8CD8B52-6A33-5636-7E9D-A3B5242BB4F2}"/>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987D848C-7812-1700-FDA9-5A5564F149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3352DB4E-7B60-98D1-7EBE-EEFF36E0B02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41</a:t>
            </a:fld>
            <a:endParaRPr/>
          </a:p>
        </p:txBody>
      </p:sp>
    </p:spTree>
    <p:extLst>
      <p:ext uri="{BB962C8B-B14F-4D97-AF65-F5344CB8AC3E}">
        <p14:creationId xmlns:p14="http://schemas.microsoft.com/office/powerpoint/2010/main" val="6441523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A829F949-0E58-C11C-55B2-80F0A2D59E1B}"/>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2B96534D-10D3-F16A-C50D-9A73FE87A449}"/>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C9ACF890-9DBD-C027-736C-BCC5016238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0FEE8107-B822-4618-2570-D81F538277C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42</a:t>
            </a:fld>
            <a:endParaRPr/>
          </a:p>
        </p:txBody>
      </p:sp>
    </p:spTree>
    <p:extLst>
      <p:ext uri="{BB962C8B-B14F-4D97-AF65-F5344CB8AC3E}">
        <p14:creationId xmlns:p14="http://schemas.microsoft.com/office/powerpoint/2010/main" val="15899320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DEAB4ED0-0DBF-D22E-F834-307E211B20EF}"/>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A1DA12DB-140B-5A01-2D5A-DB44617A2B60}"/>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ABAB9052-9241-526F-961A-8AA68982DD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E149C0A5-3F06-AF12-7F1E-E2FAC618B01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43</a:t>
            </a:fld>
            <a:endParaRPr/>
          </a:p>
        </p:txBody>
      </p:sp>
    </p:spTree>
    <p:extLst>
      <p:ext uri="{BB962C8B-B14F-4D97-AF65-F5344CB8AC3E}">
        <p14:creationId xmlns:p14="http://schemas.microsoft.com/office/powerpoint/2010/main" val="20853919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3738E0A2-4B4B-901E-52A6-0C2404FFFE2C}"/>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7A6091AE-FC60-0B7E-80CA-961202FBE121}"/>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3D048528-4187-D016-5E38-FC84240E98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FCDBE8A2-C44E-56DC-7A29-C46D3E36DED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44</a:t>
            </a:fld>
            <a:endParaRPr/>
          </a:p>
        </p:txBody>
      </p:sp>
    </p:spTree>
    <p:extLst>
      <p:ext uri="{BB962C8B-B14F-4D97-AF65-F5344CB8AC3E}">
        <p14:creationId xmlns:p14="http://schemas.microsoft.com/office/powerpoint/2010/main" val="17605604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12D3AF15-4EDC-4647-92A7-80EBF095DB63}"/>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AE8F1B08-208A-D84D-A16F-D60DE2F2F43C}"/>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760888C0-448B-BA15-CE1A-1C9D52B016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DA7A6483-0B1A-D2B7-430F-2E56CFA2681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45</a:t>
            </a:fld>
            <a:endParaRPr/>
          </a:p>
        </p:txBody>
      </p:sp>
    </p:spTree>
    <p:extLst>
      <p:ext uri="{BB962C8B-B14F-4D97-AF65-F5344CB8AC3E}">
        <p14:creationId xmlns:p14="http://schemas.microsoft.com/office/powerpoint/2010/main" val="12769343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899E4458-FB1E-6FEE-15BF-852612191F5F}"/>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9F0075A8-4F8B-AF2A-F25A-5001668F6D11}"/>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1328DD5E-6EB6-5E69-9DCF-2510BD5F16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D60AB114-3876-6FB2-C07B-E73D909BA23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46</a:t>
            </a:fld>
            <a:endParaRPr/>
          </a:p>
        </p:txBody>
      </p:sp>
    </p:spTree>
    <p:extLst>
      <p:ext uri="{BB962C8B-B14F-4D97-AF65-F5344CB8AC3E}">
        <p14:creationId xmlns:p14="http://schemas.microsoft.com/office/powerpoint/2010/main" val="629343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54ED6393-6E53-BE96-C435-4887F43D1FD2}"/>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033EC4BB-D38D-9527-63EC-850F5125893F}"/>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4BC32A5-309B-338A-9389-32C86198B5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EE3D50D1-93FA-049D-16F0-E09D1B8C095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47</a:t>
            </a:fld>
            <a:endParaRPr/>
          </a:p>
        </p:txBody>
      </p:sp>
    </p:spTree>
    <p:extLst>
      <p:ext uri="{BB962C8B-B14F-4D97-AF65-F5344CB8AC3E}">
        <p14:creationId xmlns:p14="http://schemas.microsoft.com/office/powerpoint/2010/main" val="22776120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B6A5A35B-0DC7-0F86-6C76-98A6F6B29637}"/>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934F48FB-1CA0-9DAC-BD87-4BD632C4E924}"/>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ADDDD971-F406-6001-4450-C48AEEF2FB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B886A872-5B02-79EB-AE3D-5EAFB5E086E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48</a:t>
            </a:fld>
            <a:endParaRPr/>
          </a:p>
        </p:txBody>
      </p:sp>
    </p:spTree>
    <p:extLst>
      <p:ext uri="{BB962C8B-B14F-4D97-AF65-F5344CB8AC3E}">
        <p14:creationId xmlns:p14="http://schemas.microsoft.com/office/powerpoint/2010/main" val="17538496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E2DD8E16-CCF6-97C0-2A16-9DE02689C1ED}"/>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A92DBD19-ED9B-F0B7-E143-81F2C4DCCA74}"/>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7424FBAD-000B-1682-4D89-B611D9E900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DFB954A6-B3DB-381A-3113-1BBD2851BB5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49</a:t>
            </a:fld>
            <a:endParaRPr/>
          </a:p>
        </p:txBody>
      </p:sp>
    </p:spTree>
    <p:extLst>
      <p:ext uri="{BB962C8B-B14F-4D97-AF65-F5344CB8AC3E}">
        <p14:creationId xmlns:p14="http://schemas.microsoft.com/office/powerpoint/2010/main" val="14283053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47B7AC83-1520-EC03-9C6A-A7CC85BA6C41}"/>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E56514FF-444A-6E83-5898-16E72A16C4B8}"/>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A8E71FD3-B772-DBA4-C76C-1092145DF1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B87B05EF-2D8B-64E3-9A19-C119811B36D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50</a:t>
            </a:fld>
            <a:endParaRPr/>
          </a:p>
        </p:txBody>
      </p:sp>
    </p:spTree>
    <p:extLst>
      <p:ext uri="{BB962C8B-B14F-4D97-AF65-F5344CB8AC3E}">
        <p14:creationId xmlns:p14="http://schemas.microsoft.com/office/powerpoint/2010/main" val="9210412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36006677-80AF-BD95-4C4A-1FF9FDFDA967}"/>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F5239590-97E2-446D-F48A-6FD780312C9D}"/>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3504C0C4-5C8E-C4F4-76C6-BE05A5D99D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B88B36F8-B460-9B71-6353-58C72779322E}"/>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51</a:t>
            </a:fld>
            <a:endParaRPr/>
          </a:p>
        </p:txBody>
      </p:sp>
    </p:spTree>
    <p:extLst>
      <p:ext uri="{BB962C8B-B14F-4D97-AF65-F5344CB8AC3E}">
        <p14:creationId xmlns:p14="http://schemas.microsoft.com/office/powerpoint/2010/main" val="21436699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D8A58AAB-8128-40AA-F1D2-416224F211FB}"/>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018F136B-3DDF-C6FD-6B72-3700F1EB1FEF}"/>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2B640DEC-8486-C35A-0D65-A977FBEBAD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F68FB42D-FF5C-9EF1-D6E4-D56B9FD5D2D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52</a:t>
            </a:fld>
            <a:endParaRPr/>
          </a:p>
        </p:txBody>
      </p:sp>
    </p:spTree>
    <p:extLst>
      <p:ext uri="{BB962C8B-B14F-4D97-AF65-F5344CB8AC3E}">
        <p14:creationId xmlns:p14="http://schemas.microsoft.com/office/powerpoint/2010/main" val="10552583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5FA2E7EE-6A24-3A80-323F-72C65B519DF0}"/>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8AA156AD-7EBC-0242-17BA-3C1A701479F7}"/>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A232C3B5-756B-DCC6-22C3-E995ACC767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AD5D547B-835A-4B8F-9B13-EEF1BF99B513}"/>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53</a:t>
            </a:fld>
            <a:endParaRPr/>
          </a:p>
        </p:txBody>
      </p:sp>
    </p:spTree>
    <p:extLst>
      <p:ext uri="{BB962C8B-B14F-4D97-AF65-F5344CB8AC3E}">
        <p14:creationId xmlns:p14="http://schemas.microsoft.com/office/powerpoint/2010/main" val="26133216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0137C3A4-CAB7-DF48-19BF-72AAAD53AC15}"/>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A13ADF9F-857D-20E2-C6B7-05238BA737EA}"/>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6A1242EC-0782-B29D-9336-57803E0524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6ABAAB1B-B3F9-F505-B407-60DB732A42B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54</a:t>
            </a:fld>
            <a:endParaRPr/>
          </a:p>
        </p:txBody>
      </p:sp>
    </p:spTree>
    <p:extLst>
      <p:ext uri="{BB962C8B-B14F-4D97-AF65-F5344CB8AC3E}">
        <p14:creationId xmlns:p14="http://schemas.microsoft.com/office/powerpoint/2010/main" val="25028649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04B17EB6-5F7F-DE0B-A6B5-48B1274CACC4}"/>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6BA1651C-A8A5-3C42-6771-452C9FCEC7EF}"/>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090C756-723E-082F-ED8C-FCC90ACE6F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8987BC8E-6006-C5ED-74AF-3F234EE4557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55</a:t>
            </a:fld>
            <a:endParaRPr/>
          </a:p>
        </p:txBody>
      </p:sp>
    </p:spTree>
    <p:extLst>
      <p:ext uri="{BB962C8B-B14F-4D97-AF65-F5344CB8AC3E}">
        <p14:creationId xmlns:p14="http://schemas.microsoft.com/office/powerpoint/2010/main" val="22566026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9EB480D7-706F-8DBD-A806-8CF560CBB808}"/>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21A5F6DB-43F2-0F84-4326-B7D0716053B2}"/>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FBFB6196-600F-8A15-DDB0-BB32EFABE6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CD5B0CEE-1B8A-C8F1-7402-55ADC433933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56</a:t>
            </a:fld>
            <a:endParaRPr/>
          </a:p>
        </p:txBody>
      </p:sp>
    </p:spTree>
    <p:extLst>
      <p:ext uri="{BB962C8B-B14F-4D97-AF65-F5344CB8AC3E}">
        <p14:creationId xmlns:p14="http://schemas.microsoft.com/office/powerpoint/2010/main" val="10132985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D8240B9C-7ED8-37D6-2ED2-237FABD7D29C}"/>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CDAE05DC-9CBE-DA6E-73C4-DFEDECBF1899}"/>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4D524863-1B24-EF48-19AE-3C3A8E82A6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EC9A9C55-5935-068F-11CD-4C7E4C57B41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57</a:t>
            </a:fld>
            <a:endParaRPr/>
          </a:p>
        </p:txBody>
      </p:sp>
    </p:spTree>
    <p:extLst>
      <p:ext uri="{BB962C8B-B14F-4D97-AF65-F5344CB8AC3E}">
        <p14:creationId xmlns:p14="http://schemas.microsoft.com/office/powerpoint/2010/main" val="21383193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9804B51C-CD8C-09A0-449E-5D336476E122}"/>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FC39B702-C5E7-4C5B-A0F6-2D2549FE0D30}"/>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2FF1305C-FDEA-242F-8DC3-9C2CD81E3AD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0C6ACDF1-8A1D-2FFC-10A0-97969CD17ACB}"/>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58</a:t>
            </a:fld>
            <a:endParaRPr/>
          </a:p>
        </p:txBody>
      </p:sp>
    </p:spTree>
    <p:extLst>
      <p:ext uri="{BB962C8B-B14F-4D97-AF65-F5344CB8AC3E}">
        <p14:creationId xmlns:p14="http://schemas.microsoft.com/office/powerpoint/2010/main" val="19475132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E874C102-8E21-39D1-FEC5-A20C6769CE03}"/>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CAB8598A-02C5-50C3-D0ED-5E5D50C30420}"/>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839343D7-A83B-9016-40E1-CBEE592189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6FDB6DCD-63CE-62E1-5BCD-BFE57A51C2C9}"/>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59</a:t>
            </a:fld>
            <a:endParaRPr/>
          </a:p>
        </p:txBody>
      </p:sp>
    </p:spTree>
    <p:extLst>
      <p:ext uri="{BB962C8B-B14F-4D97-AF65-F5344CB8AC3E}">
        <p14:creationId xmlns:p14="http://schemas.microsoft.com/office/powerpoint/2010/main" val="2110874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1A2B17F0-4F9A-27D3-1674-103614EC0198}"/>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45BBE3C6-56A7-7345-633D-0558D4949F5E}"/>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670FD09D-D322-514B-BEB7-D3EE5D0CD1E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26C061AD-03BD-DD0C-CB0D-9A9A4EE9663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60</a:t>
            </a:fld>
            <a:endParaRPr/>
          </a:p>
        </p:txBody>
      </p:sp>
    </p:spTree>
    <p:extLst>
      <p:ext uri="{BB962C8B-B14F-4D97-AF65-F5344CB8AC3E}">
        <p14:creationId xmlns:p14="http://schemas.microsoft.com/office/powerpoint/2010/main" val="7097566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6DBDBE25-D017-F0C5-314F-69C992892A23}"/>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167768D8-C8D0-57C2-4E70-16629722F35D}"/>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700555E8-398B-B9E1-50C8-43D0EB24DC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5E8DB1EF-44C6-BE64-38BC-738D96542C9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61</a:t>
            </a:fld>
            <a:endParaRPr/>
          </a:p>
        </p:txBody>
      </p:sp>
    </p:spTree>
    <p:extLst>
      <p:ext uri="{BB962C8B-B14F-4D97-AF65-F5344CB8AC3E}">
        <p14:creationId xmlns:p14="http://schemas.microsoft.com/office/powerpoint/2010/main" val="33376523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B446EE0C-CC79-F602-2737-3209DCF9C5F4}"/>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0C7FBF8D-38C9-9277-0231-984ADF981DE3}"/>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E30FB8CD-F551-67F9-689B-28DDBEC217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01F906D1-FE28-0E8E-2601-24F059C2F71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62</a:t>
            </a:fld>
            <a:endParaRPr/>
          </a:p>
        </p:txBody>
      </p:sp>
    </p:spTree>
    <p:extLst>
      <p:ext uri="{BB962C8B-B14F-4D97-AF65-F5344CB8AC3E}">
        <p14:creationId xmlns:p14="http://schemas.microsoft.com/office/powerpoint/2010/main" val="37242913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EC92FC3E-4037-059C-2BAC-E85DFC9417CC}"/>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425DB3A8-45AD-93AB-80B0-B29B333E7E37}"/>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50F4F681-E32B-FB64-A8D4-EB365A19D7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C25F2E25-846D-B5CD-07BD-97B6CB76192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63</a:t>
            </a:fld>
            <a:endParaRPr/>
          </a:p>
        </p:txBody>
      </p:sp>
    </p:spTree>
    <p:extLst>
      <p:ext uri="{BB962C8B-B14F-4D97-AF65-F5344CB8AC3E}">
        <p14:creationId xmlns:p14="http://schemas.microsoft.com/office/powerpoint/2010/main" val="35920893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D7A8F7D4-5F06-8E03-3000-4652FFCFCE89}"/>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D3B6C958-554A-ECC1-282C-84B82C615613}"/>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8B2A096-32E5-B1FF-C0E8-2280AA7D2F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8AB1649A-C243-EA0D-D014-A18A73CD1B7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64</a:t>
            </a:fld>
            <a:endParaRPr/>
          </a:p>
        </p:txBody>
      </p:sp>
    </p:spTree>
    <p:extLst>
      <p:ext uri="{BB962C8B-B14F-4D97-AF65-F5344CB8AC3E}">
        <p14:creationId xmlns:p14="http://schemas.microsoft.com/office/powerpoint/2010/main" val="16660608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E2A9609A-A889-9B96-4498-7B6D8CE9B4CC}"/>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B37D0A6A-A3A5-EBE4-6976-E43F891C9AE9}"/>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BD79BE9B-27B4-FF00-82B1-EE09A8AB075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BCF52D7E-0103-616F-68EA-175019552D1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65</a:t>
            </a:fld>
            <a:endParaRPr/>
          </a:p>
        </p:txBody>
      </p:sp>
    </p:spTree>
    <p:extLst>
      <p:ext uri="{BB962C8B-B14F-4D97-AF65-F5344CB8AC3E}">
        <p14:creationId xmlns:p14="http://schemas.microsoft.com/office/powerpoint/2010/main" val="7784252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B6F59620-FAC4-327D-D3DE-B3407D7496DC}"/>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BC8EE9D5-E507-4176-ADA0-DCAB1879312F}"/>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703EB249-E7F4-5AFF-743C-75308FC4D7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3E31FF34-C152-3A12-6C91-0B1E17E29CA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66</a:t>
            </a:fld>
            <a:endParaRPr/>
          </a:p>
        </p:txBody>
      </p:sp>
    </p:spTree>
    <p:extLst>
      <p:ext uri="{BB962C8B-B14F-4D97-AF65-F5344CB8AC3E}">
        <p14:creationId xmlns:p14="http://schemas.microsoft.com/office/powerpoint/2010/main" val="37957943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5695101F-2A2B-3CAF-B926-1BE622B6F234}"/>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4BAA034D-55CD-07BE-AF6B-37B1A489F118}"/>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E65738DD-3197-AD95-5DBE-6ED57BF7B6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6679B20E-A5D2-3871-233D-403D8896BB1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67</a:t>
            </a:fld>
            <a:endParaRPr/>
          </a:p>
        </p:txBody>
      </p:sp>
    </p:spTree>
    <p:extLst>
      <p:ext uri="{BB962C8B-B14F-4D97-AF65-F5344CB8AC3E}">
        <p14:creationId xmlns:p14="http://schemas.microsoft.com/office/powerpoint/2010/main" val="131117662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C3E52D2A-252E-5908-1427-06A4D1F2920B}"/>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38B94E71-6811-7C1A-9A56-2BF3D8A77C8D}"/>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07B436B3-1D55-B507-2C55-E7E5B45B23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22B3785A-445A-01BE-99EE-8EB4B5E3AA6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68</a:t>
            </a:fld>
            <a:endParaRPr/>
          </a:p>
        </p:txBody>
      </p:sp>
    </p:spTree>
    <p:extLst>
      <p:ext uri="{BB962C8B-B14F-4D97-AF65-F5344CB8AC3E}">
        <p14:creationId xmlns:p14="http://schemas.microsoft.com/office/powerpoint/2010/main" val="26603274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a:extLst>
            <a:ext uri="{FF2B5EF4-FFF2-40B4-BE49-F238E27FC236}">
              <a16:creationId xmlns:a16="http://schemas.microsoft.com/office/drawing/2014/main" id="{068EA6B5-202E-FE1D-1825-E9482BAD9910}"/>
            </a:ext>
          </a:extLst>
        </p:cNvPr>
        <p:cNvGrpSpPr/>
        <p:nvPr/>
      </p:nvGrpSpPr>
      <p:grpSpPr>
        <a:xfrm>
          <a:off x="0" y="0"/>
          <a:ext cx="0" cy="0"/>
          <a:chOff x="0" y="0"/>
          <a:chExt cx="0" cy="0"/>
        </a:xfrm>
      </p:grpSpPr>
      <p:sp>
        <p:nvSpPr>
          <p:cNvPr id="143" name="Google Shape;143;g1f30b4104d4_0_0:notes">
            <a:extLst>
              <a:ext uri="{FF2B5EF4-FFF2-40B4-BE49-F238E27FC236}">
                <a16:creationId xmlns:a16="http://schemas.microsoft.com/office/drawing/2014/main" id="{3B2F69AC-D5D1-8083-4216-BA43904FC4C4}"/>
              </a:ext>
            </a:extLst>
          </p:cNvPr>
          <p:cNvSpPr>
            <a:spLocks noGrp="1" noRot="1" noChangeAspect="1"/>
          </p:cNvSpPr>
          <p:nvPr>
            <p:ph type="sldImg" idx="2"/>
          </p:nvPr>
        </p:nvSpPr>
        <p:spPr>
          <a:xfrm>
            <a:off x="369888" y="685800"/>
            <a:ext cx="6118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1f30b4104d4_0_0:notes">
            <a:extLst>
              <a:ext uri="{FF2B5EF4-FFF2-40B4-BE49-F238E27FC236}">
                <a16:creationId xmlns:a16="http://schemas.microsoft.com/office/drawing/2014/main" id="{4BDBE232-6F63-9CF5-1638-FE9F66C6A5F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 name="Google Shape;145;g1f30b4104d4_0_0:notes">
            <a:extLst>
              <a:ext uri="{FF2B5EF4-FFF2-40B4-BE49-F238E27FC236}">
                <a16:creationId xmlns:a16="http://schemas.microsoft.com/office/drawing/2014/main" id="{363EB09B-B751-A372-70C6-82C2FAC4B77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69</a:t>
            </a:fld>
            <a:endParaRPr/>
          </a:p>
        </p:txBody>
      </p:sp>
    </p:spTree>
    <p:extLst>
      <p:ext uri="{BB962C8B-B14F-4D97-AF65-F5344CB8AC3E}">
        <p14:creationId xmlns:p14="http://schemas.microsoft.com/office/powerpoint/2010/main" val="1489937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con pi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605195E1-30E4-628A-9717-20F66099C28C}"/>
              </a:ext>
            </a:extLst>
          </p:cNvPr>
          <p:cNvSpPr/>
          <p:nvPr/>
        </p:nvSpPr>
        <p:spPr>
          <a:xfrm>
            <a:off x="3188" y="6400800"/>
            <a:ext cx="122380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5" name="Rectangle 7">
            <a:extLst>
              <a:ext uri="{FF2B5EF4-FFF2-40B4-BE49-F238E27FC236}">
                <a16:creationId xmlns:a16="http://schemas.microsoft.com/office/drawing/2014/main" id="{DD2237BD-5FFA-84BB-1209-6E26BC013AB8}"/>
              </a:ext>
            </a:extLst>
          </p:cNvPr>
          <p:cNvSpPr/>
          <p:nvPr/>
        </p:nvSpPr>
        <p:spPr>
          <a:xfrm>
            <a:off x="1" y="6334125"/>
            <a:ext cx="122380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cxnSp>
        <p:nvCxnSpPr>
          <p:cNvPr id="6" name="Straight Connector 8">
            <a:extLst>
              <a:ext uri="{FF2B5EF4-FFF2-40B4-BE49-F238E27FC236}">
                <a16:creationId xmlns:a16="http://schemas.microsoft.com/office/drawing/2014/main" id="{42E5844C-A98D-1A51-5650-BC2E6E2EADB6}"/>
              </a:ext>
            </a:extLst>
          </p:cNvPr>
          <p:cNvCxnSpPr/>
          <p:nvPr/>
        </p:nvCxnSpPr>
        <p:spPr>
          <a:xfrm>
            <a:off x="1212965" y="4343400"/>
            <a:ext cx="9915701"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1709" y="758952"/>
            <a:ext cx="10099001" cy="3566160"/>
          </a:xfrm>
        </p:spPr>
        <p:txBody>
          <a:bodyPr>
            <a:normAutofit/>
          </a:bodyPr>
          <a:lstStyle>
            <a:lvl1pPr algn="l">
              <a:lnSpc>
                <a:spcPct val="85000"/>
              </a:lnSpc>
              <a:defRPr sz="72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4491" y="4455620"/>
            <a:ext cx="10099001"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7" name="Date Placeholder 3">
            <a:extLst>
              <a:ext uri="{FF2B5EF4-FFF2-40B4-BE49-F238E27FC236}">
                <a16:creationId xmlns:a16="http://schemas.microsoft.com/office/drawing/2014/main" id="{F4EF6077-466F-033E-331F-DAFF7DC7F03C}"/>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8" name="Footer Placeholder 4">
            <a:extLst>
              <a:ext uri="{FF2B5EF4-FFF2-40B4-BE49-F238E27FC236}">
                <a16:creationId xmlns:a16="http://schemas.microsoft.com/office/drawing/2014/main" id="{CC492224-B406-4002-0A4F-2D29AD3D039B}"/>
              </a:ext>
            </a:extLst>
          </p:cNvPr>
          <p:cNvSpPr>
            <a:spLocks noGrp="1"/>
          </p:cNvSpPr>
          <p:nvPr>
            <p:ph type="ftr" sz="quarter" idx="11"/>
          </p:nvPr>
        </p:nvSpPr>
        <p:spPr/>
        <p:txBody>
          <a:bodyPr/>
          <a:lstStyle>
            <a:lvl1pPr>
              <a:defRPr/>
            </a:lvl1pPr>
          </a:lstStyle>
          <a:p>
            <a:r>
              <a:rPr lang="es-ES"/>
              <a:t>INGENIERÍA DE SOFTWARE I</a:t>
            </a:r>
          </a:p>
        </p:txBody>
      </p:sp>
      <p:sp>
        <p:nvSpPr>
          <p:cNvPr id="9" name="Slide Number Placeholder 5">
            <a:extLst>
              <a:ext uri="{FF2B5EF4-FFF2-40B4-BE49-F238E27FC236}">
                <a16:creationId xmlns:a16="http://schemas.microsoft.com/office/drawing/2014/main" id="{DFF4E7E4-9B20-281B-C49A-C0B55DF32C8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03218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sz="44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4CA7E5D6-A84F-8799-6692-7AB64C90F920}"/>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AA0691E3-D5F3-EB64-C487-0BF081FCA0EF}"/>
              </a:ext>
            </a:extLst>
          </p:cNvPr>
          <p:cNvSpPr>
            <a:spLocks noGrp="1"/>
          </p:cNvSpPr>
          <p:nvPr>
            <p:ph type="ftr" sz="quarter" idx="11"/>
          </p:nvPr>
        </p:nvSpPr>
        <p:spPr/>
        <p:txBody>
          <a:bodyPr/>
          <a:lstStyle>
            <a:lvl1pPr>
              <a:defRPr/>
            </a:lvl1pPr>
          </a:lstStyle>
          <a:p>
            <a:r>
              <a:rPr lang="es-ES"/>
              <a:t>INGENIERÍA DE SOFTWARE I</a:t>
            </a:r>
          </a:p>
        </p:txBody>
      </p:sp>
      <p:sp>
        <p:nvSpPr>
          <p:cNvPr id="6" name="Slide Number Placeholder 5">
            <a:extLst>
              <a:ext uri="{FF2B5EF4-FFF2-40B4-BE49-F238E27FC236}">
                <a16:creationId xmlns:a16="http://schemas.microsoft.com/office/drawing/2014/main" id="{7E67B7DB-3B01-868E-0E32-F881ABD2FB53}"/>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94681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07BAC2CD-BF96-04B4-7402-CA97241ED4DA}"/>
              </a:ext>
            </a:extLst>
          </p:cNvPr>
          <p:cNvSpPr/>
          <p:nvPr/>
        </p:nvSpPr>
        <p:spPr>
          <a:xfrm>
            <a:off x="3188" y="6400800"/>
            <a:ext cx="122380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7DE666DB-2069-A975-12FC-1396E4D6CF50}"/>
              </a:ext>
            </a:extLst>
          </p:cNvPr>
          <p:cNvSpPr/>
          <p:nvPr/>
        </p:nvSpPr>
        <p:spPr>
          <a:xfrm>
            <a:off x="1" y="6334125"/>
            <a:ext cx="122380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a:extLst>
              <a:ext uri="{FF2B5EF4-FFF2-40B4-BE49-F238E27FC236}">
                <a16:creationId xmlns:a16="http://schemas.microsoft.com/office/drawing/2014/main" id="{4D4472DC-599C-F97E-C655-51A54634C690}"/>
              </a:ext>
            </a:extLst>
          </p:cNvPr>
          <p:cNvCxnSpPr/>
          <p:nvPr/>
        </p:nvCxnSpPr>
        <p:spPr>
          <a:xfrm>
            <a:off x="1212965" y="4343400"/>
            <a:ext cx="9915701"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1709" y="758952"/>
            <a:ext cx="10099001" cy="3566160"/>
          </a:xfrm>
        </p:spPr>
        <p:txBody>
          <a:bodyPr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1709" y="4453128"/>
            <a:ext cx="10099001"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7" name="Date Placeholder 3">
            <a:extLst>
              <a:ext uri="{FF2B5EF4-FFF2-40B4-BE49-F238E27FC236}">
                <a16:creationId xmlns:a16="http://schemas.microsoft.com/office/drawing/2014/main" id="{F75C5BC5-CBD6-AC1F-E48A-43247A183FD1}"/>
              </a:ext>
            </a:extLst>
          </p:cNvPr>
          <p:cNvSpPr>
            <a:spLocks noGrp="1"/>
          </p:cNvSpPr>
          <p:nvPr>
            <p:ph type="dt" sz="half" idx="10"/>
          </p:nvPr>
        </p:nvSpPr>
        <p:spPr/>
        <p:txBody>
          <a:bodyPr/>
          <a:lstStyle>
            <a:lvl1pPr>
              <a:defRPr/>
            </a:lvl1pPr>
          </a:lstStyle>
          <a:p>
            <a:r>
              <a:rPr lang="es-ES"/>
              <a:t>2026</a:t>
            </a:r>
          </a:p>
        </p:txBody>
      </p:sp>
      <p:sp>
        <p:nvSpPr>
          <p:cNvPr id="8" name="Footer Placeholder 4">
            <a:extLst>
              <a:ext uri="{FF2B5EF4-FFF2-40B4-BE49-F238E27FC236}">
                <a16:creationId xmlns:a16="http://schemas.microsoft.com/office/drawing/2014/main" id="{76BD7908-C7E7-E2BC-64BD-5B07133E6105}"/>
              </a:ext>
            </a:extLst>
          </p:cNvPr>
          <p:cNvSpPr>
            <a:spLocks noGrp="1"/>
          </p:cNvSpPr>
          <p:nvPr>
            <p:ph type="ftr" sz="quarter" idx="11"/>
          </p:nvPr>
        </p:nvSpPr>
        <p:spPr/>
        <p:txBody>
          <a:bodyPr/>
          <a:lstStyle>
            <a:lvl1pPr>
              <a:defRPr/>
            </a:lvl1pPr>
          </a:lstStyle>
          <a:p>
            <a:r>
              <a:rPr lang="es-ES"/>
              <a:t>INGENIERÍA DE SOFTWARE I</a:t>
            </a:r>
          </a:p>
        </p:txBody>
      </p:sp>
      <p:sp>
        <p:nvSpPr>
          <p:cNvPr id="9" name="Slide Number Placeholder 5">
            <a:extLst>
              <a:ext uri="{FF2B5EF4-FFF2-40B4-BE49-F238E27FC236}">
                <a16:creationId xmlns:a16="http://schemas.microsoft.com/office/drawing/2014/main" id="{76AF739B-7A3C-1DD8-4833-634CDB5968E5}"/>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411830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101709" y="286604"/>
            <a:ext cx="10099001"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1708" y="1845734"/>
            <a:ext cx="4957691"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43019" y="1845735"/>
            <a:ext cx="4957691"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022FD8E5-ADE7-5D9D-5E44-DD6473C1D97C}"/>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A859C831-42B8-8F05-666B-9B53A851370D}"/>
              </a:ext>
            </a:extLst>
          </p:cNvPr>
          <p:cNvSpPr>
            <a:spLocks noGrp="1"/>
          </p:cNvSpPr>
          <p:nvPr>
            <p:ph type="ftr" sz="quarter" idx="11"/>
          </p:nvPr>
        </p:nvSpPr>
        <p:spPr/>
        <p:txBody>
          <a:bodyPr/>
          <a:lstStyle>
            <a:lvl1pPr>
              <a:defRPr/>
            </a:lvl1pPr>
          </a:lstStyle>
          <a:p>
            <a:r>
              <a:rPr lang="es-ES"/>
              <a:t>INGENIERÍA DE SOFTWARE I</a:t>
            </a:r>
          </a:p>
        </p:txBody>
      </p:sp>
      <p:sp>
        <p:nvSpPr>
          <p:cNvPr id="6" name="Slide Number Placeholder 5">
            <a:extLst>
              <a:ext uri="{FF2B5EF4-FFF2-40B4-BE49-F238E27FC236}">
                <a16:creationId xmlns:a16="http://schemas.microsoft.com/office/drawing/2014/main" id="{C0A5FCFB-E6AF-B62C-7462-BDD28D6EFF4D}"/>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25624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101709" y="286604"/>
            <a:ext cx="10099001"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1709" y="1846052"/>
            <a:ext cx="4957691"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1709" y="2582334"/>
            <a:ext cx="4957691"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43019" y="1846052"/>
            <a:ext cx="4957691"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43019" y="2582334"/>
            <a:ext cx="4957691"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3">
            <a:extLst>
              <a:ext uri="{FF2B5EF4-FFF2-40B4-BE49-F238E27FC236}">
                <a16:creationId xmlns:a16="http://schemas.microsoft.com/office/drawing/2014/main" id="{E11F0C65-8547-98F3-D3CC-E594D829EC3E}"/>
              </a:ext>
            </a:extLst>
          </p:cNvPr>
          <p:cNvSpPr>
            <a:spLocks noGrp="1"/>
          </p:cNvSpPr>
          <p:nvPr>
            <p:ph type="dt" sz="half" idx="10"/>
          </p:nvPr>
        </p:nvSpPr>
        <p:spPr/>
        <p:txBody>
          <a:bodyPr/>
          <a:lstStyle>
            <a:lvl1pPr>
              <a:defRPr/>
            </a:lvl1pPr>
          </a:lstStyle>
          <a:p>
            <a:r>
              <a:rPr lang="es-ES"/>
              <a:t>2026</a:t>
            </a:r>
          </a:p>
        </p:txBody>
      </p:sp>
      <p:sp>
        <p:nvSpPr>
          <p:cNvPr id="7" name="Footer Placeholder 4">
            <a:extLst>
              <a:ext uri="{FF2B5EF4-FFF2-40B4-BE49-F238E27FC236}">
                <a16:creationId xmlns:a16="http://schemas.microsoft.com/office/drawing/2014/main" id="{B53A37FF-632A-BF94-1D77-FA144171158F}"/>
              </a:ext>
            </a:extLst>
          </p:cNvPr>
          <p:cNvSpPr>
            <a:spLocks noGrp="1"/>
          </p:cNvSpPr>
          <p:nvPr>
            <p:ph type="ftr" sz="quarter" idx="11"/>
          </p:nvPr>
        </p:nvSpPr>
        <p:spPr/>
        <p:txBody>
          <a:bodyPr/>
          <a:lstStyle>
            <a:lvl1pPr>
              <a:defRPr/>
            </a:lvl1pPr>
          </a:lstStyle>
          <a:p>
            <a:r>
              <a:rPr lang="es-ES"/>
              <a:t>INGENIERÍA DE SOFTWARE I</a:t>
            </a:r>
          </a:p>
        </p:txBody>
      </p:sp>
      <p:sp>
        <p:nvSpPr>
          <p:cNvPr id="8" name="Slide Number Placeholder 5">
            <a:extLst>
              <a:ext uri="{FF2B5EF4-FFF2-40B4-BE49-F238E27FC236}">
                <a16:creationId xmlns:a16="http://schemas.microsoft.com/office/drawing/2014/main" id="{64701E6D-A92D-DAB4-9330-5B727BF359C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624297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3">
            <a:extLst>
              <a:ext uri="{FF2B5EF4-FFF2-40B4-BE49-F238E27FC236}">
                <a16:creationId xmlns:a16="http://schemas.microsoft.com/office/drawing/2014/main" id="{3602CB41-4045-BB50-C658-6076F01E8E12}"/>
              </a:ext>
            </a:extLst>
          </p:cNvPr>
          <p:cNvSpPr>
            <a:spLocks noGrp="1"/>
          </p:cNvSpPr>
          <p:nvPr>
            <p:ph type="dt" sz="half" idx="10"/>
          </p:nvPr>
        </p:nvSpPr>
        <p:spPr/>
        <p:txBody>
          <a:bodyPr/>
          <a:lstStyle>
            <a:lvl1pPr>
              <a:defRPr/>
            </a:lvl1pPr>
          </a:lstStyle>
          <a:p>
            <a:r>
              <a:rPr lang="es-ES"/>
              <a:t>2026</a:t>
            </a:r>
          </a:p>
        </p:txBody>
      </p:sp>
      <p:sp>
        <p:nvSpPr>
          <p:cNvPr id="4" name="Footer Placeholder 4">
            <a:extLst>
              <a:ext uri="{FF2B5EF4-FFF2-40B4-BE49-F238E27FC236}">
                <a16:creationId xmlns:a16="http://schemas.microsoft.com/office/drawing/2014/main" id="{E4DAC30B-4CE9-3E32-AFCF-C7E68072A618}"/>
              </a:ext>
            </a:extLst>
          </p:cNvPr>
          <p:cNvSpPr>
            <a:spLocks noGrp="1"/>
          </p:cNvSpPr>
          <p:nvPr>
            <p:ph type="ftr" sz="quarter" idx="11"/>
          </p:nvPr>
        </p:nvSpPr>
        <p:spPr/>
        <p:txBody>
          <a:bodyPr/>
          <a:lstStyle>
            <a:lvl1pPr>
              <a:defRPr/>
            </a:lvl1pPr>
          </a:lstStyle>
          <a:p>
            <a:r>
              <a:rPr lang="es-ES"/>
              <a:t>INGENIERÍA DE SOFTWARE I</a:t>
            </a:r>
          </a:p>
        </p:txBody>
      </p:sp>
      <p:sp>
        <p:nvSpPr>
          <p:cNvPr id="5" name="Slide Number Placeholder 5">
            <a:extLst>
              <a:ext uri="{FF2B5EF4-FFF2-40B4-BE49-F238E27FC236}">
                <a16:creationId xmlns:a16="http://schemas.microsoft.com/office/drawing/2014/main" id="{4EAA1C48-B9A9-9244-2208-2511F9DF1F60}"/>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589431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AE90354-F468-6BCE-1A24-31F87F6C667F}"/>
              </a:ext>
            </a:extLst>
          </p:cNvPr>
          <p:cNvSpPr/>
          <p:nvPr/>
        </p:nvSpPr>
        <p:spPr>
          <a:xfrm>
            <a:off x="3188" y="6400800"/>
            <a:ext cx="122380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a:extLst>
              <a:ext uri="{FF2B5EF4-FFF2-40B4-BE49-F238E27FC236}">
                <a16:creationId xmlns:a16="http://schemas.microsoft.com/office/drawing/2014/main" id="{93620091-6160-0B80-BA58-0E7411B05BDF}"/>
              </a:ext>
            </a:extLst>
          </p:cNvPr>
          <p:cNvSpPr/>
          <p:nvPr/>
        </p:nvSpPr>
        <p:spPr>
          <a:xfrm>
            <a:off x="1" y="6334125"/>
            <a:ext cx="122380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Google Shape;67;p52">
            <a:extLst>
              <a:ext uri="{FF2B5EF4-FFF2-40B4-BE49-F238E27FC236}">
                <a16:creationId xmlns:a16="http://schemas.microsoft.com/office/drawing/2014/main" id="{87C537EF-AE70-7796-A9FA-AB0760D391B3}"/>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2635" y="177800"/>
            <a:ext cx="121137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6">
            <a:extLst>
              <a:ext uri="{FF2B5EF4-FFF2-40B4-BE49-F238E27FC236}">
                <a16:creationId xmlns:a16="http://schemas.microsoft.com/office/drawing/2014/main" id="{335F5913-5E63-B1BF-6552-7A8EE2CAB0AA}"/>
              </a:ext>
            </a:extLst>
          </p:cNvPr>
          <p:cNvSpPr>
            <a:spLocks noGrp="1"/>
          </p:cNvSpPr>
          <p:nvPr>
            <p:ph type="dt" sz="half" idx="10"/>
          </p:nvPr>
        </p:nvSpPr>
        <p:spPr/>
        <p:txBody>
          <a:bodyPr/>
          <a:lstStyle>
            <a:lvl1pPr>
              <a:defRPr/>
            </a:lvl1pPr>
          </a:lstStyle>
          <a:p>
            <a:r>
              <a:rPr lang="es-ES"/>
              <a:t>2026</a:t>
            </a:r>
          </a:p>
        </p:txBody>
      </p:sp>
      <p:sp>
        <p:nvSpPr>
          <p:cNvPr id="6" name="Footer Placeholder 7">
            <a:extLst>
              <a:ext uri="{FF2B5EF4-FFF2-40B4-BE49-F238E27FC236}">
                <a16:creationId xmlns:a16="http://schemas.microsoft.com/office/drawing/2014/main" id="{ED542C9C-0C8A-42C9-CA6E-F99792DFFE30}"/>
              </a:ext>
            </a:extLst>
          </p:cNvPr>
          <p:cNvSpPr>
            <a:spLocks noGrp="1"/>
          </p:cNvSpPr>
          <p:nvPr>
            <p:ph type="ftr" sz="quarter" idx="11"/>
          </p:nvPr>
        </p:nvSpPr>
        <p:spPr/>
        <p:txBody>
          <a:bodyPr/>
          <a:lstStyle>
            <a:lvl1pPr>
              <a:defRPr>
                <a:solidFill>
                  <a:srgbClr val="FFFFFF"/>
                </a:solidFill>
              </a:defRPr>
            </a:lvl1pPr>
          </a:lstStyle>
          <a:p>
            <a:r>
              <a:rPr lang="es-ES"/>
              <a:t>INGENIERÍA DE SOFTWARE I</a:t>
            </a:r>
          </a:p>
        </p:txBody>
      </p:sp>
      <p:sp>
        <p:nvSpPr>
          <p:cNvPr id="7" name="Slide Number Placeholder 8">
            <a:extLst>
              <a:ext uri="{FF2B5EF4-FFF2-40B4-BE49-F238E27FC236}">
                <a16:creationId xmlns:a16="http://schemas.microsoft.com/office/drawing/2014/main" id="{D7713F7C-4E4A-07A0-ED05-8E2D2D0818AF}"/>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35085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FFE6986-4345-1E25-D76E-EEF2E8173B2D}"/>
              </a:ext>
            </a:extLst>
          </p:cNvPr>
          <p:cNvSpPr/>
          <p:nvPr/>
        </p:nvSpPr>
        <p:spPr>
          <a:xfrm>
            <a:off x="0" y="0"/>
            <a:ext cx="406765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6" name="Rectangle 8">
            <a:extLst>
              <a:ext uri="{FF2B5EF4-FFF2-40B4-BE49-F238E27FC236}">
                <a16:creationId xmlns:a16="http://schemas.microsoft.com/office/drawing/2014/main" id="{AE5824A0-170B-9A23-4AFC-0267E07B84CE}"/>
              </a:ext>
            </a:extLst>
          </p:cNvPr>
          <p:cNvSpPr/>
          <p:nvPr/>
        </p:nvSpPr>
        <p:spPr>
          <a:xfrm>
            <a:off x="4056496" y="0"/>
            <a:ext cx="6375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1"/>
          <p:cNvSpPr>
            <a:spLocks noGrp="1"/>
          </p:cNvSpPr>
          <p:nvPr>
            <p:ph type="title"/>
          </p:nvPr>
        </p:nvSpPr>
        <p:spPr>
          <a:xfrm>
            <a:off x="459046" y="594359"/>
            <a:ext cx="3213318" cy="2286000"/>
          </a:xfrm>
        </p:spPr>
        <p:txBody>
          <a:bodyPr>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19978" y="731520"/>
            <a:ext cx="6518446"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9046" y="2926080"/>
            <a:ext cx="3213318"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B4CC405E-9D60-8233-88CA-3F61BC3E4A40}"/>
              </a:ext>
            </a:extLst>
          </p:cNvPr>
          <p:cNvSpPr>
            <a:spLocks noGrp="1"/>
          </p:cNvSpPr>
          <p:nvPr>
            <p:ph type="dt" sz="half" idx="10"/>
          </p:nvPr>
        </p:nvSpPr>
        <p:spPr>
          <a:xfrm>
            <a:off x="467016" y="6459539"/>
            <a:ext cx="2629948" cy="365125"/>
          </a:xfrm>
        </p:spPr>
        <p:txBody>
          <a:bodyPr/>
          <a:lstStyle>
            <a:lvl1pPr algn="l">
              <a:defRPr/>
            </a:lvl1pPr>
          </a:lstStyle>
          <a:p>
            <a:r>
              <a:rPr lang="es-ES"/>
              <a:t>2026</a:t>
            </a:r>
          </a:p>
        </p:txBody>
      </p:sp>
      <p:sp>
        <p:nvSpPr>
          <p:cNvPr id="8" name="Footer Placeholder 5">
            <a:extLst>
              <a:ext uri="{FF2B5EF4-FFF2-40B4-BE49-F238E27FC236}">
                <a16:creationId xmlns:a16="http://schemas.microsoft.com/office/drawing/2014/main" id="{B6E4D35F-E010-BD94-6683-AD73A5BEE164}"/>
              </a:ext>
            </a:extLst>
          </p:cNvPr>
          <p:cNvSpPr>
            <a:spLocks noGrp="1"/>
          </p:cNvSpPr>
          <p:nvPr>
            <p:ph type="ftr" sz="quarter" idx="11"/>
          </p:nvPr>
        </p:nvSpPr>
        <p:spPr>
          <a:xfrm>
            <a:off x="4819978" y="6459539"/>
            <a:ext cx="4666962" cy="365125"/>
          </a:xfrm>
        </p:spPr>
        <p:txBody>
          <a:bodyPr/>
          <a:lstStyle>
            <a:lvl1pPr algn="l">
              <a:defRPr>
                <a:solidFill>
                  <a:schemeClr val="tx2"/>
                </a:solidFill>
              </a:defRPr>
            </a:lvl1pPr>
          </a:lstStyle>
          <a:p>
            <a:r>
              <a:rPr lang="es-ES"/>
              <a:t>INGENIERÍA DE SOFTWARE I</a:t>
            </a:r>
          </a:p>
        </p:txBody>
      </p:sp>
      <p:sp>
        <p:nvSpPr>
          <p:cNvPr id="9" name="Slide Number Placeholder 6">
            <a:extLst>
              <a:ext uri="{FF2B5EF4-FFF2-40B4-BE49-F238E27FC236}">
                <a16:creationId xmlns:a16="http://schemas.microsoft.com/office/drawing/2014/main" id="{20AB97FF-8F92-EA7F-1474-4B65650CDD76}"/>
              </a:ext>
            </a:extLst>
          </p:cNvPr>
          <p:cNvSpPr>
            <a:spLocks noGrp="1"/>
          </p:cNvSpPr>
          <p:nvPr>
            <p:ph type="sldNum" sz="quarter" idx="12"/>
          </p:nvPr>
        </p:nvSpPr>
        <p:spPr/>
        <p:txBody>
          <a:bodyPr/>
          <a:lstStyle>
            <a:lvl1pPr>
              <a:defRPr smtClean="0">
                <a:solidFill>
                  <a:schemeClr val="tx2"/>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4256664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772E9F2-AEC3-2CE0-0BAB-327CEC9DC8B0}"/>
              </a:ext>
            </a:extLst>
          </p:cNvPr>
          <p:cNvSpPr/>
          <p:nvPr/>
        </p:nvSpPr>
        <p:spPr>
          <a:xfrm>
            <a:off x="1" y="4953000"/>
            <a:ext cx="122380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a:extLst>
              <a:ext uri="{FF2B5EF4-FFF2-40B4-BE49-F238E27FC236}">
                <a16:creationId xmlns:a16="http://schemas.microsoft.com/office/drawing/2014/main" id="{0E6FEE8E-F231-3D8E-05A1-6B2032EDAC93}"/>
              </a:ext>
            </a:extLst>
          </p:cNvPr>
          <p:cNvSpPr/>
          <p:nvPr/>
        </p:nvSpPr>
        <p:spPr>
          <a:xfrm>
            <a:off x="1" y="4914900"/>
            <a:ext cx="122380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01709" y="5074920"/>
            <a:ext cx="10154086" cy="822960"/>
          </a:xfrm>
        </p:spPr>
        <p:txBody>
          <a:bodyPr tIns="0" bIns="0"/>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6" y="0"/>
            <a:ext cx="12241198"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p:nvPr>
        </p:nvSpPr>
        <p:spPr>
          <a:xfrm>
            <a:off x="1101709" y="5907023"/>
            <a:ext cx="10154086"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a:extLst>
              <a:ext uri="{FF2B5EF4-FFF2-40B4-BE49-F238E27FC236}">
                <a16:creationId xmlns:a16="http://schemas.microsoft.com/office/drawing/2014/main" id="{7B2F71DD-9D75-ADFC-A79E-45DBEB6D059D}"/>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8" name="Footer Placeholder 5">
            <a:extLst>
              <a:ext uri="{FF2B5EF4-FFF2-40B4-BE49-F238E27FC236}">
                <a16:creationId xmlns:a16="http://schemas.microsoft.com/office/drawing/2014/main" id="{8C2591ED-3DEE-D66E-CB09-77399FB1A06E}"/>
              </a:ext>
            </a:extLst>
          </p:cNvPr>
          <p:cNvSpPr>
            <a:spLocks noGrp="1"/>
          </p:cNvSpPr>
          <p:nvPr>
            <p:ph type="ftr" sz="quarter" idx="11"/>
          </p:nvPr>
        </p:nvSpPr>
        <p:spPr/>
        <p:txBody>
          <a:bodyPr/>
          <a:lstStyle>
            <a:lvl1pPr>
              <a:defRPr/>
            </a:lvl1pPr>
          </a:lstStyle>
          <a:p>
            <a:r>
              <a:rPr lang="es-ES"/>
              <a:t>INGENIERÍA DE SOFTWARE I</a:t>
            </a:r>
          </a:p>
        </p:txBody>
      </p:sp>
      <p:sp>
        <p:nvSpPr>
          <p:cNvPr id="9" name="Slide Number Placeholder 6">
            <a:extLst>
              <a:ext uri="{FF2B5EF4-FFF2-40B4-BE49-F238E27FC236}">
                <a16:creationId xmlns:a16="http://schemas.microsoft.com/office/drawing/2014/main" id="{B33325B6-5CD4-6694-E27A-4BA309C5F8A7}"/>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23183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a:extLst>
              <a:ext uri="{FF2B5EF4-FFF2-40B4-BE49-F238E27FC236}">
                <a16:creationId xmlns:a16="http://schemas.microsoft.com/office/drawing/2014/main" id="{85E0B959-4B1D-31D7-5A5B-A57737884552}"/>
              </a:ext>
            </a:extLst>
          </p:cNvPr>
          <p:cNvSpPr>
            <a:spLocks noGrp="1"/>
          </p:cNvSpPr>
          <p:nvPr>
            <p:ph type="dt" sz="half" idx="10"/>
          </p:nvPr>
        </p:nvSpPr>
        <p:spPr/>
        <p:txBody>
          <a:bodyPr/>
          <a:lstStyle>
            <a:lvl1pPr>
              <a:defRPr/>
            </a:lvl1pPr>
          </a:lstStyle>
          <a:p>
            <a:r>
              <a:rPr lang="es-ES"/>
              <a:t>2026</a:t>
            </a:r>
          </a:p>
        </p:txBody>
      </p:sp>
      <p:sp>
        <p:nvSpPr>
          <p:cNvPr id="5" name="Footer Placeholder 4">
            <a:extLst>
              <a:ext uri="{FF2B5EF4-FFF2-40B4-BE49-F238E27FC236}">
                <a16:creationId xmlns:a16="http://schemas.microsoft.com/office/drawing/2014/main" id="{A0852B84-9616-6A54-F499-921C3DEC2870}"/>
              </a:ext>
            </a:extLst>
          </p:cNvPr>
          <p:cNvSpPr>
            <a:spLocks noGrp="1"/>
          </p:cNvSpPr>
          <p:nvPr>
            <p:ph type="ftr" sz="quarter" idx="11"/>
          </p:nvPr>
        </p:nvSpPr>
        <p:spPr/>
        <p:txBody>
          <a:bodyPr/>
          <a:lstStyle>
            <a:lvl1pPr>
              <a:defRPr/>
            </a:lvl1pPr>
          </a:lstStyle>
          <a:p>
            <a:r>
              <a:rPr lang="es-ES"/>
              <a:t>INGENIERÍA DE SOFTWARE I</a:t>
            </a:r>
          </a:p>
        </p:txBody>
      </p:sp>
      <p:sp>
        <p:nvSpPr>
          <p:cNvPr id="6" name="Slide Number Placeholder 5">
            <a:extLst>
              <a:ext uri="{FF2B5EF4-FFF2-40B4-BE49-F238E27FC236}">
                <a16:creationId xmlns:a16="http://schemas.microsoft.com/office/drawing/2014/main" id="{973C9E41-7BAD-7361-4783-764FE8620C77}"/>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03987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E82E6506-FD12-A9D2-3F85-DCEAABCB70F4}"/>
              </a:ext>
            </a:extLst>
          </p:cNvPr>
          <p:cNvSpPr/>
          <p:nvPr/>
        </p:nvSpPr>
        <p:spPr>
          <a:xfrm>
            <a:off x="3188" y="6400800"/>
            <a:ext cx="122380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a:extLst>
              <a:ext uri="{FF2B5EF4-FFF2-40B4-BE49-F238E27FC236}">
                <a16:creationId xmlns:a16="http://schemas.microsoft.com/office/drawing/2014/main" id="{C9B14A37-AFC7-10B0-52D1-684A35D41A80}"/>
              </a:ext>
            </a:extLst>
          </p:cNvPr>
          <p:cNvSpPr/>
          <p:nvPr/>
        </p:nvSpPr>
        <p:spPr>
          <a:xfrm>
            <a:off x="1" y="6334125"/>
            <a:ext cx="122380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60118" y="414779"/>
            <a:ext cx="2639512"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41584" y="414778"/>
            <a:ext cx="7765519"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Date Placeholder 3">
            <a:extLst>
              <a:ext uri="{FF2B5EF4-FFF2-40B4-BE49-F238E27FC236}">
                <a16:creationId xmlns:a16="http://schemas.microsoft.com/office/drawing/2014/main" id="{5D37D032-7664-A681-F21A-521E32D9826B}"/>
              </a:ext>
            </a:extLst>
          </p:cNvPr>
          <p:cNvSpPr>
            <a:spLocks noGrp="1"/>
          </p:cNvSpPr>
          <p:nvPr>
            <p:ph type="dt" sz="half" idx="10"/>
          </p:nvPr>
        </p:nvSpPr>
        <p:spPr/>
        <p:txBody>
          <a:bodyPr/>
          <a:lstStyle>
            <a:lvl1pPr>
              <a:defRPr/>
            </a:lvl1pPr>
          </a:lstStyle>
          <a:p>
            <a:r>
              <a:rPr lang="es-ES"/>
              <a:t>2026</a:t>
            </a:r>
          </a:p>
        </p:txBody>
      </p:sp>
      <p:sp>
        <p:nvSpPr>
          <p:cNvPr id="7" name="Footer Placeholder 4">
            <a:extLst>
              <a:ext uri="{FF2B5EF4-FFF2-40B4-BE49-F238E27FC236}">
                <a16:creationId xmlns:a16="http://schemas.microsoft.com/office/drawing/2014/main" id="{F408A606-1475-B94E-BF34-8B0C82D8128B}"/>
              </a:ext>
            </a:extLst>
          </p:cNvPr>
          <p:cNvSpPr>
            <a:spLocks noGrp="1"/>
          </p:cNvSpPr>
          <p:nvPr>
            <p:ph type="ftr" sz="quarter" idx="11"/>
          </p:nvPr>
        </p:nvSpPr>
        <p:spPr/>
        <p:txBody>
          <a:bodyPr/>
          <a:lstStyle>
            <a:lvl1pPr>
              <a:defRPr/>
            </a:lvl1pPr>
          </a:lstStyle>
          <a:p>
            <a:r>
              <a:rPr lang="es-ES"/>
              <a:t>INGENIERÍA DE SOFTWARE I</a:t>
            </a:r>
          </a:p>
        </p:txBody>
      </p:sp>
      <p:sp>
        <p:nvSpPr>
          <p:cNvPr id="8" name="Slide Number Placeholder 5">
            <a:extLst>
              <a:ext uri="{FF2B5EF4-FFF2-40B4-BE49-F238E27FC236}">
                <a16:creationId xmlns:a16="http://schemas.microsoft.com/office/drawing/2014/main" id="{2B95D4F0-1651-D5C6-722E-64B7EA2794E0}"/>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9853043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5"/>
        <p:cNvGrpSpPr/>
        <p:nvPr/>
      </p:nvGrpSpPr>
      <p:grpSpPr>
        <a:xfrm>
          <a:off x="0" y="0"/>
          <a:ext cx="0" cy="0"/>
          <a:chOff x="0" y="0"/>
          <a:chExt cx="0" cy="0"/>
        </a:xfrm>
      </p:grpSpPr>
      <p:sp>
        <p:nvSpPr>
          <p:cNvPr id="6" name="Título 5"/>
          <p:cNvSpPr>
            <a:spLocks noGrp="1"/>
          </p:cNvSpPr>
          <p:nvPr>
            <p:ph type="title"/>
          </p:nvPr>
        </p:nvSpPr>
        <p:spPr/>
        <p:txBody>
          <a:bodyPr/>
          <a:lstStyle>
            <a:lvl1pPr>
              <a:defRPr sz="4400"/>
            </a:lvl1pPr>
          </a:lstStyle>
          <a:p>
            <a:r>
              <a:rPr lang="es-ES"/>
              <a:t>Haga clic para modificar el estilo de título del patrón</a:t>
            </a:r>
            <a:endParaRPr lang="es-ES" dirty="0"/>
          </a:p>
        </p:txBody>
      </p:sp>
      <p:sp>
        <p:nvSpPr>
          <p:cNvPr id="2" name="Date Placeholder 3">
            <a:extLst>
              <a:ext uri="{FF2B5EF4-FFF2-40B4-BE49-F238E27FC236}">
                <a16:creationId xmlns:a16="http://schemas.microsoft.com/office/drawing/2014/main" id="{7AAC1E50-67F0-A6C4-9185-0FFF9F2826B8}"/>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4">
            <a:extLst>
              <a:ext uri="{FF2B5EF4-FFF2-40B4-BE49-F238E27FC236}">
                <a16:creationId xmlns:a16="http://schemas.microsoft.com/office/drawing/2014/main" id="{A21718F7-6706-56A9-B5D6-F9B68300D828}"/>
              </a:ext>
            </a:extLst>
          </p:cNvPr>
          <p:cNvSpPr>
            <a:spLocks noGrp="1"/>
          </p:cNvSpPr>
          <p:nvPr>
            <p:ph type="ftr" sz="quarter" idx="11"/>
          </p:nvPr>
        </p:nvSpPr>
        <p:spPr/>
        <p:txBody>
          <a:bodyPr/>
          <a:lstStyle>
            <a:lvl1pPr>
              <a:defRPr/>
            </a:lvl1pPr>
          </a:lstStyle>
          <a:p>
            <a:r>
              <a:rPr lang="es-ES"/>
              <a:t>INGENIERÍA DE SOFTWARE I</a:t>
            </a:r>
          </a:p>
        </p:txBody>
      </p:sp>
      <p:sp>
        <p:nvSpPr>
          <p:cNvPr id="4" name="Slide Number Placeholder 5">
            <a:extLst>
              <a:ext uri="{FF2B5EF4-FFF2-40B4-BE49-F238E27FC236}">
                <a16:creationId xmlns:a16="http://schemas.microsoft.com/office/drawing/2014/main" id="{B3402974-44BC-628F-32D0-C0FFE846D5B8}"/>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310421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8"/>
        <p:cNvGrpSpPr/>
        <p:nvPr/>
      </p:nvGrpSpPr>
      <p:grpSpPr>
        <a:xfrm>
          <a:off x="0" y="0"/>
          <a:ext cx="0" cy="0"/>
          <a:chOff x="0" y="0"/>
          <a:chExt cx="0" cy="0"/>
        </a:xfrm>
      </p:grpSpPr>
      <p:sp>
        <p:nvSpPr>
          <p:cNvPr id="2" name="Date Placeholder 3">
            <a:extLst>
              <a:ext uri="{FF2B5EF4-FFF2-40B4-BE49-F238E27FC236}">
                <a16:creationId xmlns:a16="http://schemas.microsoft.com/office/drawing/2014/main" id="{333483F7-3435-CDC4-C9CB-8D73D44FED05}"/>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4">
            <a:extLst>
              <a:ext uri="{FF2B5EF4-FFF2-40B4-BE49-F238E27FC236}">
                <a16:creationId xmlns:a16="http://schemas.microsoft.com/office/drawing/2014/main" id="{47F6DD72-D848-530B-7CA0-5A076BEE4724}"/>
              </a:ext>
            </a:extLst>
          </p:cNvPr>
          <p:cNvSpPr>
            <a:spLocks noGrp="1"/>
          </p:cNvSpPr>
          <p:nvPr>
            <p:ph type="ftr" sz="quarter" idx="11"/>
          </p:nvPr>
        </p:nvSpPr>
        <p:spPr/>
        <p:txBody>
          <a:bodyPr/>
          <a:lstStyle>
            <a:lvl1pPr>
              <a:defRPr/>
            </a:lvl1pPr>
          </a:lstStyle>
          <a:p>
            <a:r>
              <a:rPr lang="es-ES"/>
              <a:t>INGENIERÍA DE SOFTWARE I</a:t>
            </a:r>
          </a:p>
        </p:txBody>
      </p:sp>
      <p:sp>
        <p:nvSpPr>
          <p:cNvPr id="4" name="Slide Number Placeholder 5">
            <a:extLst>
              <a:ext uri="{FF2B5EF4-FFF2-40B4-BE49-F238E27FC236}">
                <a16:creationId xmlns:a16="http://schemas.microsoft.com/office/drawing/2014/main" id="{FECC9D70-61CE-54A7-6157-3DF8A67D0FEA}"/>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40150725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28"/>
        <p:cNvGrpSpPr/>
        <p:nvPr/>
      </p:nvGrpSpPr>
      <p:grpSpPr>
        <a:xfrm>
          <a:off x="0" y="0"/>
          <a:ext cx="0" cy="0"/>
          <a:chOff x="0" y="0"/>
          <a:chExt cx="0" cy="0"/>
        </a:xfrm>
      </p:grpSpPr>
      <p:sp>
        <p:nvSpPr>
          <p:cNvPr id="2" name="Date Placeholder 4">
            <a:extLst>
              <a:ext uri="{FF2B5EF4-FFF2-40B4-BE49-F238E27FC236}">
                <a16:creationId xmlns:a16="http://schemas.microsoft.com/office/drawing/2014/main" id="{39630CAE-D4E4-C2CF-FC03-14D74C1A98FF}"/>
              </a:ext>
            </a:extLst>
          </p:cNvPr>
          <p:cNvSpPr>
            <a:spLocks noGrp="1"/>
          </p:cNvSpPr>
          <p:nvPr>
            <p:ph type="dt" sz="half" idx="10"/>
          </p:nvPr>
        </p:nvSpPr>
        <p:spPr/>
        <p:txBody>
          <a:bodyPr/>
          <a:lstStyle>
            <a:lvl1pPr>
              <a:defRPr/>
            </a:lvl1pPr>
          </a:lstStyle>
          <a:p>
            <a:pPr>
              <a:defRPr/>
            </a:pPr>
            <a:r>
              <a:rPr lang="es-ES"/>
              <a:t>2026</a:t>
            </a:r>
            <a:endParaRPr lang="es-ES" dirty="0"/>
          </a:p>
        </p:txBody>
      </p:sp>
      <p:sp>
        <p:nvSpPr>
          <p:cNvPr id="3" name="Footer Placeholder 5">
            <a:extLst>
              <a:ext uri="{FF2B5EF4-FFF2-40B4-BE49-F238E27FC236}">
                <a16:creationId xmlns:a16="http://schemas.microsoft.com/office/drawing/2014/main" id="{2A7A1D7F-85DC-E60F-3513-5C93BB8E1E66}"/>
              </a:ext>
            </a:extLst>
          </p:cNvPr>
          <p:cNvSpPr>
            <a:spLocks noGrp="1"/>
          </p:cNvSpPr>
          <p:nvPr>
            <p:ph type="ftr" sz="quarter" idx="11"/>
          </p:nvPr>
        </p:nvSpPr>
        <p:spPr/>
        <p:txBody>
          <a:bodyPr/>
          <a:lstStyle>
            <a:lvl1pPr>
              <a:defRPr/>
            </a:lvl1pPr>
          </a:lstStyle>
          <a:p>
            <a:r>
              <a:rPr lang="es-ES"/>
              <a:t>INGENIERÍA DE SOFTWARE I</a:t>
            </a:r>
          </a:p>
        </p:txBody>
      </p:sp>
      <p:sp>
        <p:nvSpPr>
          <p:cNvPr id="4" name="Slide Number Placeholder 6">
            <a:extLst>
              <a:ext uri="{FF2B5EF4-FFF2-40B4-BE49-F238E27FC236}">
                <a16:creationId xmlns:a16="http://schemas.microsoft.com/office/drawing/2014/main" id="{14290E5E-04C2-DDB1-0085-C206A1072531}"/>
              </a:ext>
            </a:extLst>
          </p:cNvPr>
          <p:cNvSpPr>
            <a:spLocks noGrp="1"/>
          </p:cNvSpPr>
          <p:nvPr>
            <p:ph type="sldNum" sz="quarter" idx="12"/>
          </p:nvPr>
        </p:nvSpPr>
        <p:spPr/>
        <p:txBody>
          <a:bodyPr/>
          <a:lstStyle>
            <a:lvl1pPr>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635039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Imagen con título">
  <p:cSld name="2_Imagen con título">
    <p:spTree>
      <p:nvGrpSpPr>
        <p:cNvPr id="1" name="Shape 17"/>
        <p:cNvGrpSpPr/>
        <p:nvPr/>
      </p:nvGrpSpPr>
      <p:grpSpPr>
        <a:xfrm>
          <a:off x="0" y="0"/>
          <a:ext cx="0" cy="0"/>
          <a:chOff x="0" y="0"/>
          <a:chExt cx="0" cy="0"/>
        </a:xfrm>
      </p:grpSpPr>
      <p:sp>
        <p:nvSpPr>
          <p:cNvPr id="18" name="Google Shape;18;p32"/>
          <p:cNvSpPr txBox="1">
            <a:spLocks noGrp="1"/>
          </p:cNvSpPr>
          <p:nvPr>
            <p:ph type="title"/>
          </p:nvPr>
        </p:nvSpPr>
        <p:spPr>
          <a:xfrm>
            <a:off x="656616" y="4737547"/>
            <a:ext cx="10824293"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3300"/>
              <a:buFont typeface="Calibri"/>
              <a:buNone/>
              <a:defRPr sz="3300"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2"/>
          <p:cNvSpPr txBox="1">
            <a:spLocks noGrp="1"/>
          </p:cNvSpPr>
          <p:nvPr>
            <p:ph type="body" idx="1"/>
          </p:nvPr>
        </p:nvSpPr>
        <p:spPr>
          <a:xfrm>
            <a:off x="656616" y="5487888"/>
            <a:ext cx="9266598"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200"/>
              </a:spcBef>
              <a:spcAft>
                <a:spcPts val="0"/>
              </a:spcAft>
              <a:buSzPts val="1800"/>
              <a:buNone/>
              <a:defRPr sz="1800">
                <a:solidFill>
                  <a:srgbClr val="C00000"/>
                </a:solidFill>
              </a:defRPr>
            </a:lvl1pPr>
            <a:lvl2pPr marL="914400" lvl="1" indent="-228600" algn="l">
              <a:lnSpc>
                <a:spcPct val="90000"/>
              </a:lnSpc>
              <a:spcBef>
                <a:spcPts val="200"/>
              </a:spcBef>
              <a:spcAft>
                <a:spcPts val="0"/>
              </a:spcAft>
              <a:buSzPts val="900"/>
              <a:buNone/>
              <a:defRPr sz="900"/>
            </a:lvl2pPr>
            <a:lvl3pPr marL="1371600" lvl="2" indent="-228600" algn="l">
              <a:lnSpc>
                <a:spcPct val="90000"/>
              </a:lnSpc>
              <a:spcBef>
                <a:spcPts val="400"/>
              </a:spcBef>
              <a:spcAft>
                <a:spcPts val="0"/>
              </a:spcAft>
              <a:buSzPts val="750"/>
              <a:buNone/>
              <a:defRPr sz="750"/>
            </a:lvl3pPr>
            <a:lvl4pPr marL="1828800" lvl="3" indent="-228600" algn="l">
              <a:lnSpc>
                <a:spcPct val="90000"/>
              </a:lnSpc>
              <a:spcBef>
                <a:spcPts val="400"/>
              </a:spcBef>
              <a:spcAft>
                <a:spcPts val="0"/>
              </a:spcAft>
              <a:buSzPts val="675"/>
              <a:buNone/>
              <a:defRPr sz="675"/>
            </a:lvl4pPr>
            <a:lvl5pPr marL="2286000" lvl="4" indent="-228600" algn="l">
              <a:lnSpc>
                <a:spcPct val="90000"/>
              </a:lnSpc>
              <a:spcBef>
                <a:spcPts val="400"/>
              </a:spcBef>
              <a:spcAft>
                <a:spcPts val="0"/>
              </a:spcAft>
              <a:buSzPts val="675"/>
              <a:buNone/>
              <a:defRPr sz="675"/>
            </a:lvl5pPr>
            <a:lvl6pPr marL="2743200" lvl="5" indent="-228600" algn="l">
              <a:lnSpc>
                <a:spcPct val="90000"/>
              </a:lnSpc>
              <a:spcBef>
                <a:spcPts val="400"/>
              </a:spcBef>
              <a:spcAft>
                <a:spcPts val="0"/>
              </a:spcAft>
              <a:buSzPts val="675"/>
              <a:buNone/>
              <a:defRPr sz="675"/>
            </a:lvl6pPr>
            <a:lvl7pPr marL="3200400" lvl="6" indent="-228600" algn="l">
              <a:lnSpc>
                <a:spcPct val="90000"/>
              </a:lnSpc>
              <a:spcBef>
                <a:spcPts val="400"/>
              </a:spcBef>
              <a:spcAft>
                <a:spcPts val="0"/>
              </a:spcAft>
              <a:buSzPts val="675"/>
              <a:buNone/>
              <a:defRPr sz="675"/>
            </a:lvl7pPr>
            <a:lvl8pPr marL="3657600" lvl="7" indent="-228600" algn="l">
              <a:lnSpc>
                <a:spcPct val="90000"/>
              </a:lnSpc>
              <a:spcBef>
                <a:spcPts val="400"/>
              </a:spcBef>
              <a:spcAft>
                <a:spcPts val="0"/>
              </a:spcAft>
              <a:buSzPts val="675"/>
              <a:buNone/>
              <a:defRPr sz="675"/>
            </a:lvl8pPr>
            <a:lvl9pPr marL="4114800" lvl="8" indent="-228600" algn="l">
              <a:lnSpc>
                <a:spcPct val="90000"/>
              </a:lnSpc>
              <a:spcBef>
                <a:spcPts val="400"/>
              </a:spcBef>
              <a:spcAft>
                <a:spcPts val="400"/>
              </a:spcAft>
              <a:buSzPts val="675"/>
              <a:buNone/>
              <a:defRPr sz="675"/>
            </a:lvl9pPr>
          </a:lstStyle>
          <a:p>
            <a:endParaRPr/>
          </a:p>
        </p:txBody>
      </p:sp>
      <p:sp>
        <p:nvSpPr>
          <p:cNvPr id="20" name="Google Shape;20;p32"/>
          <p:cNvSpPr txBox="1">
            <a:spLocks noGrp="1"/>
          </p:cNvSpPr>
          <p:nvPr>
            <p:ph type="dt" idx="10"/>
          </p:nvPr>
        </p:nvSpPr>
        <p:spPr>
          <a:xfrm>
            <a:off x="3224210" y="6481096"/>
            <a:ext cx="4131409" cy="228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C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s-ES"/>
              <a:t>2026</a:t>
            </a:r>
            <a:endParaRPr/>
          </a:p>
        </p:txBody>
      </p:sp>
      <p:sp>
        <p:nvSpPr>
          <p:cNvPr id="21" name="Google Shape;21;p32"/>
          <p:cNvSpPr txBox="1">
            <a:spLocks noGrp="1"/>
          </p:cNvSpPr>
          <p:nvPr>
            <p:ph type="ftr" idx="11"/>
          </p:nvPr>
        </p:nvSpPr>
        <p:spPr>
          <a:xfrm>
            <a:off x="688568" y="6481101"/>
            <a:ext cx="2250897" cy="30220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INGENIERÍA DE SOFTWARE I</a:t>
            </a:r>
            <a:endParaRPr/>
          </a:p>
        </p:txBody>
      </p:sp>
      <p:sp>
        <p:nvSpPr>
          <p:cNvPr id="22" name="Google Shape;22;p32"/>
          <p:cNvSpPr txBox="1">
            <a:spLocks noGrp="1"/>
          </p:cNvSpPr>
          <p:nvPr>
            <p:ph type="sldNum" idx="12"/>
          </p:nvPr>
        </p:nvSpPr>
        <p:spPr>
          <a:xfrm>
            <a:off x="9940422" y="6459786"/>
            <a:ext cx="1317321"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44309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C4B5AF-84B6-31B3-67A1-1D8781B098F7}"/>
              </a:ext>
            </a:extLst>
          </p:cNvPr>
          <p:cNvSpPr/>
          <p:nvPr/>
        </p:nvSpPr>
        <p:spPr>
          <a:xfrm>
            <a:off x="0" y="6400800"/>
            <a:ext cx="12241213"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9" name="Rectangle 8">
            <a:extLst>
              <a:ext uri="{FF2B5EF4-FFF2-40B4-BE49-F238E27FC236}">
                <a16:creationId xmlns:a16="http://schemas.microsoft.com/office/drawing/2014/main" id="{F3F4E83D-FA03-A272-50B4-FC8A8D5B4DFB}"/>
              </a:ext>
            </a:extLst>
          </p:cNvPr>
          <p:cNvSpPr/>
          <p:nvPr/>
        </p:nvSpPr>
        <p:spPr>
          <a:xfrm>
            <a:off x="0" y="6334126"/>
            <a:ext cx="12241213"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Placeholder 1">
            <a:extLst>
              <a:ext uri="{FF2B5EF4-FFF2-40B4-BE49-F238E27FC236}">
                <a16:creationId xmlns:a16="http://schemas.microsoft.com/office/drawing/2014/main" id="{8D928867-45D7-02A7-8062-66D6506EC707}"/>
              </a:ext>
            </a:extLst>
          </p:cNvPr>
          <p:cNvSpPr>
            <a:spLocks noGrp="1"/>
          </p:cNvSpPr>
          <p:nvPr>
            <p:ph type="title"/>
          </p:nvPr>
        </p:nvSpPr>
        <p:spPr>
          <a:xfrm>
            <a:off x="1101391" y="287339"/>
            <a:ext cx="10099001" cy="1449387"/>
          </a:xfrm>
          <a:prstGeom prst="rect">
            <a:avLst/>
          </a:prstGeom>
        </p:spPr>
        <p:txBody>
          <a:bodyPr vert="horz" lIns="91440" tIns="45720" rIns="91440" bIns="45720" rtlCol="0" anchor="b">
            <a:noAutofit/>
          </a:bodyPr>
          <a:lstStyle/>
          <a:p>
            <a:r>
              <a:rPr lang="es-ES" dirty="0"/>
              <a:t>Haga clic para modificar el estilo de título del patrón</a:t>
            </a:r>
            <a:endParaRPr lang="en-US" dirty="0"/>
          </a:p>
        </p:txBody>
      </p:sp>
      <p:sp>
        <p:nvSpPr>
          <p:cNvPr id="1029" name="Text Placeholder 2">
            <a:extLst>
              <a:ext uri="{FF2B5EF4-FFF2-40B4-BE49-F238E27FC236}">
                <a16:creationId xmlns:a16="http://schemas.microsoft.com/office/drawing/2014/main" id="{FCD3EF06-997B-D1E2-DB6A-4B70721C5072}"/>
              </a:ext>
            </a:extLst>
          </p:cNvPr>
          <p:cNvSpPr>
            <a:spLocks noGrp="1" noChangeArrowheads="1"/>
          </p:cNvSpPr>
          <p:nvPr>
            <p:ph type="body" idx="1"/>
          </p:nvPr>
        </p:nvSpPr>
        <p:spPr bwMode="auto">
          <a:xfrm>
            <a:off x="1101391" y="1846264"/>
            <a:ext cx="10099001"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s-ES" altLang="es-ES"/>
              <a:t>Haga clic para modificar los estilos de texto del patrón</a:t>
            </a:r>
          </a:p>
          <a:p>
            <a:pPr lvl="1"/>
            <a:r>
              <a:rPr lang="es-ES" altLang="es-ES"/>
              <a:t>Segundo nivel</a:t>
            </a:r>
          </a:p>
          <a:p>
            <a:pPr lvl="2"/>
            <a:r>
              <a:rPr lang="es-ES" altLang="es-ES"/>
              <a:t>Tercer nivel</a:t>
            </a:r>
          </a:p>
          <a:p>
            <a:pPr lvl="3"/>
            <a:r>
              <a:rPr lang="es-ES" altLang="es-ES"/>
              <a:t>Cuarto nivel</a:t>
            </a:r>
          </a:p>
          <a:p>
            <a:pPr lvl="4"/>
            <a:r>
              <a:rPr lang="es-ES" altLang="es-ES"/>
              <a:t>Quinto nivel</a:t>
            </a:r>
            <a:endParaRPr lang="en-US" altLang="es-ES"/>
          </a:p>
        </p:txBody>
      </p:sp>
      <p:sp>
        <p:nvSpPr>
          <p:cNvPr id="4" name="Date Placeholder 3">
            <a:extLst>
              <a:ext uri="{FF2B5EF4-FFF2-40B4-BE49-F238E27FC236}">
                <a16:creationId xmlns:a16="http://schemas.microsoft.com/office/drawing/2014/main" id="{4C81E578-D434-15C1-42D3-C11BC313B9F1}"/>
              </a:ext>
            </a:extLst>
          </p:cNvPr>
          <p:cNvSpPr>
            <a:spLocks noGrp="1"/>
          </p:cNvSpPr>
          <p:nvPr>
            <p:ph type="dt" sz="half" idx="2"/>
          </p:nvPr>
        </p:nvSpPr>
        <p:spPr>
          <a:xfrm>
            <a:off x="1101391" y="6459539"/>
            <a:ext cx="2483309"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r>
              <a:rPr lang="es-ES"/>
              <a:t>2026</a:t>
            </a:r>
            <a:endParaRPr lang="es-ES" dirty="0"/>
          </a:p>
        </p:txBody>
      </p:sp>
      <p:sp>
        <p:nvSpPr>
          <p:cNvPr id="5" name="Footer Placeholder 4">
            <a:extLst>
              <a:ext uri="{FF2B5EF4-FFF2-40B4-BE49-F238E27FC236}">
                <a16:creationId xmlns:a16="http://schemas.microsoft.com/office/drawing/2014/main" id="{BCAFA959-E8E9-5AB5-341E-81C979DCD30A}"/>
              </a:ext>
            </a:extLst>
          </p:cNvPr>
          <p:cNvSpPr>
            <a:spLocks noGrp="1"/>
          </p:cNvSpPr>
          <p:nvPr>
            <p:ph type="ftr" sz="quarter" idx="3"/>
          </p:nvPr>
        </p:nvSpPr>
        <p:spPr>
          <a:xfrm>
            <a:off x="3701055" y="6459539"/>
            <a:ext cx="4842292"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defRPr>
            </a:lvl1pPr>
          </a:lstStyle>
          <a:p>
            <a:r>
              <a:rPr lang="es-ES"/>
              <a:t>INGENIERÍA DE SOFTWARE I</a:t>
            </a:r>
          </a:p>
        </p:txBody>
      </p:sp>
      <p:sp>
        <p:nvSpPr>
          <p:cNvPr id="6" name="Slide Number Placeholder 5">
            <a:extLst>
              <a:ext uri="{FF2B5EF4-FFF2-40B4-BE49-F238E27FC236}">
                <a16:creationId xmlns:a16="http://schemas.microsoft.com/office/drawing/2014/main" id="{547AEC70-59BE-9339-B1A9-1A6A39B68CA7}"/>
              </a:ext>
            </a:extLst>
          </p:cNvPr>
          <p:cNvSpPr>
            <a:spLocks noGrp="1"/>
          </p:cNvSpPr>
          <p:nvPr>
            <p:ph type="sldNum" sz="quarter" idx="4"/>
          </p:nvPr>
        </p:nvSpPr>
        <p:spPr>
          <a:xfrm>
            <a:off x="9941205" y="6459539"/>
            <a:ext cx="1316568" cy="365125"/>
          </a:xfrm>
          <a:prstGeom prst="rect">
            <a:avLst/>
          </a:prstGeom>
        </p:spPr>
        <p:txBody>
          <a:bodyPr vert="horz" lIns="91440" tIns="45720" rIns="91440" bIns="45720" rtlCol="0" anchor="ctr"/>
          <a:lstStyle>
            <a:lvl1pPr algn="r" eaLnBrk="1" fontAlgn="auto" hangingPunct="1">
              <a:spcBef>
                <a:spcPts val="0"/>
              </a:spcBef>
              <a:spcAft>
                <a:spcPts val="0"/>
              </a:spcAft>
              <a:defRPr sz="1050" smtClean="0">
                <a:solidFill>
                  <a:srgbClr val="FFFFFF"/>
                </a:solidFill>
                <a:latin typeface="+mn-lt"/>
              </a:defRPr>
            </a:lvl1pPr>
          </a:lstStyle>
          <a:p>
            <a:pPr marL="0" lvl="0" indent="0" algn="r" rtl="0">
              <a:spcBef>
                <a:spcPts val="0"/>
              </a:spcBef>
              <a:spcAft>
                <a:spcPts val="0"/>
              </a:spcAft>
              <a:buNone/>
            </a:pPr>
            <a:fld id="{00000000-1234-1234-1234-123412341234}" type="slidenum">
              <a:rPr lang="es-ES" smtClean="0"/>
              <a:t>‹Nº›</a:t>
            </a:fld>
            <a:endParaRPr lang="es-ES"/>
          </a:p>
        </p:txBody>
      </p:sp>
      <p:cxnSp>
        <p:nvCxnSpPr>
          <p:cNvPr id="10" name="Straight Connector 9">
            <a:extLst>
              <a:ext uri="{FF2B5EF4-FFF2-40B4-BE49-F238E27FC236}">
                <a16:creationId xmlns:a16="http://schemas.microsoft.com/office/drawing/2014/main" id="{CD63BBE1-71C5-A26C-9DD3-FC26722F6288}"/>
              </a:ext>
            </a:extLst>
          </p:cNvPr>
          <p:cNvCxnSpPr/>
          <p:nvPr/>
        </p:nvCxnSpPr>
        <p:spPr>
          <a:xfrm>
            <a:off x="1198619" y="1738313"/>
            <a:ext cx="1000655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34" name="Google Shape;67;p52">
            <a:extLst>
              <a:ext uri="{FF2B5EF4-FFF2-40B4-BE49-F238E27FC236}">
                <a16:creationId xmlns:a16="http://schemas.microsoft.com/office/drawing/2014/main" id="{8C7C2514-0CB2-4781-56F3-132BD5C815F4}"/>
              </a:ext>
            </a:extLst>
          </p:cNvPr>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822635" y="177800"/>
            <a:ext cx="121137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1867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p:txStyles>
    <p:titleStyle>
      <a:lvl1pPr algn="l" rtl="0" eaLnBrk="1" fontAlgn="base" hangingPunct="1">
        <a:lnSpc>
          <a:spcPct val="85000"/>
        </a:lnSpc>
        <a:spcBef>
          <a:spcPct val="0"/>
        </a:spcBef>
        <a:spcAft>
          <a:spcPct val="0"/>
        </a:spcAft>
        <a:defRPr sz="5400" kern="1200" spc="-50">
          <a:solidFill>
            <a:schemeClr val="tx1"/>
          </a:solidFill>
          <a:latin typeface="+mn-lt"/>
          <a:ea typeface="+mj-ea"/>
          <a:cs typeface="+mj-cs"/>
        </a:defRPr>
      </a:lvl1pPr>
      <a:lvl2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2pPr>
      <a:lvl3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3pPr>
      <a:lvl4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4pPr>
      <a:lvl5pPr algn="l" rtl="0" eaLnBrk="1" fontAlgn="base" hangingPunct="1">
        <a:lnSpc>
          <a:spcPct val="85000"/>
        </a:lnSpc>
        <a:spcBef>
          <a:spcPct val="0"/>
        </a:spcBef>
        <a:spcAft>
          <a:spcPct val="0"/>
        </a:spcAft>
        <a:defRPr sz="5400">
          <a:solidFill>
            <a:schemeClr val="tx1"/>
          </a:solidFill>
          <a:latin typeface="Calibri" panose="020F0502020204030204" pitchFamily="34" charset="0"/>
        </a:defRPr>
      </a:lvl5pPr>
      <a:lvl6pPr marL="457200" algn="l" rtl="0" eaLnBrk="1" fontAlgn="base" hangingPunct="1">
        <a:lnSpc>
          <a:spcPct val="85000"/>
        </a:lnSpc>
        <a:spcBef>
          <a:spcPct val="0"/>
        </a:spcBef>
        <a:spcAft>
          <a:spcPct val="0"/>
        </a:spcAft>
        <a:defRPr sz="5400">
          <a:solidFill>
            <a:schemeClr val="tx1"/>
          </a:solidFill>
          <a:latin typeface="Calibri" panose="020F0502020204030204" pitchFamily="34" charset="0"/>
        </a:defRPr>
      </a:lvl6pPr>
      <a:lvl7pPr marL="914400" algn="l" rtl="0" eaLnBrk="1" fontAlgn="base" hangingPunct="1">
        <a:lnSpc>
          <a:spcPct val="85000"/>
        </a:lnSpc>
        <a:spcBef>
          <a:spcPct val="0"/>
        </a:spcBef>
        <a:spcAft>
          <a:spcPct val="0"/>
        </a:spcAft>
        <a:defRPr sz="5400">
          <a:solidFill>
            <a:schemeClr val="tx1"/>
          </a:solidFill>
          <a:latin typeface="Calibri" panose="020F0502020204030204" pitchFamily="34" charset="0"/>
        </a:defRPr>
      </a:lvl7pPr>
      <a:lvl8pPr marL="1371600" algn="l" rtl="0" eaLnBrk="1" fontAlgn="base" hangingPunct="1">
        <a:lnSpc>
          <a:spcPct val="85000"/>
        </a:lnSpc>
        <a:spcBef>
          <a:spcPct val="0"/>
        </a:spcBef>
        <a:spcAft>
          <a:spcPct val="0"/>
        </a:spcAft>
        <a:defRPr sz="5400">
          <a:solidFill>
            <a:schemeClr val="tx1"/>
          </a:solidFill>
          <a:latin typeface="Calibri" panose="020F0502020204030204" pitchFamily="34" charset="0"/>
        </a:defRPr>
      </a:lvl8pPr>
      <a:lvl9pPr marL="1828800" algn="l" rtl="0" eaLnBrk="1" fontAlgn="base" hangingPunct="1">
        <a:lnSpc>
          <a:spcPct val="85000"/>
        </a:lnSpc>
        <a:spcBef>
          <a:spcPct val="0"/>
        </a:spcBef>
        <a:spcAft>
          <a:spcPct val="0"/>
        </a:spcAft>
        <a:defRPr sz="5400">
          <a:solidFill>
            <a:schemeClr val="tx1"/>
          </a:solidFill>
          <a:latin typeface="Calibri" panose="020F0502020204030204" pitchFamily="34" charset="0"/>
        </a:defRPr>
      </a:lvl9pPr>
    </p:titleStyle>
    <p:body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2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27.jpg"/><Relationship Id="rId4" Type="http://schemas.openxmlformats.org/officeDocument/2006/relationships/image" Target="../media/image26.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64.xml"/><Relationship Id="rId1" Type="http://schemas.openxmlformats.org/officeDocument/2006/relationships/slideLayout" Target="../slideLayouts/slideLayout6.xml"/><Relationship Id="rId4" Type="http://schemas.openxmlformats.org/officeDocument/2006/relationships/image" Target="../media/image42.jp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C00000"/>
              </a:buClr>
              <a:buSzPts val="3300"/>
              <a:buFont typeface="Calibri"/>
              <a:buNone/>
            </a:pPr>
            <a:r>
              <a:rPr lang="es-ES" dirty="0"/>
              <a:t>Ingeniería de Software I</a:t>
            </a:r>
            <a:endParaRPr dirty="0"/>
          </a:p>
        </p:txBody>
      </p:sp>
      <p:sp>
        <p:nvSpPr>
          <p:cNvPr id="2" name="Subtítulo 1">
            <a:extLst>
              <a:ext uri="{FF2B5EF4-FFF2-40B4-BE49-F238E27FC236}">
                <a16:creationId xmlns:a16="http://schemas.microsoft.com/office/drawing/2014/main" id="{0CC8093A-23F1-670D-48E4-BCD6608E830A}"/>
              </a:ext>
            </a:extLst>
          </p:cNvPr>
          <p:cNvSpPr>
            <a:spLocks noGrp="1"/>
          </p:cNvSpPr>
          <p:nvPr>
            <p:ph type="subTitle" idx="1"/>
          </p:nvPr>
        </p:nvSpPr>
        <p:spPr/>
        <p:txBody>
          <a:bodyPr/>
          <a:lstStyle/>
          <a:p>
            <a:r>
              <a:rPr lang="es-ES" dirty="0"/>
              <a:t>2026 – clase 1</a:t>
            </a:r>
          </a:p>
        </p:txBody>
      </p:sp>
      <p:pic>
        <p:nvPicPr>
          <p:cNvPr id="291" name="Google Shape;291;p1"/>
          <p:cNvPicPr preferRelativeResize="0"/>
          <p:nvPr/>
        </p:nvPicPr>
        <p:blipFill rotWithShape="1">
          <a:blip r:embed="rId3">
            <a:alphaModFix/>
          </a:blip>
          <a:srcRect/>
          <a:stretch/>
        </p:blipFill>
        <p:spPr>
          <a:xfrm>
            <a:off x="10801838" y="4975031"/>
            <a:ext cx="1152127" cy="1152127"/>
          </a:xfrm>
          <a:prstGeom prst="rect">
            <a:avLst/>
          </a:prstGeom>
          <a:noFill/>
          <a:ln>
            <a:noFill/>
          </a:ln>
        </p:spPr>
      </p:pic>
      <p:sp>
        <p:nvSpPr>
          <p:cNvPr id="3" name="Marcador de fecha 2">
            <a:extLst>
              <a:ext uri="{FF2B5EF4-FFF2-40B4-BE49-F238E27FC236}">
                <a16:creationId xmlns:a16="http://schemas.microsoft.com/office/drawing/2014/main" id="{74ACB663-1428-1756-259C-D35DB8AA1808}"/>
              </a:ext>
            </a:extLst>
          </p:cNvPr>
          <p:cNvSpPr>
            <a:spLocks noGrp="1"/>
          </p:cNvSpPr>
          <p:nvPr>
            <p:ph type="dt" sz="half" idx="10"/>
          </p:nvPr>
        </p:nvSpPr>
        <p:spPr/>
        <p:txBody>
          <a:bodyPr/>
          <a:lstStyle/>
          <a:p>
            <a:pPr>
              <a:defRPr/>
            </a:pPr>
            <a:r>
              <a:rPr lang="es-ES"/>
              <a:t>2026</a:t>
            </a:r>
            <a:endParaRPr lang="es-ES" dirty="0"/>
          </a:p>
        </p:txBody>
      </p:sp>
      <p:sp>
        <p:nvSpPr>
          <p:cNvPr id="4" name="Marcador de pie de página 3">
            <a:extLst>
              <a:ext uri="{FF2B5EF4-FFF2-40B4-BE49-F238E27FC236}">
                <a16:creationId xmlns:a16="http://schemas.microsoft.com/office/drawing/2014/main" id="{57F524EC-D1B4-7F27-B14B-0A7852F188C5}"/>
              </a:ext>
            </a:extLst>
          </p:cNvPr>
          <p:cNvSpPr>
            <a:spLocks noGrp="1"/>
          </p:cNvSpPr>
          <p:nvPr>
            <p:ph type="ftr" sz="quarter" idx="11"/>
          </p:nvPr>
        </p:nvSpPr>
        <p:spPr/>
        <p:txBody>
          <a:bodyPr/>
          <a:lstStyle/>
          <a:p>
            <a:r>
              <a:rPr lang="es-ES"/>
              <a:t>INGENIERÍA DE SOFTWARE I</a:t>
            </a:r>
          </a:p>
        </p:txBody>
      </p:sp>
      <p:sp>
        <p:nvSpPr>
          <p:cNvPr id="5" name="Marcador de número de diapositiva 4">
            <a:extLst>
              <a:ext uri="{FF2B5EF4-FFF2-40B4-BE49-F238E27FC236}">
                <a16:creationId xmlns:a16="http://schemas.microsoft.com/office/drawing/2014/main" id="{A4999FD1-4B7B-BB22-8C87-7440F8D5ED9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9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spcAft>
                <a:spcPts val="0"/>
              </a:spcAft>
              <a:buClr>
                <a:srgbClr val="3F3F3F"/>
              </a:buClr>
              <a:buSzPts val="1800"/>
            </a:pPr>
            <a:r>
              <a:rPr lang="es-ES" dirty="0"/>
              <a:t>Ingeniería de Software I </a:t>
            </a:r>
            <a:endParaRPr dirty="0"/>
          </a:p>
        </p:txBody>
      </p:sp>
      <p:sp>
        <p:nvSpPr>
          <p:cNvPr id="300" name="Google Shape;300;p92"/>
          <p:cNvSpPr txBox="1">
            <a:spLocks noGrp="1"/>
          </p:cNvSpPr>
          <p:nvPr>
            <p:ph idx="1"/>
          </p:nvPr>
        </p:nvSpPr>
        <p:spPr>
          <a:xfrm>
            <a:off x="1101709" y="1845733"/>
            <a:ext cx="10099001" cy="4388811"/>
          </a:xfrm>
          <a:prstGeom prst="rect">
            <a:avLst/>
          </a:prstGeom>
          <a:noFill/>
          <a:ln>
            <a:noFill/>
          </a:ln>
        </p:spPr>
        <p:txBody>
          <a:bodyPr spcFirstLastPara="1" wrap="square" lIns="0" tIns="45700" rIns="0" bIns="45700" anchor="t" anchorCtr="0">
            <a:noAutofit/>
          </a:bodyPr>
          <a:lstStyle/>
          <a:p>
            <a:pPr marL="114300" lvl="0" indent="0" algn="l" rtl="0">
              <a:lnSpc>
                <a:spcPct val="90000"/>
              </a:lnSpc>
              <a:spcBef>
                <a:spcPts val="1200"/>
              </a:spcBef>
              <a:spcAft>
                <a:spcPts val="0"/>
              </a:spcAft>
              <a:buSzPct val="64863"/>
              <a:buNone/>
            </a:pPr>
            <a:r>
              <a:rPr lang="es-ES" sz="2800" dirty="0">
                <a:solidFill>
                  <a:schemeClr val="tx1"/>
                </a:solidFill>
              </a:rPr>
              <a:t>Materia semestral correspondiente a 2do. año de:</a:t>
            </a:r>
            <a:endParaRPr sz="2800" dirty="0">
              <a:solidFill>
                <a:schemeClr val="tx1"/>
              </a:solidFill>
            </a:endParaRPr>
          </a:p>
          <a:p>
            <a:pPr marL="571500" lvl="0" indent="-457200" algn="l" rtl="0">
              <a:lnSpc>
                <a:spcPct val="90000"/>
              </a:lnSpc>
              <a:spcBef>
                <a:spcPts val="1200"/>
              </a:spcBef>
              <a:spcAft>
                <a:spcPts val="0"/>
              </a:spcAft>
              <a:buClr>
                <a:srgbClr val="C00000"/>
              </a:buClr>
              <a:buFont typeface="Arial" panose="020B0604020202020204" pitchFamily="34" charset="0"/>
              <a:buChar char="•"/>
            </a:pPr>
            <a:r>
              <a:rPr lang="es-ES" sz="2400" dirty="0">
                <a:solidFill>
                  <a:schemeClr val="tx1"/>
                </a:solidFill>
              </a:rPr>
              <a:t>Lic. en Sistemas - Planes 2021, 2015 y 2012</a:t>
            </a:r>
            <a:endParaRPr sz="2400" dirty="0">
              <a:solidFill>
                <a:schemeClr val="tx1"/>
              </a:solidFill>
            </a:endParaRPr>
          </a:p>
          <a:p>
            <a:pPr marL="571500" indent="-457200">
              <a:spcAft>
                <a:spcPts val="0"/>
              </a:spcAft>
              <a:buClr>
                <a:srgbClr val="C00000"/>
              </a:buClr>
              <a:buFont typeface="Arial" panose="020B0604020202020204" pitchFamily="34" charset="0"/>
              <a:buChar char="•"/>
            </a:pPr>
            <a:r>
              <a:rPr lang="es-ES" sz="2400" dirty="0">
                <a:solidFill>
                  <a:schemeClr val="tx1"/>
                </a:solidFill>
              </a:rPr>
              <a:t>Lic. en Informática - Planes 2021, 2015 y 2012</a:t>
            </a:r>
            <a:endParaRPr sz="2400" dirty="0">
              <a:solidFill>
                <a:schemeClr val="tx1"/>
              </a:solidFill>
            </a:endParaRPr>
          </a:p>
          <a:p>
            <a:pPr marL="571500" indent="-457200">
              <a:spcAft>
                <a:spcPts val="0"/>
              </a:spcAft>
              <a:buClr>
                <a:srgbClr val="C00000"/>
              </a:buClr>
              <a:buFont typeface="Arial" panose="020B0604020202020204" pitchFamily="34" charset="0"/>
              <a:buChar char="•"/>
            </a:pPr>
            <a:r>
              <a:rPr lang="es-ES" sz="2400" dirty="0">
                <a:solidFill>
                  <a:schemeClr val="tx1"/>
                </a:solidFill>
              </a:rPr>
              <a:t>Analista Programador Universitario - Planes 2021, 2015 y 2007</a:t>
            </a:r>
            <a:endParaRPr sz="2400" dirty="0">
              <a:solidFill>
                <a:schemeClr val="tx1"/>
              </a:solidFill>
            </a:endParaRPr>
          </a:p>
          <a:p>
            <a:pPr marL="571500" indent="-457200">
              <a:spcAft>
                <a:spcPts val="0"/>
              </a:spcAft>
              <a:buClr>
                <a:srgbClr val="C00000"/>
              </a:buClr>
              <a:buFont typeface="Arial" panose="020B0604020202020204" pitchFamily="34" charset="0"/>
              <a:buChar char="•"/>
            </a:pPr>
            <a:r>
              <a:rPr lang="es-ES" sz="2400" dirty="0">
                <a:solidFill>
                  <a:schemeClr val="tx1"/>
                </a:solidFill>
              </a:rPr>
              <a:t>Analista en TIC - Planes 2021 y 2017</a:t>
            </a:r>
          </a:p>
          <a:p>
            <a:pPr marL="571500" lvl="0" indent="-457200" algn="l" rtl="0">
              <a:lnSpc>
                <a:spcPct val="90000"/>
              </a:lnSpc>
              <a:spcBef>
                <a:spcPts val="1200"/>
              </a:spcBef>
              <a:spcAft>
                <a:spcPts val="0"/>
              </a:spcAft>
              <a:buClr>
                <a:srgbClr val="C00000"/>
              </a:buClr>
              <a:buFont typeface="Arial" panose="020B0604020202020204" pitchFamily="34" charset="0"/>
              <a:buChar char="•"/>
            </a:pPr>
            <a:endParaRPr sz="900" dirty="0">
              <a:solidFill>
                <a:schemeClr val="tx1"/>
              </a:solidFill>
            </a:endParaRPr>
          </a:p>
          <a:p>
            <a:pPr marL="114300" lvl="0" indent="0" algn="l" rtl="0">
              <a:lnSpc>
                <a:spcPct val="90000"/>
              </a:lnSpc>
              <a:spcBef>
                <a:spcPts val="1200"/>
              </a:spcBef>
              <a:spcAft>
                <a:spcPts val="0"/>
              </a:spcAft>
              <a:buSzPct val="64863"/>
              <a:buNone/>
            </a:pPr>
            <a:r>
              <a:rPr lang="es-ES" sz="2800" dirty="0">
                <a:solidFill>
                  <a:schemeClr val="tx1"/>
                </a:solidFill>
              </a:rPr>
              <a:t>Correlativa:</a:t>
            </a:r>
          </a:p>
          <a:p>
            <a:pPr marL="571500" indent="-457200">
              <a:spcAft>
                <a:spcPts val="0"/>
              </a:spcAft>
              <a:buClr>
                <a:srgbClr val="C00000"/>
              </a:buClr>
              <a:buFont typeface="Arial" panose="020B0604020202020204" pitchFamily="34" charset="0"/>
              <a:buChar char="•"/>
            </a:pPr>
            <a:r>
              <a:rPr lang="es-ES" sz="2400" dirty="0">
                <a:solidFill>
                  <a:schemeClr val="tx1"/>
                </a:solidFill>
              </a:rPr>
              <a:t>Taller de Programación</a:t>
            </a:r>
            <a:endParaRPr sz="2400" dirty="0">
              <a:solidFill>
                <a:schemeClr val="tx1"/>
              </a:solidFill>
            </a:endParaRPr>
          </a:p>
        </p:txBody>
      </p:sp>
      <p:sp>
        <p:nvSpPr>
          <p:cNvPr id="301" name="Google Shape;301;p92"/>
          <p:cNvSpPr txBox="1">
            <a:spLocks noGrp="1"/>
          </p:cNvSpPr>
          <p:nvPr>
            <p:ph type="sldNum" sz="quarter" idx="12"/>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000"/>
              <a:buNone/>
            </a:pPr>
            <a:fld id="{00000000-1234-1234-1234-123412341234}" type="slidenum">
              <a:rPr lang="es-ES"/>
              <a:t>2</a:t>
            </a:fld>
            <a:endParaRPr/>
          </a:p>
        </p:txBody>
      </p:sp>
      <p:sp>
        <p:nvSpPr>
          <p:cNvPr id="2" name="Marcador de fecha 1">
            <a:extLst>
              <a:ext uri="{FF2B5EF4-FFF2-40B4-BE49-F238E27FC236}">
                <a16:creationId xmlns:a16="http://schemas.microsoft.com/office/drawing/2014/main" id="{467C57AF-5825-0080-2AEC-DA63E8B8A2A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E838CE2-AFB0-3F4C-D3F1-3E59CCA8A55B}"/>
              </a:ext>
            </a:extLst>
          </p:cNvPr>
          <p:cNvSpPr>
            <a:spLocks noGrp="1"/>
          </p:cNvSpPr>
          <p:nvPr>
            <p:ph type="ftr" sz="quarter" idx="11"/>
          </p:nvPr>
        </p:nvSpPr>
        <p:spPr/>
        <p:txBody>
          <a:bodyPr/>
          <a:lstStyle/>
          <a:p>
            <a:r>
              <a:rPr lang="es-ES"/>
              <a:t>INGENIERÍA DE SOFTWARE 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97"/>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dirty="0"/>
              <a:t>Horarios</a:t>
            </a:r>
            <a:endParaRPr dirty="0"/>
          </a:p>
        </p:txBody>
      </p:sp>
      <p:sp>
        <p:nvSpPr>
          <p:cNvPr id="307" name="Google Shape;307;p97"/>
          <p:cNvSpPr txBox="1">
            <a:spLocks noGrp="1"/>
          </p:cNvSpPr>
          <p:nvPr>
            <p:ph idx="1"/>
          </p:nvPr>
        </p:nvSpPr>
        <p:spPr>
          <a:prstGeom prst="rect">
            <a:avLst/>
          </a:prstGeom>
          <a:noFill/>
          <a:ln>
            <a:noFill/>
          </a:ln>
        </p:spPr>
        <p:txBody>
          <a:bodyPr spcFirstLastPara="1" wrap="square" lIns="0" tIns="45700" rIns="0" bIns="45700" anchor="t" anchorCtr="0">
            <a:noAutofit/>
          </a:bodyPr>
          <a:lstStyle/>
          <a:p>
            <a:pPr marL="114300" lvl="0" indent="0">
              <a:spcAft>
                <a:spcPts val="0"/>
              </a:spcAft>
              <a:buSzPct val="64863"/>
              <a:buNone/>
            </a:pPr>
            <a:r>
              <a:rPr lang="es-ES" sz="2800" b="1" dirty="0">
                <a:solidFill>
                  <a:schemeClr val="tx1"/>
                </a:solidFill>
              </a:rPr>
              <a:t>Turno 1:</a:t>
            </a:r>
          </a:p>
          <a:p>
            <a:pPr marL="571500" lvl="0" indent="-457200">
              <a:spcAft>
                <a:spcPts val="0"/>
              </a:spcAft>
              <a:buClr>
                <a:srgbClr val="C00000"/>
              </a:buClr>
              <a:buFont typeface="Arial" panose="020B0604020202020204" pitchFamily="34" charset="0"/>
              <a:buChar char="•"/>
            </a:pPr>
            <a:r>
              <a:rPr lang="es-ES" sz="2400" dirty="0">
                <a:solidFill>
                  <a:schemeClr val="tx1"/>
                </a:solidFill>
              </a:rPr>
              <a:t>Teoría: Lunes 11hs (Aula 5) – Marcos </a:t>
            </a:r>
            <a:r>
              <a:rPr lang="es-ES" sz="2400" dirty="0" err="1">
                <a:solidFill>
                  <a:schemeClr val="tx1"/>
                </a:solidFill>
              </a:rPr>
              <a:t>Boracchia</a:t>
            </a:r>
            <a:endParaRPr lang="es-ES" sz="2400" dirty="0">
              <a:solidFill>
                <a:schemeClr val="tx1"/>
              </a:solidFill>
            </a:endParaRPr>
          </a:p>
          <a:p>
            <a:pPr marL="114300" indent="0">
              <a:spcAft>
                <a:spcPts val="0"/>
              </a:spcAft>
              <a:buSzPct val="64863"/>
              <a:buNone/>
            </a:pPr>
            <a:r>
              <a:rPr lang="es-ES" sz="2800" b="1" dirty="0">
                <a:solidFill>
                  <a:schemeClr val="tx1"/>
                </a:solidFill>
              </a:rPr>
              <a:t>Turno 2:</a:t>
            </a:r>
          </a:p>
          <a:p>
            <a:pPr marL="571500" indent="-457200">
              <a:spcAft>
                <a:spcPts val="0"/>
              </a:spcAft>
              <a:buClr>
                <a:srgbClr val="C00000"/>
              </a:buClr>
              <a:buFont typeface="Arial" panose="020B0604020202020204" pitchFamily="34" charset="0"/>
              <a:buChar char="•"/>
            </a:pPr>
            <a:r>
              <a:rPr lang="es-ES" sz="2400" dirty="0">
                <a:solidFill>
                  <a:schemeClr val="tx1"/>
                </a:solidFill>
              </a:rPr>
              <a:t>Teoría: Miércoles 14hs (Aula 11) – Alejandro González</a:t>
            </a:r>
          </a:p>
          <a:p>
            <a:pPr marL="114300" indent="0">
              <a:spcAft>
                <a:spcPts val="0"/>
              </a:spcAft>
              <a:buSzPct val="64863"/>
              <a:buNone/>
            </a:pPr>
            <a:r>
              <a:rPr lang="es-ES" sz="2800" b="1" dirty="0">
                <a:solidFill>
                  <a:schemeClr val="tx1"/>
                </a:solidFill>
              </a:rPr>
              <a:t>Turno 3:</a:t>
            </a:r>
          </a:p>
          <a:p>
            <a:pPr marL="571500" indent="-457200">
              <a:spcAft>
                <a:spcPts val="0"/>
              </a:spcAft>
              <a:buClr>
                <a:srgbClr val="C00000"/>
              </a:buClr>
              <a:buFont typeface="Arial" panose="020B0604020202020204" pitchFamily="34" charset="0"/>
              <a:buChar char="•"/>
            </a:pPr>
            <a:r>
              <a:rPr lang="es-ES" sz="2400" dirty="0">
                <a:solidFill>
                  <a:schemeClr val="tx1"/>
                </a:solidFill>
              </a:rPr>
              <a:t>Teoría: Jueves 17hs (Aula 10B) – Rocío Muñoz</a:t>
            </a:r>
          </a:p>
          <a:p>
            <a:pPr marL="914400" lvl="1" indent="-228600" algn="l" rtl="0">
              <a:lnSpc>
                <a:spcPct val="90000"/>
              </a:lnSpc>
              <a:spcBef>
                <a:spcPts val="200"/>
              </a:spcBef>
              <a:spcAft>
                <a:spcPts val="0"/>
              </a:spcAft>
              <a:buSzPts val="1800"/>
              <a:buNone/>
            </a:pPr>
            <a:endParaRPr lang="es-ES" sz="2000" dirty="0"/>
          </a:p>
          <a:p>
            <a:pPr marL="914400" lvl="1" indent="-228600" algn="l" rtl="0">
              <a:lnSpc>
                <a:spcPct val="90000"/>
              </a:lnSpc>
              <a:spcBef>
                <a:spcPts val="200"/>
              </a:spcBef>
              <a:spcAft>
                <a:spcPts val="0"/>
              </a:spcAft>
              <a:buSzPts val="1800"/>
              <a:buNone/>
            </a:pPr>
            <a:endParaRPr sz="2000" dirty="0"/>
          </a:p>
          <a:p>
            <a:pPr marL="357188" lvl="1" indent="-228600" algn="l" rtl="0">
              <a:lnSpc>
                <a:spcPct val="90000"/>
              </a:lnSpc>
              <a:spcBef>
                <a:spcPts val="200"/>
              </a:spcBef>
              <a:spcAft>
                <a:spcPts val="0"/>
              </a:spcAft>
              <a:buSzPts val="1800"/>
              <a:buNone/>
            </a:pPr>
            <a:r>
              <a:rPr lang="es-ES" i="1" dirty="0">
                <a:solidFill>
                  <a:schemeClr val="tx1"/>
                </a:solidFill>
              </a:rPr>
              <a:t>Tema horarios práctica consultar con </a:t>
            </a:r>
            <a:r>
              <a:rPr lang="es-ES" i="1" dirty="0" err="1">
                <a:solidFill>
                  <a:schemeClr val="tx1"/>
                </a:solidFill>
              </a:rPr>
              <a:t>JTPs</a:t>
            </a:r>
            <a:r>
              <a:rPr lang="es-ES" i="1" dirty="0">
                <a:solidFill>
                  <a:schemeClr val="tx1"/>
                </a:solidFill>
              </a:rPr>
              <a:t>: Virginia </a:t>
            </a:r>
            <a:r>
              <a:rPr lang="es-ES" i="1" dirty="0" err="1">
                <a:solidFill>
                  <a:schemeClr val="tx1"/>
                </a:solidFill>
              </a:rPr>
              <a:t>Ainchil</a:t>
            </a:r>
            <a:r>
              <a:rPr lang="es-ES" i="1" dirty="0">
                <a:solidFill>
                  <a:schemeClr val="tx1"/>
                </a:solidFill>
              </a:rPr>
              <a:t>, Emanuel </a:t>
            </a:r>
            <a:r>
              <a:rPr lang="es-ES" i="1" dirty="0" err="1">
                <a:solidFill>
                  <a:schemeClr val="tx1"/>
                </a:solidFill>
              </a:rPr>
              <a:t>Nucilli</a:t>
            </a:r>
            <a:r>
              <a:rPr lang="es-ES" i="1" dirty="0">
                <a:solidFill>
                  <a:schemeClr val="tx1"/>
                </a:solidFill>
              </a:rPr>
              <a:t>, Ana Vicenzi</a:t>
            </a:r>
            <a:endParaRPr i="1" dirty="0">
              <a:solidFill>
                <a:schemeClr val="tx1"/>
              </a:solidFill>
            </a:endParaRPr>
          </a:p>
        </p:txBody>
      </p:sp>
      <p:sp>
        <p:nvSpPr>
          <p:cNvPr id="308" name="Google Shape;308;p97"/>
          <p:cNvSpPr txBox="1">
            <a:spLocks noGrp="1"/>
          </p:cNvSpPr>
          <p:nvPr>
            <p:ph type="sldNum" sz="quarter" idx="12"/>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000"/>
              <a:buNone/>
            </a:pPr>
            <a:fld id="{00000000-1234-1234-1234-123412341234}" type="slidenum">
              <a:rPr lang="es-ES"/>
              <a:t>3</a:t>
            </a:fld>
            <a:endParaRPr/>
          </a:p>
        </p:txBody>
      </p:sp>
      <p:sp>
        <p:nvSpPr>
          <p:cNvPr id="2" name="Marcador de fecha 1">
            <a:extLst>
              <a:ext uri="{FF2B5EF4-FFF2-40B4-BE49-F238E27FC236}">
                <a16:creationId xmlns:a16="http://schemas.microsoft.com/office/drawing/2014/main" id="{85C7CC24-1DCB-0C93-E624-8B3151F61B7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973DDBE-C183-CECB-6142-46DA5CF42250}"/>
              </a:ext>
            </a:extLst>
          </p:cNvPr>
          <p:cNvSpPr>
            <a:spLocks noGrp="1"/>
          </p:cNvSpPr>
          <p:nvPr>
            <p:ph type="ftr" sz="quarter" idx="11"/>
          </p:nvPr>
        </p:nvSpPr>
        <p:spPr/>
        <p:txBody>
          <a:bodyPr/>
          <a:lstStyle/>
          <a:p>
            <a:r>
              <a:rPr lang="es-ES"/>
              <a:t>INGENIERÍA DE SOFTWARE 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1f30b4104d4_0_0"/>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Acceso a Moodle MFI</a:t>
            </a:r>
            <a:endParaRPr sz="4400" dirty="0">
              <a:solidFill>
                <a:schemeClr val="dk1"/>
              </a:solidFill>
              <a:latin typeface="Calibri"/>
              <a:ea typeface="Calibri"/>
              <a:cs typeface="Calibri"/>
              <a:sym typeface="Calibri"/>
            </a:endParaRPr>
          </a:p>
        </p:txBody>
      </p:sp>
      <p:sp>
        <p:nvSpPr>
          <p:cNvPr id="148" name="Google Shape;148;g1f30b4104d4_0_0"/>
          <p:cNvSpPr txBox="1"/>
          <p:nvPr/>
        </p:nvSpPr>
        <p:spPr>
          <a:xfrm>
            <a:off x="3123781" y="3286944"/>
            <a:ext cx="5668816" cy="1185664"/>
          </a:xfrm>
          <a:prstGeom prst="rect">
            <a:avLst/>
          </a:prstGeom>
          <a:noFill/>
          <a:ln>
            <a:noFill/>
          </a:ln>
        </p:spPr>
        <p:txBody>
          <a:bodyPr spcFirstLastPara="1" wrap="square" lIns="64283" tIns="64283" rIns="64283" bIns="64283" anchor="t" anchorCtr="0">
            <a:noAutofit/>
          </a:bodyPr>
          <a:lstStyle/>
          <a:p>
            <a:pPr>
              <a:spcBef>
                <a:spcPts val="0"/>
              </a:spcBef>
              <a:spcAft>
                <a:spcPts val="0"/>
              </a:spcAft>
              <a:buClr>
                <a:srgbClr val="000000"/>
              </a:buClr>
              <a:buSzPts val="2844"/>
            </a:pPr>
            <a:r>
              <a:rPr lang="es-ES" sz="2531" dirty="0">
                <a:solidFill>
                  <a:schemeClr val="dk2"/>
                </a:solidFill>
                <a:latin typeface="Libre Franklin"/>
                <a:ea typeface="Libre Franklin"/>
                <a:cs typeface="Libre Franklin"/>
                <a:sym typeface="Libre Franklin"/>
              </a:rPr>
              <a:t>https://asignaturas.info.unlp.edu.ar/</a:t>
            </a:r>
            <a:endParaRPr sz="2531" dirty="0">
              <a:solidFill>
                <a:schemeClr val="dk2"/>
              </a:solidFill>
              <a:latin typeface="Libre Franklin"/>
              <a:ea typeface="Libre Franklin"/>
              <a:cs typeface="Libre Franklin"/>
              <a:sym typeface="Libre Franklin"/>
            </a:endParaRPr>
          </a:p>
        </p:txBody>
      </p:sp>
      <p:sp>
        <p:nvSpPr>
          <p:cNvPr id="149" name="Google Shape;149;g1f30b4104d4_0_0"/>
          <p:cNvSpPr/>
          <p:nvPr/>
        </p:nvSpPr>
        <p:spPr>
          <a:xfrm>
            <a:off x="1087731" y="2030336"/>
            <a:ext cx="10800844" cy="4478414"/>
          </a:xfrm>
          <a:prstGeom prst="rect">
            <a:avLst/>
          </a:prstGeom>
          <a:noFill/>
          <a:ln>
            <a:noFill/>
          </a:ln>
        </p:spPr>
        <p:txBody>
          <a:bodyPr spcFirstLastPara="1" wrap="square" lIns="90000" tIns="45000" rIns="90000" bIns="45000" anchor="t" anchorCtr="0">
            <a:noAutofit/>
          </a:bodyPr>
          <a:lstStyle/>
          <a:p>
            <a:pPr marL="339316" indent="-339316">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Usando </a:t>
            </a:r>
            <a:r>
              <a:rPr lang="es-ES" sz="2800" b="1" dirty="0">
                <a:latin typeface="Calibri"/>
                <a:ea typeface="Calibri"/>
                <a:cs typeface="Calibri"/>
                <a:sym typeface="Calibri"/>
              </a:rPr>
              <a:t>Login vía acceso único</a:t>
            </a:r>
            <a:endParaRPr sz="2800" b="1" dirty="0">
              <a:latin typeface="Calibri"/>
              <a:ea typeface="Calibri"/>
              <a:cs typeface="Calibri"/>
              <a:sym typeface="Calibri"/>
            </a:endParaRPr>
          </a:p>
        </p:txBody>
      </p:sp>
      <p:sp>
        <p:nvSpPr>
          <p:cNvPr id="2" name="Marcador de fecha 1">
            <a:extLst>
              <a:ext uri="{FF2B5EF4-FFF2-40B4-BE49-F238E27FC236}">
                <a16:creationId xmlns:a16="http://schemas.microsoft.com/office/drawing/2014/main" id="{D2D76950-CADC-AD9B-2B9E-9A1159D97545}"/>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68DB4F2-37CF-228E-0001-84DD1CBDEF79}"/>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1C964B43-EAB6-B61D-7AA0-DD0010DEED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a:t>
            </a:fld>
            <a:endParaRPr lang="es-E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DBFDF9E7-404C-0E40-12BE-163C6C3FAF18}"/>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2C49CA7C-35DC-CC1A-73CD-EE9BFD009F7B}"/>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Aprobación de cursada</a:t>
            </a:r>
            <a:endParaRPr sz="4400" dirty="0">
              <a:solidFill>
                <a:schemeClr val="dk1"/>
              </a:solidFill>
              <a:latin typeface="Calibri"/>
              <a:ea typeface="Calibri"/>
              <a:cs typeface="Calibri"/>
              <a:sym typeface="Calibri"/>
            </a:endParaRPr>
          </a:p>
        </p:txBody>
      </p:sp>
      <p:sp>
        <p:nvSpPr>
          <p:cNvPr id="149" name="Google Shape;149;g1f30b4104d4_0_0">
            <a:extLst>
              <a:ext uri="{FF2B5EF4-FFF2-40B4-BE49-F238E27FC236}">
                <a16:creationId xmlns:a16="http://schemas.microsoft.com/office/drawing/2014/main" id="{4BF26D3A-FC0E-EF6B-C7A9-46A6F6482A09}"/>
              </a:ext>
            </a:extLst>
          </p:cNvPr>
          <p:cNvSpPr/>
          <p:nvPr/>
        </p:nvSpPr>
        <p:spPr>
          <a:xfrm>
            <a:off x="1087731" y="2030336"/>
            <a:ext cx="10800844" cy="4478414"/>
          </a:xfrm>
          <a:prstGeom prst="rect">
            <a:avLst/>
          </a:prstGeom>
          <a:noFill/>
          <a:ln>
            <a:noFill/>
          </a:ln>
        </p:spPr>
        <p:txBody>
          <a:bodyPr spcFirstLastPara="1" wrap="square" lIns="90000" tIns="45000" rIns="90000" bIns="45000" anchor="t" anchorCtr="0">
            <a:noAutofit/>
          </a:bodyPr>
          <a:lstStyle/>
          <a:p>
            <a:pPr marL="339316" indent="-339316">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Se deberán rendir y aprobar los exámenes prácticos.</a:t>
            </a:r>
            <a:endParaRPr sz="2800" b="1" dirty="0">
              <a:latin typeface="Calibri"/>
              <a:ea typeface="Calibri"/>
              <a:cs typeface="Calibri"/>
              <a:sym typeface="Calibri"/>
            </a:endParaRPr>
          </a:p>
        </p:txBody>
      </p:sp>
      <p:sp>
        <p:nvSpPr>
          <p:cNvPr id="2" name="Marcador de fecha 1">
            <a:extLst>
              <a:ext uri="{FF2B5EF4-FFF2-40B4-BE49-F238E27FC236}">
                <a16:creationId xmlns:a16="http://schemas.microsoft.com/office/drawing/2014/main" id="{1C650A14-C240-D227-488F-1094E4ACC740}"/>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B53C2909-9F87-E0DC-6C92-A7F363C84AE8}"/>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1E84B92F-09C0-825E-298D-4C5865201D7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a:t>
            </a:fld>
            <a:endParaRPr lang="es-ES"/>
          </a:p>
        </p:txBody>
      </p:sp>
    </p:spTree>
    <p:extLst>
      <p:ext uri="{BB962C8B-B14F-4D97-AF65-F5344CB8AC3E}">
        <p14:creationId xmlns:p14="http://schemas.microsoft.com/office/powerpoint/2010/main" val="7679706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F57C893-54E8-0F68-4FD7-CAE954F22A03}"/>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8992B5A9-C1D2-045E-7F8E-AD8E5813DCBB}"/>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Aprobación final de la materia</a:t>
            </a:r>
            <a:endParaRPr sz="4400" dirty="0">
              <a:solidFill>
                <a:schemeClr val="dk1"/>
              </a:solidFill>
              <a:latin typeface="Calibri"/>
              <a:ea typeface="Calibri"/>
              <a:cs typeface="Calibri"/>
              <a:sym typeface="Calibri"/>
            </a:endParaRPr>
          </a:p>
        </p:txBody>
      </p:sp>
      <p:sp>
        <p:nvSpPr>
          <p:cNvPr id="149" name="Google Shape;149;g1f30b4104d4_0_0">
            <a:extLst>
              <a:ext uri="{FF2B5EF4-FFF2-40B4-BE49-F238E27FC236}">
                <a16:creationId xmlns:a16="http://schemas.microsoft.com/office/drawing/2014/main" id="{0F57C8E3-6085-8203-00EA-B474E6295821}"/>
              </a:ext>
            </a:extLst>
          </p:cNvPr>
          <p:cNvSpPr/>
          <p:nvPr/>
        </p:nvSpPr>
        <p:spPr>
          <a:xfrm>
            <a:off x="1087731" y="2030336"/>
            <a:ext cx="10505001" cy="4478414"/>
          </a:xfrm>
          <a:prstGeom prst="rect">
            <a:avLst/>
          </a:prstGeom>
          <a:noFill/>
          <a:ln>
            <a:noFill/>
          </a:ln>
        </p:spPr>
        <p:txBody>
          <a:bodyPr spcFirstLastPara="1" wrap="square" lIns="90000" tIns="45000" rIns="90000" bIns="45000" anchor="t" anchorCtr="0">
            <a:noAutofit/>
          </a:bodyPr>
          <a:lstStyle/>
          <a:p>
            <a:pPr marL="339316" indent="-339316" algn="just">
              <a:spcBef>
                <a:spcPts val="0"/>
              </a:spcBef>
              <a:spcAft>
                <a:spcPts val="0"/>
              </a:spcAft>
              <a:buClr>
                <a:srgbClr val="C00000"/>
              </a:buClr>
              <a:buSzPct val="100000"/>
              <a:buFont typeface="Noto Sans Symbols"/>
              <a:buChar char="❖"/>
            </a:pPr>
            <a:r>
              <a:rPr lang="es-ES" sz="2600" dirty="0">
                <a:latin typeface="Calibri"/>
                <a:ea typeface="Calibri"/>
                <a:cs typeface="Calibri"/>
                <a:sym typeface="Calibri"/>
              </a:rPr>
              <a:t>El final de la materia se aprobará optando entre:</a:t>
            </a:r>
          </a:p>
          <a:p>
            <a:pPr marL="806450" lvl="1" indent="-357188" algn="just">
              <a:lnSpc>
                <a:spcPct val="90000"/>
              </a:lnSpc>
              <a:spcBef>
                <a:spcPts val="600"/>
              </a:spcBef>
              <a:spcAft>
                <a:spcPts val="0"/>
              </a:spcAft>
              <a:buClr>
                <a:srgbClr val="C00000"/>
              </a:buClr>
              <a:buSzPct val="100000"/>
              <a:buFont typeface="+mj-lt"/>
              <a:buAutoNum type="arabicPeriod"/>
            </a:pPr>
            <a:r>
              <a:rPr lang="es-ES" sz="2200" dirty="0"/>
              <a:t>Rendir un examen teórico (con un recuperatorio) durante la cursada, sacando nota 6 (seis) o superior, e inscribiéndose a una mesa de final. </a:t>
            </a:r>
          </a:p>
          <a:p>
            <a:pPr marL="806450" lvl="1" indent="-357188" algn="just">
              <a:lnSpc>
                <a:spcPct val="90000"/>
              </a:lnSpc>
              <a:spcBef>
                <a:spcPts val="600"/>
              </a:spcBef>
              <a:spcAft>
                <a:spcPts val="0"/>
              </a:spcAft>
              <a:buClr>
                <a:srgbClr val="C00000"/>
              </a:buClr>
              <a:buSzPct val="100000"/>
              <a:buFont typeface="+mj-lt"/>
              <a:buAutoNum type="arabicPeriod"/>
            </a:pPr>
            <a:r>
              <a:rPr lang="es-ES" sz="2200" dirty="0"/>
              <a:t>Rendir examen escrito en las mesas de final. </a:t>
            </a:r>
          </a:p>
          <a:p>
            <a:pPr marL="1028700" lvl="1" indent="-457200" algn="just">
              <a:lnSpc>
                <a:spcPct val="90000"/>
              </a:lnSpc>
              <a:spcBef>
                <a:spcPts val="600"/>
              </a:spcBef>
              <a:spcAft>
                <a:spcPts val="0"/>
              </a:spcAft>
              <a:buClr>
                <a:srgbClr val="C00000"/>
              </a:buClr>
              <a:buSzPct val="100000"/>
              <a:buFont typeface="+mj-lt"/>
              <a:buAutoNum type="arabicPeriod"/>
            </a:pPr>
            <a:endParaRPr lang="es-ES" sz="2000" dirty="0"/>
          </a:p>
          <a:p>
            <a:pPr marL="339316" indent="-339316" algn="just">
              <a:spcBef>
                <a:spcPts val="0"/>
              </a:spcBef>
              <a:spcAft>
                <a:spcPts val="0"/>
              </a:spcAft>
              <a:buClr>
                <a:srgbClr val="C00000"/>
              </a:buClr>
              <a:buSzPct val="100000"/>
              <a:buFont typeface="Noto Sans Symbols"/>
              <a:buChar char="❖"/>
            </a:pPr>
            <a:r>
              <a:rPr lang="es-ES" sz="2600" dirty="0">
                <a:latin typeface="Calibri"/>
                <a:ea typeface="Calibri"/>
                <a:cs typeface="Calibri"/>
                <a:sym typeface="Calibri"/>
              </a:rPr>
              <a:t>Los alumnos que elijan la opción 1 deben cumplir las </a:t>
            </a:r>
            <a:r>
              <a:rPr lang="es-ES" sz="2600" dirty="0" err="1">
                <a:latin typeface="Calibri"/>
                <a:ea typeface="Calibri"/>
                <a:cs typeface="Calibri"/>
                <a:sym typeface="Calibri"/>
              </a:rPr>
              <a:t>sgtes</a:t>
            </a:r>
            <a:r>
              <a:rPr lang="es-ES" sz="2600" dirty="0">
                <a:latin typeface="Calibri"/>
                <a:ea typeface="Calibri"/>
                <a:cs typeface="Calibri"/>
                <a:sym typeface="Calibri"/>
              </a:rPr>
              <a:t>. condiciones:</a:t>
            </a:r>
          </a:p>
          <a:p>
            <a:pPr marL="806450" indent="-357188" algn="just">
              <a:spcBef>
                <a:spcPts val="0"/>
              </a:spcBef>
              <a:spcAft>
                <a:spcPts val="0"/>
              </a:spcAft>
              <a:buClr>
                <a:srgbClr val="C00000"/>
              </a:buClr>
              <a:buSzPct val="100000"/>
              <a:buFont typeface="+mj-lt"/>
              <a:buAutoNum type="arabicPeriod"/>
            </a:pPr>
            <a:r>
              <a:rPr lang="es-ES" sz="2200" dirty="0">
                <a:latin typeface="Calibri"/>
                <a:ea typeface="Calibri"/>
                <a:cs typeface="Calibri"/>
                <a:sym typeface="Calibri"/>
              </a:rPr>
              <a:t>Aprobar el 80% de las autoevaluaciones con nota 6 (seis) o superior.</a:t>
            </a:r>
          </a:p>
          <a:p>
            <a:pPr marL="806450" indent="-357188" algn="just">
              <a:spcBef>
                <a:spcPts val="0"/>
              </a:spcBef>
              <a:spcAft>
                <a:spcPts val="0"/>
              </a:spcAft>
              <a:buClr>
                <a:srgbClr val="C00000"/>
              </a:buClr>
              <a:buSzPct val="100000"/>
              <a:buFont typeface="+mj-lt"/>
              <a:buAutoNum type="arabicPeriod"/>
            </a:pPr>
            <a:r>
              <a:rPr lang="es-ES" sz="2200" dirty="0">
                <a:latin typeface="Calibri"/>
                <a:ea typeface="Calibri"/>
                <a:cs typeface="Calibri"/>
                <a:sym typeface="Calibri"/>
              </a:rPr>
              <a:t>Presentarse y aprobar el examen teórico.</a:t>
            </a:r>
          </a:p>
          <a:p>
            <a:pPr marL="806450" indent="-357188" algn="just">
              <a:spcBef>
                <a:spcPts val="0"/>
              </a:spcBef>
              <a:spcAft>
                <a:spcPts val="0"/>
              </a:spcAft>
              <a:buClr>
                <a:srgbClr val="C00000"/>
              </a:buClr>
              <a:buSzPct val="100000"/>
              <a:buFont typeface="+mj-lt"/>
              <a:buAutoNum type="arabicPeriod"/>
            </a:pPr>
            <a:r>
              <a:rPr lang="es-ES" sz="2200" dirty="0">
                <a:latin typeface="Calibri"/>
                <a:ea typeface="Calibri"/>
                <a:cs typeface="Calibri"/>
                <a:sym typeface="Calibri"/>
              </a:rPr>
              <a:t>Aprobar la cursada (con el régimen de cursada).</a:t>
            </a:r>
          </a:p>
          <a:p>
            <a:pPr marL="806450" indent="-357188" algn="just">
              <a:spcBef>
                <a:spcPts val="0"/>
              </a:spcBef>
              <a:spcAft>
                <a:spcPts val="0"/>
              </a:spcAft>
              <a:buClr>
                <a:srgbClr val="C00000"/>
              </a:buClr>
              <a:buSzPct val="100000"/>
              <a:buFont typeface="+mj-lt"/>
              <a:buAutoNum type="arabicPeriod"/>
            </a:pPr>
            <a:r>
              <a:rPr lang="es-ES" sz="2200" dirty="0">
                <a:latin typeface="Calibri"/>
                <a:ea typeface="Calibri"/>
                <a:cs typeface="Calibri"/>
                <a:sym typeface="Calibri"/>
              </a:rPr>
              <a:t>Inscribirse en una mesa de final en el término de NO más de 1 año de finalizada la cursada según el calendario académico. </a:t>
            </a:r>
            <a:r>
              <a:rPr lang="es-ES" sz="2200" i="1" dirty="0">
                <a:latin typeface="Calibri"/>
                <a:ea typeface="Calibri"/>
                <a:cs typeface="Calibri"/>
                <a:sym typeface="Calibri"/>
              </a:rPr>
              <a:t>Transcurrido el año la aprobación NO tendrá más validez.</a:t>
            </a:r>
          </a:p>
          <a:p>
            <a:pPr marL="339316" indent="-339316" algn="just">
              <a:spcBef>
                <a:spcPts val="0"/>
              </a:spcBef>
              <a:spcAft>
                <a:spcPts val="0"/>
              </a:spcAft>
              <a:buClr>
                <a:srgbClr val="C00000"/>
              </a:buClr>
              <a:buSzPct val="100000"/>
              <a:buFont typeface="Noto Sans Symbols"/>
              <a:buChar char="❖"/>
            </a:pPr>
            <a:endParaRPr lang="es-ES" sz="2400" dirty="0">
              <a:solidFill>
                <a:srgbClr val="262626"/>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B5D2BDD4-D1C8-B655-C6C3-EC377A6DC77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1F95162-23C7-B9EA-BC33-A29F7DC82F14}"/>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0936AC08-5AA2-9D56-6358-6B541F6F02C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a:t>
            </a:fld>
            <a:endParaRPr lang="es-ES"/>
          </a:p>
        </p:txBody>
      </p:sp>
    </p:spTree>
    <p:extLst>
      <p:ext uri="{BB962C8B-B14F-4D97-AF65-F5344CB8AC3E}">
        <p14:creationId xmlns:p14="http://schemas.microsoft.com/office/powerpoint/2010/main" val="13198131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4F1EAC04-0313-8356-023E-10D2A501FB04}"/>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A0168CBB-6677-5298-F41A-2B72CF253D08}"/>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Contenidos genéricos del curso</a:t>
            </a:r>
            <a:endParaRPr sz="4400" dirty="0">
              <a:solidFill>
                <a:schemeClr val="dk1"/>
              </a:solidFill>
              <a:latin typeface="Calibri"/>
              <a:ea typeface="Calibri"/>
              <a:cs typeface="Calibri"/>
              <a:sym typeface="Calibri"/>
            </a:endParaRPr>
          </a:p>
        </p:txBody>
      </p:sp>
      <p:sp>
        <p:nvSpPr>
          <p:cNvPr id="149" name="Google Shape;149;g1f30b4104d4_0_0">
            <a:extLst>
              <a:ext uri="{FF2B5EF4-FFF2-40B4-BE49-F238E27FC236}">
                <a16:creationId xmlns:a16="http://schemas.microsoft.com/office/drawing/2014/main" id="{B0B5D569-6F7F-2BFB-7FC8-0C4838280F25}"/>
              </a:ext>
            </a:extLst>
          </p:cNvPr>
          <p:cNvSpPr/>
          <p:nvPr/>
        </p:nvSpPr>
        <p:spPr>
          <a:xfrm>
            <a:off x="1087731" y="2030336"/>
            <a:ext cx="10800844" cy="4478414"/>
          </a:xfrm>
          <a:prstGeom prst="rect">
            <a:avLst/>
          </a:prstGeom>
          <a:noFill/>
          <a:ln>
            <a:noFill/>
          </a:ln>
        </p:spPr>
        <p:txBody>
          <a:bodyPr spcFirstLastPara="1" wrap="square" lIns="90000" tIns="45000" rIns="90000" bIns="45000" anchor="t" anchorCtr="0">
            <a:noAutofit/>
          </a:bodyPr>
          <a:lstStyle/>
          <a:p>
            <a:pPr marL="449263" indent="-449263">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Conceptos de Ingeniería de software. </a:t>
            </a:r>
          </a:p>
          <a:p>
            <a:pPr marL="449263" indent="-449263">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Requerimientos.</a:t>
            </a:r>
          </a:p>
          <a:p>
            <a:pPr marL="449263" indent="-449263">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Modelos de proceso.</a:t>
            </a:r>
          </a:p>
          <a:p>
            <a:pPr marL="449263" indent="-449263">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Calidad de software.</a:t>
            </a:r>
          </a:p>
        </p:txBody>
      </p:sp>
      <p:sp>
        <p:nvSpPr>
          <p:cNvPr id="2" name="Marcador de fecha 1">
            <a:extLst>
              <a:ext uri="{FF2B5EF4-FFF2-40B4-BE49-F238E27FC236}">
                <a16:creationId xmlns:a16="http://schemas.microsoft.com/office/drawing/2014/main" id="{874E4B9A-D4CA-2D24-73D0-AECF3E1C528A}"/>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469C8E8-04E0-0E03-1F7E-C772291D99A2}"/>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23060133-661A-EAD1-30C5-30E739E80F3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7</a:t>
            </a:fld>
            <a:endParaRPr lang="es-ES"/>
          </a:p>
        </p:txBody>
      </p:sp>
    </p:spTree>
    <p:extLst>
      <p:ext uri="{BB962C8B-B14F-4D97-AF65-F5344CB8AC3E}">
        <p14:creationId xmlns:p14="http://schemas.microsoft.com/office/powerpoint/2010/main" val="24573166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C43078C2-4399-22FE-CB86-8DD452FA86B6}"/>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E58A1D4B-93D0-A62D-46C2-C485AEFD4C9A}"/>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Bibliografía de la materia</a:t>
            </a:r>
            <a:endParaRPr sz="4400" dirty="0">
              <a:solidFill>
                <a:schemeClr val="dk1"/>
              </a:solidFill>
              <a:latin typeface="Calibri"/>
              <a:ea typeface="Calibri"/>
              <a:cs typeface="Calibri"/>
              <a:sym typeface="Calibri"/>
            </a:endParaRPr>
          </a:p>
        </p:txBody>
      </p:sp>
      <p:sp>
        <p:nvSpPr>
          <p:cNvPr id="149" name="Google Shape;149;g1f30b4104d4_0_0">
            <a:extLst>
              <a:ext uri="{FF2B5EF4-FFF2-40B4-BE49-F238E27FC236}">
                <a16:creationId xmlns:a16="http://schemas.microsoft.com/office/drawing/2014/main" id="{F7BB60B8-2F79-0158-97F2-3C14BDD1AA86}"/>
              </a:ext>
            </a:extLst>
          </p:cNvPr>
          <p:cNvSpPr/>
          <p:nvPr/>
        </p:nvSpPr>
        <p:spPr>
          <a:xfrm>
            <a:off x="1087731" y="2030336"/>
            <a:ext cx="10800844" cy="4478414"/>
          </a:xfrm>
          <a:prstGeom prst="rect">
            <a:avLst/>
          </a:prstGeom>
          <a:noFill/>
          <a:ln>
            <a:noFill/>
          </a:ln>
        </p:spPr>
        <p:txBody>
          <a:bodyPr spcFirstLastPara="1" wrap="square" lIns="90000" tIns="45000" rIns="90000" bIns="45000" anchor="t" anchorCtr="0">
            <a:noAutofit/>
          </a:bodyPr>
          <a:lstStyle/>
          <a:p>
            <a:pPr marL="457200" indent="-457200">
              <a:spcBef>
                <a:spcPts val="0"/>
              </a:spcBef>
              <a:spcAft>
                <a:spcPts val="0"/>
              </a:spcAft>
              <a:buClr>
                <a:srgbClr val="C00000"/>
              </a:buClr>
              <a:buSzPct val="100000"/>
              <a:buFont typeface="Arial" panose="020B0604020202020204" pitchFamily="34" charset="0"/>
              <a:buChar char="•"/>
            </a:pPr>
            <a:r>
              <a:rPr lang="es-ES" sz="2800" dirty="0">
                <a:latin typeface="Calibri"/>
                <a:ea typeface="Calibri"/>
                <a:cs typeface="Calibri"/>
                <a:sym typeface="Calibri"/>
              </a:rPr>
              <a:t>Pfleeger Shari Lawrence. Software </a:t>
            </a:r>
            <a:r>
              <a:rPr lang="es-ES" sz="2800" dirty="0" err="1">
                <a:latin typeface="Calibri"/>
                <a:ea typeface="Calibri"/>
                <a:cs typeface="Calibri"/>
                <a:sym typeface="Calibri"/>
              </a:rPr>
              <a:t>Engineering</a:t>
            </a:r>
            <a:r>
              <a:rPr lang="es-ES" sz="2800" dirty="0">
                <a:latin typeface="Calibri"/>
                <a:ea typeface="Calibri"/>
                <a:cs typeface="Calibri"/>
                <a:sym typeface="Calibri"/>
              </a:rPr>
              <a:t>. Theory and </a:t>
            </a:r>
            <a:r>
              <a:rPr lang="es-ES" sz="2800" dirty="0" err="1">
                <a:latin typeface="Calibri"/>
                <a:ea typeface="Calibri"/>
                <a:cs typeface="Calibri"/>
                <a:sym typeface="Calibri"/>
              </a:rPr>
              <a:t>practice</a:t>
            </a:r>
            <a:r>
              <a:rPr lang="es-ES" sz="2800" dirty="0">
                <a:latin typeface="Calibri"/>
                <a:ea typeface="Calibri"/>
                <a:cs typeface="Calibri"/>
                <a:sym typeface="Calibri"/>
              </a:rPr>
              <a:t>. Prentice Hall.</a:t>
            </a:r>
          </a:p>
          <a:p>
            <a:pPr marL="457200" indent="-457200">
              <a:spcBef>
                <a:spcPts val="0"/>
              </a:spcBef>
              <a:spcAft>
                <a:spcPts val="0"/>
              </a:spcAft>
              <a:buClr>
                <a:srgbClr val="C00000"/>
              </a:buClr>
              <a:buSzPct val="100000"/>
              <a:buFont typeface="Arial" panose="020B0604020202020204" pitchFamily="34" charset="0"/>
              <a:buChar char="•"/>
            </a:pPr>
            <a:r>
              <a:rPr lang="es-ES" sz="2800" dirty="0">
                <a:latin typeface="Calibri"/>
                <a:ea typeface="Calibri"/>
                <a:cs typeface="Calibri"/>
                <a:sym typeface="Calibri"/>
              </a:rPr>
              <a:t>Sommerville Ian. Software </a:t>
            </a:r>
            <a:r>
              <a:rPr lang="es-ES" sz="2800" dirty="0" err="1">
                <a:latin typeface="Calibri"/>
                <a:ea typeface="Calibri"/>
                <a:cs typeface="Calibri"/>
                <a:sym typeface="Calibri"/>
              </a:rPr>
              <a:t>Engineering</a:t>
            </a:r>
            <a:r>
              <a:rPr lang="es-ES" sz="2800" dirty="0">
                <a:latin typeface="Calibri"/>
                <a:ea typeface="Calibri"/>
                <a:cs typeface="Calibri"/>
                <a:sym typeface="Calibri"/>
              </a:rPr>
              <a:t>. Addison Wesley.</a:t>
            </a:r>
          </a:p>
          <a:p>
            <a:pPr marL="457200" indent="-457200">
              <a:spcBef>
                <a:spcPts val="0"/>
              </a:spcBef>
              <a:spcAft>
                <a:spcPts val="0"/>
              </a:spcAft>
              <a:buClr>
                <a:srgbClr val="C00000"/>
              </a:buClr>
              <a:buSzPct val="100000"/>
              <a:buFont typeface="Arial" panose="020B0604020202020204" pitchFamily="34" charset="0"/>
              <a:buChar char="•"/>
            </a:pPr>
            <a:r>
              <a:rPr lang="es-ES" sz="2800" dirty="0">
                <a:latin typeface="Calibri"/>
                <a:ea typeface="Calibri"/>
                <a:cs typeface="Calibri"/>
                <a:sym typeface="Calibri"/>
              </a:rPr>
              <a:t>Pressman Roger. Ingeniería de Software. Un enfoque práctico. Mc Graw Hill.</a:t>
            </a:r>
          </a:p>
        </p:txBody>
      </p:sp>
      <p:sp>
        <p:nvSpPr>
          <p:cNvPr id="2" name="Marcador de fecha 1">
            <a:extLst>
              <a:ext uri="{FF2B5EF4-FFF2-40B4-BE49-F238E27FC236}">
                <a16:creationId xmlns:a16="http://schemas.microsoft.com/office/drawing/2014/main" id="{05F421AD-3304-594A-1772-24330FDC258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8830DBF-5FCE-ABA6-D90E-92E77720B9DE}"/>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6AAF38CB-57AA-EB4E-0A81-590B9C5B35D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8</a:t>
            </a:fld>
            <a:endParaRPr lang="es-ES"/>
          </a:p>
        </p:txBody>
      </p:sp>
    </p:spTree>
    <p:extLst>
      <p:ext uri="{BB962C8B-B14F-4D97-AF65-F5344CB8AC3E}">
        <p14:creationId xmlns:p14="http://schemas.microsoft.com/office/powerpoint/2010/main" val="3367388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8000"/>
              <a:buFont typeface="Calibri"/>
              <a:buNone/>
            </a:pPr>
            <a:r>
              <a:rPr lang="es-ES" dirty="0"/>
              <a:t>Conceptos de Ingeniería de Software</a:t>
            </a:r>
            <a:endParaRPr dirty="0"/>
          </a:p>
        </p:txBody>
      </p:sp>
      <p:sp>
        <p:nvSpPr>
          <p:cNvPr id="5" name="Marcador de texto 4">
            <a:extLst>
              <a:ext uri="{FF2B5EF4-FFF2-40B4-BE49-F238E27FC236}">
                <a16:creationId xmlns:a16="http://schemas.microsoft.com/office/drawing/2014/main" id="{F657F8F0-6FA6-08C5-98BB-1DD04BE3018B}"/>
              </a:ext>
            </a:extLst>
          </p:cNvPr>
          <p:cNvSpPr>
            <a:spLocks noGrp="1"/>
          </p:cNvSpPr>
          <p:nvPr>
            <p:ph type="body" sz="half" idx="2"/>
          </p:nvPr>
        </p:nvSpPr>
        <p:spPr/>
        <p:txBody>
          <a:bodyPr/>
          <a:lstStyle/>
          <a:p>
            <a:endParaRPr lang="es-ES" dirty="0"/>
          </a:p>
        </p:txBody>
      </p:sp>
      <p:sp>
        <p:nvSpPr>
          <p:cNvPr id="2" name="Marcador de fecha 1">
            <a:extLst>
              <a:ext uri="{FF2B5EF4-FFF2-40B4-BE49-F238E27FC236}">
                <a16:creationId xmlns:a16="http://schemas.microsoft.com/office/drawing/2014/main" id="{507AE788-41E5-F354-5A9B-3FBB5D220C2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3562F9E-6623-2FF9-9EF8-914E986833F0}"/>
              </a:ext>
            </a:extLst>
          </p:cNvPr>
          <p:cNvSpPr>
            <a:spLocks noGrp="1"/>
          </p:cNvSpPr>
          <p:nvPr>
            <p:ph type="ftr" sz="quarter" idx="11"/>
          </p:nvPr>
        </p:nvSpPr>
        <p:spPr/>
        <p:txBody>
          <a:bodyPr/>
          <a:lstStyle/>
          <a:p>
            <a:r>
              <a:rPr lang="es-ES"/>
              <a:t>INGENIERÍA DE SOFTWARE I</a:t>
            </a:r>
          </a:p>
        </p:txBody>
      </p:sp>
      <p:sp>
        <p:nvSpPr>
          <p:cNvPr id="349" name="Google Shape;349;p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ES"/>
              <a:t>9</a:t>
            </a:fld>
            <a:endParaRPr/>
          </a:p>
        </p:txBody>
      </p:sp>
      <p:pic>
        <p:nvPicPr>
          <p:cNvPr id="350" name="Google Shape;350;p2"/>
          <p:cNvPicPr preferRelativeResize="0"/>
          <p:nvPr/>
        </p:nvPicPr>
        <p:blipFill rotWithShape="1">
          <a:blip r:embed="rId3">
            <a:alphaModFix/>
          </a:blip>
          <a:srcRect/>
          <a:stretch/>
        </p:blipFill>
        <p:spPr>
          <a:xfrm>
            <a:off x="10873134" y="182888"/>
            <a:ext cx="1152127" cy="1152127"/>
          </a:xfrm>
          <a:prstGeom prst="rect">
            <a:avLst/>
          </a:prstGeom>
          <a:noFill/>
          <a:ln>
            <a:noFill/>
          </a:ln>
        </p:spPr>
      </p:pic>
      <p:sp>
        <p:nvSpPr>
          <p:cNvPr id="17" name="Google Shape;357;p3">
            <a:extLst>
              <a:ext uri="{FF2B5EF4-FFF2-40B4-BE49-F238E27FC236}">
                <a16:creationId xmlns:a16="http://schemas.microsoft.com/office/drawing/2014/main" id="{C4793E28-3473-F133-6184-01E2FFEED4BC}"/>
              </a:ext>
            </a:extLst>
          </p:cNvPr>
          <p:cNvSpPr txBox="1">
            <a:spLocks/>
          </p:cNvSpPr>
          <p:nvPr/>
        </p:nvSpPr>
        <p:spPr bwMode="auto">
          <a:xfrm>
            <a:off x="4578676" y="4445078"/>
            <a:ext cx="3083859" cy="590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spcFirstLastPara="1" vert="horz" wrap="square" lIns="0" tIns="45700" rIns="0" bIns="45700" numCol="1" anchor="t" anchorCtr="0" compatLnSpc="1">
            <a:prstTxWarp prst="textNoShape">
              <a:avLst/>
            </a:prstTxWarp>
            <a:normAutofit/>
          </a:bodyPr>
          <a:lstStyle>
            <a:lvl1pPr marL="90488" indent="-90488" algn="l" rtl="0" eaLnBrk="1" fontAlgn="base"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1" fontAlgn="base" hangingPunct="1">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defTabSz="914400">
              <a:lnSpc>
                <a:spcPct val="100000"/>
              </a:lnSpc>
              <a:spcBef>
                <a:spcPts val="0"/>
              </a:spcBef>
              <a:spcAft>
                <a:spcPts val="0"/>
              </a:spcAft>
              <a:buClr>
                <a:srgbClr val="000000"/>
              </a:buClr>
              <a:buSzPts val="2000"/>
              <a:buFont typeface="Calibri" panose="020F0502020204030204" pitchFamily="34" charset="0"/>
              <a:buNone/>
            </a:pPr>
            <a:r>
              <a:rPr lang="es-ES" sz="1800" b="1" dirty="0">
                <a:solidFill>
                  <a:schemeClr val="dk1"/>
                </a:solidFill>
              </a:rPr>
              <a:t>Y su documentación asociada</a:t>
            </a:r>
          </a:p>
        </p:txBody>
      </p:sp>
      <p:grpSp>
        <p:nvGrpSpPr>
          <p:cNvPr id="18" name="Google Shape;360;p3">
            <a:extLst>
              <a:ext uri="{FF2B5EF4-FFF2-40B4-BE49-F238E27FC236}">
                <a16:creationId xmlns:a16="http://schemas.microsoft.com/office/drawing/2014/main" id="{4E665208-4D99-4620-1F07-4EE55E8FB9AF}"/>
              </a:ext>
            </a:extLst>
          </p:cNvPr>
          <p:cNvGrpSpPr/>
          <p:nvPr/>
        </p:nvGrpSpPr>
        <p:grpSpPr>
          <a:xfrm>
            <a:off x="7991391" y="2123687"/>
            <a:ext cx="4033870" cy="2182338"/>
            <a:chOff x="6048598" y="1988840"/>
            <a:chExt cx="3866779" cy="2215840"/>
          </a:xfrm>
        </p:grpSpPr>
        <p:pic>
          <p:nvPicPr>
            <p:cNvPr id="19" name="Google Shape;361;p3" descr="Se inicia exención de renta por siete años para empresas de la Economía  Naranja - Periódico La Campana - Periódico La Campana">
              <a:extLst>
                <a:ext uri="{FF2B5EF4-FFF2-40B4-BE49-F238E27FC236}">
                  <a16:creationId xmlns:a16="http://schemas.microsoft.com/office/drawing/2014/main" id="{3B0137FF-6C01-CFCB-043E-EAA72D7F0B8E}"/>
                </a:ext>
              </a:extLst>
            </p:cNvPr>
            <p:cNvPicPr preferRelativeResize="0"/>
            <p:nvPr/>
          </p:nvPicPr>
          <p:blipFill rotWithShape="1">
            <a:blip r:embed="rId4">
              <a:alphaModFix/>
            </a:blip>
            <a:srcRect l="7141" t="3839" r="6150" b="6219"/>
            <a:stretch/>
          </p:blipFill>
          <p:spPr>
            <a:xfrm>
              <a:off x="6048598" y="1988840"/>
              <a:ext cx="3797752" cy="2215840"/>
            </a:xfrm>
            <a:prstGeom prst="rect">
              <a:avLst/>
            </a:prstGeom>
            <a:noFill/>
            <a:ln>
              <a:noFill/>
            </a:ln>
          </p:spPr>
        </p:pic>
        <p:sp>
          <p:nvSpPr>
            <p:cNvPr id="20" name="Google Shape;362;p3">
              <a:extLst>
                <a:ext uri="{FF2B5EF4-FFF2-40B4-BE49-F238E27FC236}">
                  <a16:creationId xmlns:a16="http://schemas.microsoft.com/office/drawing/2014/main" id="{D280DE8D-55AB-6ED6-AF76-83CC9371D881}"/>
                </a:ext>
              </a:extLst>
            </p:cNvPr>
            <p:cNvSpPr/>
            <p:nvPr/>
          </p:nvSpPr>
          <p:spPr>
            <a:xfrm>
              <a:off x="6297912" y="3741274"/>
              <a:ext cx="361746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EEF6FF"/>
                </a:buClr>
                <a:buSzPts val="2000"/>
                <a:buFont typeface="Calibri"/>
                <a:buNone/>
              </a:pPr>
              <a:r>
                <a:rPr lang="es-ES" sz="2000" b="1" i="0" u="none" strike="noStrike" cap="none" dirty="0">
                  <a:solidFill>
                    <a:srgbClr val="EEF6FF"/>
                  </a:solidFill>
                  <a:latin typeface="Calibri"/>
                  <a:ea typeface="Calibri"/>
                  <a:cs typeface="Calibri"/>
                  <a:sym typeface="Calibri"/>
                </a:rPr>
                <a:t>Vehículo  de entrega de producto.</a:t>
              </a:r>
              <a:endParaRPr sz="1400" b="0" i="0" u="none" strike="noStrike" cap="none" dirty="0">
                <a:solidFill>
                  <a:srgbClr val="000000"/>
                </a:solidFill>
                <a:latin typeface="Arial"/>
                <a:ea typeface="Arial"/>
                <a:cs typeface="Arial"/>
                <a:sym typeface="Arial"/>
              </a:endParaRPr>
            </a:p>
          </p:txBody>
        </p:sp>
      </p:grpSp>
      <p:sp>
        <p:nvSpPr>
          <p:cNvPr id="21" name="Google Shape;363;p3">
            <a:extLst>
              <a:ext uri="{FF2B5EF4-FFF2-40B4-BE49-F238E27FC236}">
                <a16:creationId xmlns:a16="http://schemas.microsoft.com/office/drawing/2014/main" id="{73D25DFC-E861-269E-69DA-ED52EECB71C5}"/>
              </a:ext>
            </a:extLst>
          </p:cNvPr>
          <p:cNvSpPr txBox="1"/>
          <p:nvPr/>
        </p:nvSpPr>
        <p:spPr>
          <a:xfrm>
            <a:off x="8207343" y="2064009"/>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22" name="Google Shape;364;p3">
            <a:extLst>
              <a:ext uri="{FF2B5EF4-FFF2-40B4-BE49-F238E27FC236}">
                <a16:creationId xmlns:a16="http://schemas.microsoft.com/office/drawing/2014/main" id="{25506312-A4D2-92C5-BA48-778015581E6B}"/>
              </a:ext>
            </a:extLst>
          </p:cNvPr>
          <p:cNvGrpSpPr/>
          <p:nvPr/>
        </p:nvGrpSpPr>
        <p:grpSpPr>
          <a:xfrm>
            <a:off x="4509758" y="1847462"/>
            <a:ext cx="2643701" cy="2522771"/>
            <a:chOff x="991778" y="1807941"/>
            <a:chExt cx="3073539" cy="2755900"/>
          </a:xfrm>
        </p:grpSpPr>
        <p:pic>
          <p:nvPicPr>
            <p:cNvPr id="23" name="Google Shape;365;p3" descr="Software – Inergica, Soluciones Tecnológicas">
              <a:extLst>
                <a:ext uri="{FF2B5EF4-FFF2-40B4-BE49-F238E27FC236}">
                  <a16:creationId xmlns:a16="http://schemas.microsoft.com/office/drawing/2014/main" id="{6BE9B90C-44FF-2070-D6DA-9AFCC5B91A11}"/>
                </a:ext>
              </a:extLst>
            </p:cNvPr>
            <p:cNvPicPr preferRelativeResize="0"/>
            <p:nvPr/>
          </p:nvPicPr>
          <p:blipFill rotWithShape="1">
            <a:blip r:embed="rId5">
              <a:alphaModFix/>
            </a:blip>
            <a:srcRect/>
            <a:stretch/>
          </p:blipFill>
          <p:spPr>
            <a:xfrm>
              <a:off x="991778" y="1807941"/>
              <a:ext cx="3073539" cy="2755900"/>
            </a:xfrm>
            <a:prstGeom prst="rect">
              <a:avLst/>
            </a:prstGeom>
            <a:noFill/>
            <a:ln>
              <a:noFill/>
            </a:ln>
          </p:spPr>
        </p:pic>
        <p:sp>
          <p:nvSpPr>
            <p:cNvPr id="24" name="Google Shape;366;p3">
              <a:extLst>
                <a:ext uri="{FF2B5EF4-FFF2-40B4-BE49-F238E27FC236}">
                  <a16:creationId xmlns:a16="http://schemas.microsoft.com/office/drawing/2014/main" id="{AAA8FEE0-C71A-98B1-F2A5-5E843E7389DC}"/>
                </a:ext>
              </a:extLst>
            </p:cNvPr>
            <p:cNvSpPr/>
            <p:nvPr/>
          </p:nvSpPr>
          <p:spPr>
            <a:xfrm>
              <a:off x="1901544" y="3985990"/>
              <a:ext cx="1243548" cy="4034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1" i="0" u="none" strike="noStrike" cap="none" dirty="0">
                  <a:solidFill>
                    <a:schemeClr val="dk1"/>
                  </a:solidFill>
                  <a:latin typeface="Calibri"/>
                  <a:ea typeface="Calibri"/>
                  <a:cs typeface="Calibri"/>
                  <a:sym typeface="Calibri"/>
                </a:rPr>
                <a:t>Producto</a:t>
              </a:r>
              <a:endParaRPr sz="1800" b="0" i="0" u="none" strike="noStrike" cap="none" dirty="0">
                <a:solidFill>
                  <a:schemeClr val="dk1"/>
                </a:solidFill>
                <a:latin typeface="Calibri"/>
                <a:ea typeface="Calibri"/>
                <a:cs typeface="Calibri"/>
                <a:sym typeface="Calibri"/>
              </a:endParaRPr>
            </a:p>
          </p:txBody>
        </p:sp>
      </p:grpSp>
      <p:sp>
        <p:nvSpPr>
          <p:cNvPr id="25" name="Google Shape;367;p3">
            <a:extLst>
              <a:ext uri="{FF2B5EF4-FFF2-40B4-BE49-F238E27FC236}">
                <a16:creationId xmlns:a16="http://schemas.microsoft.com/office/drawing/2014/main" id="{DCDEF13A-206D-0643-FBDB-555DBC116005}"/>
              </a:ext>
            </a:extLst>
          </p:cNvPr>
          <p:cNvSpPr txBox="1"/>
          <p:nvPr/>
        </p:nvSpPr>
        <p:spPr>
          <a:xfrm>
            <a:off x="8299708" y="4435401"/>
            <a:ext cx="3744416"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ES" sz="1800" b="1" i="0" u="none" strike="noStrike" cap="none" dirty="0">
                <a:solidFill>
                  <a:schemeClr val="dk1"/>
                </a:solidFill>
                <a:latin typeface="Calibri"/>
                <a:ea typeface="Calibri"/>
                <a:cs typeface="Calibri"/>
                <a:sym typeface="Calibri"/>
              </a:rPr>
              <a:t>- Base para control de cómputos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ES" sz="1800" b="1" i="0" u="none" strike="noStrike" cap="none" dirty="0">
                <a:solidFill>
                  <a:schemeClr val="dk1"/>
                </a:solidFill>
                <a:latin typeface="Calibri"/>
                <a:ea typeface="Calibri"/>
                <a:cs typeface="Calibri"/>
                <a:sym typeface="Calibri"/>
              </a:rPr>
              <a:t>- Sistemas Operativos</a:t>
            </a:r>
          </a:p>
          <a:p>
            <a:pPr marL="0" marR="0" lvl="0" indent="0" algn="l" rtl="0">
              <a:lnSpc>
                <a:spcPct val="100000"/>
              </a:lnSpc>
              <a:spcBef>
                <a:spcPts val="0"/>
              </a:spcBef>
              <a:spcAft>
                <a:spcPts val="0"/>
              </a:spcAft>
              <a:buClr>
                <a:srgbClr val="000000"/>
              </a:buClr>
              <a:buSzPts val="1800"/>
              <a:buFont typeface="Arial"/>
              <a:buNone/>
            </a:pPr>
            <a:r>
              <a:rPr lang="es-ES" sz="1800" b="1" i="0" u="none" strike="noStrike" cap="none" dirty="0">
                <a:solidFill>
                  <a:schemeClr val="dk1"/>
                </a:solidFill>
                <a:latin typeface="Calibri"/>
                <a:ea typeface="Calibri"/>
                <a:cs typeface="Calibri"/>
                <a:sym typeface="Calibri"/>
              </a:rPr>
              <a:t>- Comunicación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ES" b="1" dirty="0">
                <a:solidFill>
                  <a:schemeClr val="dk1"/>
                </a:solidFill>
                <a:latin typeface="Calibri"/>
                <a:ea typeface="Calibri"/>
                <a:cs typeface="Calibri"/>
                <a:sym typeface="Calibri"/>
              </a:rPr>
              <a:t>- </a:t>
            </a:r>
            <a:r>
              <a:rPr lang="es-ES" sz="1800" b="1" i="0" u="none" strike="noStrike" cap="none" dirty="0">
                <a:solidFill>
                  <a:schemeClr val="dk1"/>
                </a:solidFill>
                <a:latin typeface="Calibri"/>
                <a:ea typeface="Calibri"/>
                <a:cs typeface="Calibri"/>
                <a:sym typeface="Calibri"/>
              </a:rPr>
              <a:t>Creación y control de otros </a:t>
            </a:r>
            <a:r>
              <a:rPr lang="es-ES" sz="1800" b="1" i="0" u="none" strike="noStrike" cap="none" dirty="0" err="1">
                <a:solidFill>
                  <a:schemeClr val="dk1"/>
                </a:solidFill>
                <a:latin typeface="Calibri"/>
                <a:ea typeface="Calibri"/>
                <a:cs typeface="Calibri"/>
                <a:sym typeface="Calibri"/>
              </a:rPr>
              <a:t>prog</a:t>
            </a:r>
            <a:r>
              <a:rPr lang="es-ES" sz="1800" b="1" i="0" u="none" strike="noStrike" cap="none" dirty="0">
                <a:solidFill>
                  <a:schemeClr val="dk1"/>
                </a:solidFill>
                <a:latin typeface="Calibri"/>
                <a:ea typeface="Calibri"/>
                <a:cs typeface="Calibri"/>
                <a:sym typeface="Calibri"/>
              </a:rPr>
              <a:t> </a:t>
            </a:r>
            <a:endParaRPr sz="1800" b="1" i="0" u="none" strike="noStrike" cap="none" dirty="0">
              <a:solidFill>
                <a:schemeClr val="dk1"/>
              </a:solidFill>
              <a:latin typeface="Calibri"/>
              <a:ea typeface="Calibri"/>
              <a:cs typeface="Calibri"/>
              <a:sym typeface="Calibri"/>
            </a:endParaRPr>
          </a:p>
        </p:txBody>
      </p:sp>
      <p:grpSp>
        <p:nvGrpSpPr>
          <p:cNvPr id="26" name="Google Shape;368;p3">
            <a:extLst>
              <a:ext uri="{FF2B5EF4-FFF2-40B4-BE49-F238E27FC236}">
                <a16:creationId xmlns:a16="http://schemas.microsoft.com/office/drawing/2014/main" id="{3A712E6E-E00E-1B87-F7EE-2013CFA935A6}"/>
              </a:ext>
            </a:extLst>
          </p:cNvPr>
          <p:cNvGrpSpPr/>
          <p:nvPr/>
        </p:nvGrpSpPr>
        <p:grpSpPr>
          <a:xfrm>
            <a:off x="5599411" y="2185885"/>
            <a:ext cx="4702967" cy="2849660"/>
            <a:chOff x="4121488" y="1780839"/>
            <a:chExt cx="4932449" cy="2959939"/>
          </a:xfrm>
        </p:grpSpPr>
        <p:pic>
          <p:nvPicPr>
            <p:cNvPr id="27" name="Google Shape;369;p3" descr="Revolución de la Información - EcuRed">
              <a:extLst>
                <a:ext uri="{FF2B5EF4-FFF2-40B4-BE49-F238E27FC236}">
                  <a16:creationId xmlns:a16="http://schemas.microsoft.com/office/drawing/2014/main" id="{2013BDEC-497C-4696-1347-318A4D1335D1}"/>
                </a:ext>
              </a:extLst>
            </p:cNvPr>
            <p:cNvPicPr preferRelativeResize="0"/>
            <p:nvPr/>
          </p:nvPicPr>
          <p:blipFill rotWithShape="1">
            <a:blip r:embed="rId6">
              <a:alphaModFix/>
            </a:blip>
            <a:srcRect/>
            <a:stretch/>
          </p:blipFill>
          <p:spPr>
            <a:xfrm>
              <a:off x="4121488" y="1780839"/>
              <a:ext cx="4894687" cy="2959939"/>
            </a:xfrm>
            <a:prstGeom prst="rect">
              <a:avLst/>
            </a:prstGeom>
            <a:noFill/>
            <a:ln>
              <a:noFill/>
            </a:ln>
          </p:spPr>
        </p:pic>
        <p:sp>
          <p:nvSpPr>
            <p:cNvPr id="28" name="Google Shape;370;p3">
              <a:extLst>
                <a:ext uri="{FF2B5EF4-FFF2-40B4-BE49-F238E27FC236}">
                  <a16:creationId xmlns:a16="http://schemas.microsoft.com/office/drawing/2014/main" id="{79590617-30DA-8FC5-D9A8-D5675F1F5E7E}"/>
                </a:ext>
              </a:extLst>
            </p:cNvPr>
            <p:cNvSpPr/>
            <p:nvPr/>
          </p:nvSpPr>
          <p:spPr>
            <a:xfrm>
              <a:off x="4558336" y="2955887"/>
              <a:ext cx="4495601" cy="7352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1" i="0" u="none" strike="noStrike" cap="none" dirty="0">
                  <a:solidFill>
                    <a:schemeClr val="dk1"/>
                  </a:solidFill>
                  <a:latin typeface="Calibri"/>
                  <a:ea typeface="Calibri"/>
                  <a:cs typeface="Calibri"/>
                  <a:sym typeface="Calibri"/>
                </a:rPr>
                <a:t>Transformador de Información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s-ES" sz="2000" b="1" i="0" u="none" strike="noStrike" cap="none" dirty="0">
                  <a:solidFill>
                    <a:schemeClr val="dk1"/>
                  </a:solidFill>
                  <a:latin typeface="Calibri"/>
                  <a:ea typeface="Calibri"/>
                  <a:cs typeface="Calibri"/>
                  <a:sym typeface="Calibri"/>
                </a:rPr>
                <a:t>Factor predominante </a:t>
              </a:r>
              <a:endParaRPr sz="2000" b="1" i="0" u="none" strike="noStrike" cap="none" dirty="0">
                <a:solidFill>
                  <a:schemeClr val="dk1"/>
                </a:solidFill>
                <a:latin typeface="Calibri"/>
                <a:ea typeface="Calibri"/>
                <a:cs typeface="Calibri"/>
                <a:sym typeface="Calibri"/>
              </a:endParaRPr>
            </a:p>
          </p:txBody>
        </p:sp>
      </p:grpSp>
      <p:sp>
        <p:nvSpPr>
          <p:cNvPr id="29" name="CuadroTexto 28">
            <a:extLst>
              <a:ext uri="{FF2B5EF4-FFF2-40B4-BE49-F238E27FC236}">
                <a16:creationId xmlns:a16="http://schemas.microsoft.com/office/drawing/2014/main" id="{F957B040-8735-F543-0EA0-6587251EF5E4}"/>
              </a:ext>
            </a:extLst>
          </p:cNvPr>
          <p:cNvSpPr txBox="1"/>
          <p:nvPr/>
        </p:nvSpPr>
        <p:spPr>
          <a:xfrm>
            <a:off x="4613124" y="988864"/>
            <a:ext cx="4632037" cy="584775"/>
          </a:xfrm>
          <a:prstGeom prst="rect">
            <a:avLst/>
          </a:prstGeom>
          <a:noFill/>
        </p:spPr>
        <p:txBody>
          <a:bodyPr wrap="none" rtlCol="0">
            <a:spAutoFit/>
          </a:bodyPr>
          <a:lstStyle/>
          <a:p>
            <a:pPr marL="457200" indent="-457200">
              <a:buClr>
                <a:srgbClr val="C00000"/>
              </a:buClr>
              <a:buFont typeface="Wingdings" panose="05000000000000000000" pitchFamily="2" charset="2"/>
              <a:buChar char="v"/>
            </a:pPr>
            <a:r>
              <a:rPr lang="es-ES" sz="3200" dirty="0"/>
              <a:t>Naturaleza del Software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4"/>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400"/>
              <a:buFont typeface="Calibri"/>
              <a:buNone/>
            </a:pPr>
            <a:r>
              <a:rPr lang="es-ES" sz="4400" dirty="0"/>
              <a:t>Software - Definición</a:t>
            </a:r>
            <a:endParaRPr sz="4400" dirty="0"/>
          </a:p>
        </p:txBody>
      </p:sp>
      <p:sp>
        <p:nvSpPr>
          <p:cNvPr id="376" name="Google Shape;376;p4"/>
          <p:cNvSpPr txBox="1">
            <a:spLocks noGrp="1"/>
          </p:cNvSpPr>
          <p:nvPr>
            <p:ph idx="1"/>
          </p:nvPr>
        </p:nvSpPr>
        <p:spPr>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SzPts val="3200"/>
              <a:buNone/>
            </a:pPr>
            <a:endParaRPr dirty="0"/>
          </a:p>
        </p:txBody>
      </p:sp>
      <p:sp>
        <p:nvSpPr>
          <p:cNvPr id="377" name="Google Shape;377;p4"/>
          <p:cNvSpPr txBox="1">
            <a:spLocks noGrp="1"/>
          </p:cNvSpPr>
          <p:nvPr>
            <p:ph type="sldNum" sz="quarter" idx="12"/>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000"/>
              <a:buNone/>
            </a:pPr>
            <a:fld id="{00000000-1234-1234-1234-123412341234}" type="slidenum">
              <a:rPr lang="es-ES"/>
              <a:t>10</a:t>
            </a:fld>
            <a:endParaRPr/>
          </a:p>
        </p:txBody>
      </p:sp>
      <p:sp>
        <p:nvSpPr>
          <p:cNvPr id="378" name="Google Shape;378;p4"/>
          <p:cNvSpPr txBox="1"/>
          <p:nvPr/>
        </p:nvSpPr>
        <p:spPr>
          <a:xfrm>
            <a:off x="4972993" y="18288"/>
            <a:ext cx="4131409" cy="32918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s-ES" sz="1200" b="0" i="0" u="none" strike="noStrike" cap="none">
                <a:solidFill>
                  <a:srgbClr val="FFFFFF"/>
                </a:solidFill>
                <a:latin typeface="Calibri"/>
                <a:ea typeface="Calibri"/>
                <a:cs typeface="Calibri"/>
                <a:sym typeface="Calibri"/>
              </a:rPr>
              <a:t>Ingeniería de Software I  2013</a:t>
            </a:r>
            <a:endParaRPr sz="1200" b="0" i="0" u="none" strike="noStrike" cap="none">
              <a:solidFill>
                <a:srgbClr val="FFFFFF"/>
              </a:solidFill>
              <a:latin typeface="Calibri"/>
              <a:ea typeface="Calibri"/>
              <a:cs typeface="Calibri"/>
              <a:sym typeface="Calibri"/>
            </a:endParaRPr>
          </a:p>
        </p:txBody>
      </p:sp>
      <p:sp>
        <p:nvSpPr>
          <p:cNvPr id="379" name="Google Shape;379;p4"/>
          <p:cNvSpPr/>
          <p:nvPr/>
        </p:nvSpPr>
        <p:spPr>
          <a:xfrm>
            <a:off x="6212648" y="5468920"/>
            <a:ext cx="5783507"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2000" b="0" i="0" u="none" strike="noStrike" cap="none" dirty="0" err="1">
                <a:latin typeface="Calibri"/>
                <a:ea typeface="Calibri"/>
                <a:cs typeface="Calibri"/>
                <a:sym typeface="Calibri"/>
              </a:rPr>
              <a:t>lEEE</a:t>
            </a:r>
            <a:r>
              <a:rPr lang="es-ES" sz="2000" b="0" i="0" u="none" strike="noStrike" cap="none" dirty="0">
                <a:latin typeface="Calibri"/>
                <a:ea typeface="Calibri"/>
                <a:cs typeface="Calibri"/>
                <a:sym typeface="Calibri"/>
              </a:rPr>
              <a:t>: Instituto de Ingeniería Eléctrica y Electrónica </a:t>
            </a:r>
            <a:endParaRPr sz="2000" b="0" i="0" u="none" strike="noStrike" cap="none" dirty="0">
              <a:latin typeface="Calibri"/>
              <a:ea typeface="Calibri"/>
              <a:cs typeface="Calibri"/>
              <a:sym typeface="Calibri"/>
            </a:endParaRPr>
          </a:p>
        </p:txBody>
      </p:sp>
      <p:sp>
        <p:nvSpPr>
          <p:cNvPr id="380" name="Google Shape;380;p4"/>
          <p:cNvSpPr/>
          <p:nvPr/>
        </p:nvSpPr>
        <p:spPr>
          <a:xfrm>
            <a:off x="1584102" y="2449651"/>
            <a:ext cx="9073008" cy="1944216"/>
          </a:xfrm>
          <a:prstGeom prst="rect">
            <a:avLst/>
          </a:prstGeom>
          <a:solidFill>
            <a:srgbClr val="BEA387"/>
          </a:solidFill>
          <a:ln>
            <a:noFill/>
          </a:ln>
          <a:effectLst>
            <a:outerShdw blurRad="149987" dist="250190" dir="8460000" algn="ctr">
              <a:srgbClr val="000000">
                <a:alpha val="25490"/>
              </a:srgbClr>
            </a:outerShdw>
          </a:effectLst>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00000"/>
              </a:buClr>
              <a:buSzPts val="2800"/>
              <a:buFont typeface="Arial"/>
              <a:buNone/>
            </a:pPr>
            <a:r>
              <a:rPr lang="es-ES" sz="2800" b="0" i="0" u="none" strike="noStrike" cap="none" dirty="0">
                <a:solidFill>
                  <a:schemeClr val="dk1"/>
                </a:solidFill>
                <a:latin typeface="Calibri"/>
                <a:ea typeface="Calibri"/>
                <a:cs typeface="Calibri"/>
                <a:sym typeface="Calibri"/>
              </a:rPr>
              <a:t>Instrucciones (programas de cómputo), procedimientos, reglas, documentación y datos asociados que forman parte de las operaciones de un sistema de computación.  (IEEE)</a:t>
            </a:r>
            <a:endParaRPr sz="1400" b="0" i="0" u="none" strike="noStrike" cap="none" dirty="0">
              <a:solidFill>
                <a:srgbClr val="000000"/>
              </a:solidFill>
              <a:latin typeface="Arial"/>
              <a:ea typeface="Arial"/>
              <a:cs typeface="Arial"/>
              <a:sym typeface="Arial"/>
            </a:endParaRPr>
          </a:p>
        </p:txBody>
      </p:sp>
      <p:sp>
        <p:nvSpPr>
          <p:cNvPr id="2" name="Marcador de fecha 1">
            <a:extLst>
              <a:ext uri="{FF2B5EF4-FFF2-40B4-BE49-F238E27FC236}">
                <a16:creationId xmlns:a16="http://schemas.microsoft.com/office/drawing/2014/main" id="{EBD8BC95-3F57-4EF6-07A6-CF34B126BCC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F12C35B-B77C-31E7-2F1D-DF5F84D65C88}"/>
              </a:ext>
            </a:extLst>
          </p:cNvPr>
          <p:cNvSpPr>
            <a:spLocks noGrp="1"/>
          </p:cNvSpPr>
          <p:nvPr>
            <p:ph type="ftr" sz="quarter" idx="11"/>
          </p:nvPr>
        </p:nvSpPr>
        <p:spPr/>
        <p:txBody>
          <a:bodyPr/>
          <a:lstStyle/>
          <a:p>
            <a:r>
              <a:rPr lang="es-ES"/>
              <a:t>INGENIERÍA DE SOFTWARE 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BC234061-6571-EEBA-B641-F3C014265B8A}"/>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81F338CA-E003-FAC4-75D2-AF56359A8027}"/>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Software - Características</a:t>
            </a:r>
            <a:endParaRPr sz="4400" dirty="0">
              <a:solidFill>
                <a:schemeClr val="dk1"/>
              </a:solidFill>
              <a:latin typeface="Calibri"/>
              <a:ea typeface="Calibri"/>
              <a:cs typeface="Calibri"/>
              <a:sym typeface="Calibri"/>
            </a:endParaRPr>
          </a:p>
        </p:txBody>
      </p:sp>
      <p:sp>
        <p:nvSpPr>
          <p:cNvPr id="149" name="Google Shape;149;g1f30b4104d4_0_0">
            <a:extLst>
              <a:ext uri="{FF2B5EF4-FFF2-40B4-BE49-F238E27FC236}">
                <a16:creationId xmlns:a16="http://schemas.microsoft.com/office/drawing/2014/main" id="{E0831BA0-F8A6-A61E-3D5E-F8F6B789E574}"/>
              </a:ext>
            </a:extLst>
          </p:cNvPr>
          <p:cNvSpPr/>
          <p:nvPr/>
        </p:nvSpPr>
        <p:spPr>
          <a:xfrm>
            <a:off x="1087731" y="2030336"/>
            <a:ext cx="10800844" cy="4478414"/>
          </a:xfrm>
          <a:prstGeom prst="rect">
            <a:avLst/>
          </a:prstGeom>
          <a:noFill/>
          <a:ln>
            <a:noFill/>
          </a:ln>
        </p:spPr>
        <p:txBody>
          <a:bodyPr spcFirstLastPara="1" wrap="square" lIns="90000" tIns="45000" rIns="90000" bIns="45000" anchor="t" anchorCtr="0">
            <a:noAutofit/>
          </a:bodyPr>
          <a:lstStyle/>
          <a:p>
            <a:pPr marL="449263" indent="-449263">
              <a:lnSpc>
                <a:spcPct val="150000"/>
              </a:lnSpc>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Elemento lógico</a:t>
            </a:r>
          </a:p>
          <a:p>
            <a:pPr marL="449263" indent="-449263">
              <a:lnSpc>
                <a:spcPct val="150000"/>
              </a:lnSpc>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Se desarrolla, no se fabrica</a:t>
            </a:r>
          </a:p>
          <a:p>
            <a:pPr marL="449263" indent="-449263">
              <a:lnSpc>
                <a:spcPct val="150000"/>
              </a:lnSpc>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No se desgasta</a:t>
            </a:r>
          </a:p>
        </p:txBody>
      </p:sp>
      <p:sp>
        <p:nvSpPr>
          <p:cNvPr id="2" name="Marcador de fecha 1">
            <a:extLst>
              <a:ext uri="{FF2B5EF4-FFF2-40B4-BE49-F238E27FC236}">
                <a16:creationId xmlns:a16="http://schemas.microsoft.com/office/drawing/2014/main" id="{004AD029-B16D-18F8-C79C-7F15C95E622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4ECFDFC-6196-AFB3-858C-DD8FAFB1727A}"/>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D18788AA-DCBE-C65B-3B4E-087822F3D5A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11</a:t>
            </a:fld>
            <a:endParaRPr lang="es-ES"/>
          </a:p>
        </p:txBody>
      </p:sp>
      <p:pic>
        <p:nvPicPr>
          <p:cNvPr id="6" name="Google Shape;397;p5" descr="Aquí tienes más de 500 cursos de programación gratis que puedes comenzar en  marzo">
            <a:extLst>
              <a:ext uri="{FF2B5EF4-FFF2-40B4-BE49-F238E27FC236}">
                <a16:creationId xmlns:a16="http://schemas.microsoft.com/office/drawing/2014/main" id="{D3E1E81E-BC70-0628-A395-BF6F5266FCBC}"/>
              </a:ext>
            </a:extLst>
          </p:cNvPr>
          <p:cNvPicPr preferRelativeResize="0"/>
          <p:nvPr/>
        </p:nvPicPr>
        <p:blipFill rotWithShape="1">
          <a:blip r:embed="rId3">
            <a:alphaModFix/>
          </a:blip>
          <a:srcRect/>
          <a:stretch/>
        </p:blipFill>
        <p:spPr>
          <a:xfrm>
            <a:off x="6488153" y="2030336"/>
            <a:ext cx="4553402" cy="3045720"/>
          </a:xfrm>
          <a:prstGeom prst="rect">
            <a:avLst/>
          </a:prstGeom>
          <a:noFill/>
          <a:ln>
            <a:noFill/>
          </a:ln>
        </p:spPr>
      </p:pic>
    </p:spTree>
    <p:extLst>
      <p:ext uri="{BB962C8B-B14F-4D97-AF65-F5344CB8AC3E}">
        <p14:creationId xmlns:p14="http://schemas.microsoft.com/office/powerpoint/2010/main" val="31796583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4E716CC5-20BF-C49A-CE76-8686F308C6A4}"/>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2558AE01-508D-1CE7-E7AB-A85DB8119071}"/>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Software - Características</a:t>
            </a:r>
            <a:endParaRPr sz="4400" dirty="0">
              <a:solidFill>
                <a:schemeClr val="dk1"/>
              </a:solidFill>
              <a:latin typeface="Calibri"/>
              <a:ea typeface="Calibri"/>
              <a:cs typeface="Calibri"/>
              <a:sym typeface="Calibri"/>
            </a:endParaRPr>
          </a:p>
        </p:txBody>
      </p:sp>
      <p:sp>
        <p:nvSpPr>
          <p:cNvPr id="149" name="Google Shape;149;g1f30b4104d4_0_0">
            <a:extLst>
              <a:ext uri="{FF2B5EF4-FFF2-40B4-BE49-F238E27FC236}">
                <a16:creationId xmlns:a16="http://schemas.microsoft.com/office/drawing/2014/main" id="{53D40EFF-4EF2-8937-27F1-583BAB73C7BD}"/>
              </a:ext>
            </a:extLst>
          </p:cNvPr>
          <p:cNvSpPr/>
          <p:nvPr/>
        </p:nvSpPr>
        <p:spPr>
          <a:xfrm>
            <a:off x="1091253" y="1766807"/>
            <a:ext cx="10800844" cy="4478414"/>
          </a:xfrm>
          <a:prstGeom prst="rect">
            <a:avLst/>
          </a:prstGeom>
          <a:noFill/>
          <a:ln>
            <a:noFill/>
          </a:ln>
        </p:spPr>
        <p:txBody>
          <a:bodyPr spcFirstLastPara="1" wrap="square" lIns="90000" tIns="45000" rIns="90000" bIns="45000" anchor="t" anchorCtr="0">
            <a:noAutofit/>
          </a:bodyPr>
          <a:lstStyle/>
          <a:p>
            <a:pPr marL="449263" indent="-449263">
              <a:lnSpc>
                <a:spcPct val="150000"/>
              </a:lnSpc>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No sigue una curva clásica de envejecimiento</a:t>
            </a:r>
          </a:p>
        </p:txBody>
      </p:sp>
      <p:sp>
        <p:nvSpPr>
          <p:cNvPr id="2" name="Marcador de fecha 1">
            <a:extLst>
              <a:ext uri="{FF2B5EF4-FFF2-40B4-BE49-F238E27FC236}">
                <a16:creationId xmlns:a16="http://schemas.microsoft.com/office/drawing/2014/main" id="{0035C4BA-78AE-7AFC-2EC0-4C563682CD1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62843C0A-D206-0420-533A-438629173B89}"/>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F0307311-EE6A-E902-A614-FC191B3C00B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12</a:t>
            </a:fld>
            <a:endParaRPr lang="es-ES"/>
          </a:p>
        </p:txBody>
      </p:sp>
      <p:sp>
        <p:nvSpPr>
          <p:cNvPr id="7" name="Google Shape;405;p6">
            <a:extLst>
              <a:ext uri="{FF2B5EF4-FFF2-40B4-BE49-F238E27FC236}">
                <a16:creationId xmlns:a16="http://schemas.microsoft.com/office/drawing/2014/main" id="{954BB19C-69A0-6536-A84B-15C2844546AB}"/>
              </a:ext>
            </a:extLst>
          </p:cNvPr>
          <p:cNvSpPr txBox="1"/>
          <p:nvPr/>
        </p:nvSpPr>
        <p:spPr>
          <a:xfrm>
            <a:off x="1787978" y="5651586"/>
            <a:ext cx="326938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i="0" u="none" strike="noStrike" cap="none" dirty="0">
                <a:solidFill>
                  <a:srgbClr val="2A393D"/>
                </a:solidFill>
                <a:latin typeface="Calibri"/>
                <a:ea typeface="Calibri"/>
                <a:cs typeface="Calibri"/>
                <a:sym typeface="Calibri"/>
              </a:rPr>
              <a:t>Envejecimiento del hardware</a:t>
            </a:r>
            <a:endParaRPr sz="1400" i="0" u="none" strike="noStrike" cap="none" dirty="0">
              <a:solidFill>
                <a:srgbClr val="000000"/>
              </a:solidFill>
              <a:latin typeface="Arial"/>
              <a:ea typeface="Arial"/>
              <a:cs typeface="Arial"/>
              <a:sym typeface="Arial"/>
            </a:endParaRPr>
          </a:p>
        </p:txBody>
      </p:sp>
      <p:pic>
        <p:nvPicPr>
          <p:cNvPr id="9" name="Google Shape;407;p6">
            <a:extLst>
              <a:ext uri="{FF2B5EF4-FFF2-40B4-BE49-F238E27FC236}">
                <a16:creationId xmlns:a16="http://schemas.microsoft.com/office/drawing/2014/main" id="{390C8793-4958-94D0-7ECB-9CAD9517B02D}"/>
              </a:ext>
            </a:extLst>
          </p:cNvPr>
          <p:cNvPicPr preferRelativeResize="0"/>
          <p:nvPr/>
        </p:nvPicPr>
        <p:blipFill rotWithShape="1">
          <a:blip r:embed="rId3">
            <a:alphaModFix/>
          </a:blip>
          <a:srcRect r="2780"/>
          <a:stretch/>
        </p:blipFill>
        <p:spPr>
          <a:xfrm>
            <a:off x="1228791" y="2559147"/>
            <a:ext cx="4387760" cy="3092439"/>
          </a:xfrm>
          <a:prstGeom prst="rect">
            <a:avLst/>
          </a:prstGeom>
          <a:noFill/>
          <a:ln>
            <a:noFill/>
          </a:ln>
        </p:spPr>
      </p:pic>
      <p:pic>
        <p:nvPicPr>
          <p:cNvPr id="11" name="Google Shape;408;p6">
            <a:extLst>
              <a:ext uri="{FF2B5EF4-FFF2-40B4-BE49-F238E27FC236}">
                <a16:creationId xmlns:a16="http://schemas.microsoft.com/office/drawing/2014/main" id="{B899B996-9DA0-360D-50D1-FBAC720E40F1}"/>
              </a:ext>
            </a:extLst>
          </p:cNvPr>
          <p:cNvPicPr preferRelativeResize="0"/>
          <p:nvPr/>
        </p:nvPicPr>
        <p:blipFill rotWithShape="1">
          <a:blip r:embed="rId4">
            <a:alphaModFix/>
          </a:blip>
          <a:srcRect/>
          <a:stretch/>
        </p:blipFill>
        <p:spPr>
          <a:xfrm>
            <a:off x="6504486" y="2559147"/>
            <a:ext cx="4261841" cy="3092439"/>
          </a:xfrm>
          <a:prstGeom prst="rect">
            <a:avLst/>
          </a:prstGeom>
          <a:noFill/>
          <a:ln>
            <a:noFill/>
          </a:ln>
        </p:spPr>
      </p:pic>
      <p:sp>
        <p:nvSpPr>
          <p:cNvPr id="13" name="Google Shape;409;p6">
            <a:extLst>
              <a:ext uri="{FF2B5EF4-FFF2-40B4-BE49-F238E27FC236}">
                <a16:creationId xmlns:a16="http://schemas.microsoft.com/office/drawing/2014/main" id="{7F65E255-965C-187A-99F1-BE033E5DD088}"/>
              </a:ext>
            </a:extLst>
          </p:cNvPr>
          <p:cNvSpPr txBox="1"/>
          <p:nvPr/>
        </p:nvSpPr>
        <p:spPr>
          <a:xfrm>
            <a:off x="7299948" y="5651586"/>
            <a:ext cx="3153287"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i="0" u="none" strike="noStrike" cap="none" dirty="0">
                <a:solidFill>
                  <a:srgbClr val="2A393D"/>
                </a:solidFill>
                <a:latin typeface="Calibri"/>
                <a:ea typeface="Calibri"/>
                <a:cs typeface="Calibri"/>
                <a:sym typeface="Calibri"/>
              </a:rPr>
              <a:t>Envejecimiento del software</a:t>
            </a:r>
            <a:endParaRPr sz="1400" i="0" u="none" strike="noStrike" cap="none" dirty="0">
              <a:solidFill>
                <a:srgbClr val="000000"/>
              </a:solidFill>
              <a:latin typeface="Arial"/>
              <a:ea typeface="Arial"/>
              <a:cs typeface="Arial"/>
              <a:sym typeface="Arial"/>
            </a:endParaRPr>
          </a:p>
        </p:txBody>
      </p:sp>
      <p:sp>
        <p:nvSpPr>
          <p:cNvPr id="14" name="Google Shape;410;p6">
            <a:extLst>
              <a:ext uri="{FF2B5EF4-FFF2-40B4-BE49-F238E27FC236}">
                <a16:creationId xmlns:a16="http://schemas.microsoft.com/office/drawing/2014/main" id="{AF9BB2D9-6E8F-4B53-9D07-A7B418F6ED60}"/>
              </a:ext>
            </a:extLst>
          </p:cNvPr>
          <p:cNvSpPr/>
          <p:nvPr/>
        </p:nvSpPr>
        <p:spPr>
          <a:xfrm>
            <a:off x="3044373" y="4332120"/>
            <a:ext cx="6152465" cy="919356"/>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400" i="0" u="none" strike="noStrike" cap="none" dirty="0">
                <a:solidFill>
                  <a:schemeClr val="dk1"/>
                </a:solidFill>
                <a:latin typeface="+mn-lt"/>
                <a:ea typeface="Calibri"/>
                <a:cs typeface="Calibri"/>
                <a:sym typeface="Calibri"/>
              </a:rPr>
              <a:t>El problema no está en el tiempo de operación, sino en los cambios. </a:t>
            </a:r>
            <a:endParaRPr sz="2000" b="1"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732126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D9804981-F22D-4E26-FBDD-AE8E881AEB14}"/>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3AA596AB-04C8-9D9D-871D-10F04ED1229A}"/>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Tipos de producto de Software</a:t>
            </a:r>
            <a:endParaRPr sz="4400" dirty="0">
              <a:solidFill>
                <a:schemeClr val="dk1"/>
              </a:solidFill>
              <a:latin typeface="Calibri"/>
              <a:ea typeface="Calibri"/>
              <a:cs typeface="Calibri"/>
              <a:sym typeface="Calibri"/>
            </a:endParaRPr>
          </a:p>
        </p:txBody>
      </p:sp>
      <p:sp>
        <p:nvSpPr>
          <p:cNvPr id="149" name="Google Shape;149;g1f30b4104d4_0_0">
            <a:extLst>
              <a:ext uri="{FF2B5EF4-FFF2-40B4-BE49-F238E27FC236}">
                <a16:creationId xmlns:a16="http://schemas.microsoft.com/office/drawing/2014/main" id="{277B6A85-8568-74D0-6286-6960A0379BA1}"/>
              </a:ext>
            </a:extLst>
          </p:cNvPr>
          <p:cNvSpPr/>
          <p:nvPr/>
        </p:nvSpPr>
        <p:spPr>
          <a:xfrm>
            <a:off x="1087731" y="2030336"/>
            <a:ext cx="10800844" cy="4478414"/>
          </a:xfrm>
          <a:prstGeom prst="rect">
            <a:avLst/>
          </a:prstGeom>
          <a:noFill/>
          <a:ln>
            <a:noFill/>
          </a:ln>
        </p:spPr>
        <p:txBody>
          <a:bodyPr spcFirstLastPara="1" wrap="square" lIns="90000" tIns="45000" rIns="90000" bIns="45000" anchor="t" anchorCtr="0">
            <a:noAutofit/>
          </a:bodyPr>
          <a:lstStyle/>
          <a:p>
            <a:pPr marL="449263" indent="-449263">
              <a:spcBef>
                <a:spcPts val="0"/>
              </a:spcBef>
              <a:spcAft>
                <a:spcPts val="0"/>
              </a:spcAft>
              <a:buClr>
                <a:srgbClr val="C00000"/>
              </a:buClr>
              <a:buSzPct val="100000"/>
              <a:buFont typeface="Noto Sans Symbols"/>
              <a:buChar char="❖"/>
            </a:pPr>
            <a:r>
              <a:rPr lang="es-ES" sz="2800" u="sng" dirty="0">
                <a:latin typeface="Calibri"/>
                <a:ea typeface="Calibri"/>
                <a:cs typeface="Calibri"/>
                <a:sym typeface="Calibri"/>
              </a:rPr>
              <a:t>Genéricos</a:t>
            </a:r>
            <a:r>
              <a:rPr lang="es-ES" sz="2800" dirty="0">
                <a:latin typeface="Calibri"/>
                <a:ea typeface="Calibri"/>
                <a:cs typeface="Calibri"/>
                <a:sym typeface="Calibri"/>
              </a:rPr>
              <a:t>: Sistemas aislados producidos por organizaciones desarrolladoras de software y que se venden en un mercado abierto.</a:t>
            </a:r>
          </a:p>
          <a:p>
            <a:pPr marL="449263" indent="-449263">
              <a:spcBef>
                <a:spcPts val="0"/>
              </a:spcBef>
              <a:spcAft>
                <a:spcPts val="0"/>
              </a:spcAft>
              <a:buClr>
                <a:srgbClr val="C00000"/>
              </a:buClr>
              <a:buSzPct val="100000"/>
              <a:buFont typeface="Noto Sans Symbols"/>
              <a:buChar char="❖"/>
            </a:pPr>
            <a:r>
              <a:rPr lang="es-ES" sz="2800" u="sng" dirty="0">
                <a:solidFill>
                  <a:schemeClr val="dk1"/>
                </a:solidFill>
              </a:rPr>
              <a:t>Personalizados</a:t>
            </a:r>
            <a:r>
              <a:rPr lang="es-ES" sz="2800" dirty="0">
                <a:solidFill>
                  <a:schemeClr val="dk1"/>
                </a:solidFill>
              </a:rPr>
              <a:t>:</a:t>
            </a:r>
            <a:r>
              <a:rPr lang="es-ES" sz="3200" dirty="0"/>
              <a:t> </a:t>
            </a:r>
            <a:r>
              <a:rPr lang="es-ES" sz="2800" dirty="0">
                <a:solidFill>
                  <a:schemeClr val="dk1"/>
                </a:solidFill>
              </a:rPr>
              <a:t>Sistemas requeridos por un cliente en particular.</a:t>
            </a:r>
          </a:p>
          <a:p>
            <a:pPr marL="449263" indent="-449263">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p:txBody>
      </p:sp>
      <p:sp>
        <p:nvSpPr>
          <p:cNvPr id="2" name="Marcador de fecha 1">
            <a:extLst>
              <a:ext uri="{FF2B5EF4-FFF2-40B4-BE49-F238E27FC236}">
                <a16:creationId xmlns:a16="http://schemas.microsoft.com/office/drawing/2014/main" id="{DCFF0A78-5446-149C-F0A4-8B0CBBF49CF0}"/>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0FBA9AC-EDD9-0E77-A6E8-20B22A5BC8F8}"/>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4A9E0FA9-D5A3-2A11-FE9A-B15D9C94121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13</a:t>
            </a:fld>
            <a:endParaRPr lang="es-ES"/>
          </a:p>
        </p:txBody>
      </p:sp>
      <p:pic>
        <p:nvPicPr>
          <p:cNvPr id="7" name="Google Shape;420;p7">
            <a:extLst>
              <a:ext uri="{FF2B5EF4-FFF2-40B4-BE49-F238E27FC236}">
                <a16:creationId xmlns:a16="http://schemas.microsoft.com/office/drawing/2014/main" id="{8F42DB49-A408-4F9F-12EC-ECB59814DC44}"/>
              </a:ext>
            </a:extLst>
          </p:cNvPr>
          <p:cNvPicPr preferRelativeResize="0"/>
          <p:nvPr/>
        </p:nvPicPr>
        <p:blipFill rotWithShape="1">
          <a:blip r:embed="rId3">
            <a:alphaModFix/>
          </a:blip>
          <a:srcRect/>
          <a:stretch/>
        </p:blipFill>
        <p:spPr>
          <a:xfrm>
            <a:off x="7046387" y="3611833"/>
            <a:ext cx="4211386" cy="2584177"/>
          </a:xfrm>
          <a:prstGeom prst="rect">
            <a:avLst/>
          </a:prstGeom>
          <a:noFill/>
          <a:ln>
            <a:noFill/>
          </a:ln>
        </p:spPr>
      </p:pic>
      <p:sp>
        <p:nvSpPr>
          <p:cNvPr id="8" name="Google Shape;410;p6">
            <a:extLst>
              <a:ext uri="{FF2B5EF4-FFF2-40B4-BE49-F238E27FC236}">
                <a16:creationId xmlns:a16="http://schemas.microsoft.com/office/drawing/2014/main" id="{C38183D4-2D8D-415B-3009-0F2FC4B41A04}"/>
              </a:ext>
            </a:extLst>
          </p:cNvPr>
          <p:cNvSpPr/>
          <p:nvPr/>
        </p:nvSpPr>
        <p:spPr>
          <a:xfrm>
            <a:off x="3044373" y="2611768"/>
            <a:ext cx="5498974" cy="1736601"/>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lvl="0" algn="just">
              <a:spcBef>
                <a:spcPts val="0"/>
              </a:spcBef>
              <a:spcAft>
                <a:spcPts val="0"/>
              </a:spcAft>
              <a:buClr>
                <a:srgbClr val="000000"/>
              </a:buClr>
              <a:buSzPts val="2000"/>
            </a:pPr>
            <a:r>
              <a:rPr lang="es-ES" sz="2400" dirty="0">
                <a:ea typeface="Calibri"/>
                <a:cs typeface="Calibri"/>
                <a:sym typeface="Calibri"/>
              </a:rPr>
              <a:t>Cada vez más sistemas son construidos por un producto genérico como base que luego es adaptado a los requerimientos del cliente.</a:t>
            </a:r>
          </a:p>
        </p:txBody>
      </p:sp>
    </p:spTree>
    <p:extLst>
      <p:ext uri="{BB962C8B-B14F-4D97-AF65-F5344CB8AC3E}">
        <p14:creationId xmlns:p14="http://schemas.microsoft.com/office/powerpoint/2010/main" val="36035974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C33461D-6184-A28A-2E89-D450879B7008}"/>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96699938-45FB-FDC0-2D99-6875C2AC58AA}"/>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Tipos de producto de SW – Software Libre</a:t>
            </a:r>
            <a:endParaRPr sz="4400" dirty="0">
              <a:solidFill>
                <a:schemeClr val="dk1"/>
              </a:solidFill>
              <a:latin typeface="Calibri"/>
              <a:ea typeface="Calibri"/>
              <a:cs typeface="Calibri"/>
              <a:sym typeface="Calibri"/>
            </a:endParaRPr>
          </a:p>
        </p:txBody>
      </p:sp>
      <p:sp>
        <p:nvSpPr>
          <p:cNvPr id="149" name="Google Shape;149;g1f30b4104d4_0_0">
            <a:extLst>
              <a:ext uri="{FF2B5EF4-FFF2-40B4-BE49-F238E27FC236}">
                <a16:creationId xmlns:a16="http://schemas.microsoft.com/office/drawing/2014/main" id="{0F3F5B3F-2DE6-7C20-2E34-482C6FC7CF7E}"/>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El término Software Libre (o programas libres) se refiere a libertad, tal como fue concebido por Richard Stallman en su definición. </a:t>
            </a:r>
          </a:p>
          <a:p>
            <a:pPr algn="just">
              <a:spcBef>
                <a:spcPts val="0"/>
              </a:spcBef>
              <a:spcAft>
                <a:spcPts val="0"/>
              </a:spcAft>
              <a:buClr>
                <a:srgbClr val="C00000"/>
              </a:buClr>
              <a:buSzPct val="100000"/>
            </a:pPr>
            <a:endParaRPr lang="es-ES" sz="24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En concreto se refiere a cuatro libertades: </a:t>
            </a:r>
          </a:p>
          <a:p>
            <a:pPr marL="620713" indent="-357188" algn="just">
              <a:spcBef>
                <a:spcPts val="0"/>
              </a:spcBef>
              <a:spcAft>
                <a:spcPts val="0"/>
              </a:spcAft>
              <a:buClr>
                <a:srgbClr val="C00000"/>
              </a:buClr>
              <a:buSzPct val="100000"/>
              <a:buFont typeface="+mj-lt"/>
              <a:buAutoNum type="arabicPeriod"/>
            </a:pPr>
            <a:r>
              <a:rPr lang="es-ES" sz="2200" dirty="0">
                <a:latin typeface="Calibri"/>
                <a:ea typeface="Calibri"/>
                <a:cs typeface="Calibri"/>
                <a:sym typeface="Calibri"/>
              </a:rPr>
              <a:t>Libertad para ejecutar el programa en cualquier sitio, con cualquier propósito y para siempre. </a:t>
            </a:r>
          </a:p>
          <a:p>
            <a:pPr marL="620713" indent="-357188" algn="just">
              <a:spcBef>
                <a:spcPts val="0"/>
              </a:spcBef>
              <a:spcAft>
                <a:spcPts val="0"/>
              </a:spcAft>
              <a:buClr>
                <a:srgbClr val="C00000"/>
              </a:buClr>
              <a:buSzPct val="100000"/>
              <a:buFont typeface="+mj-lt"/>
              <a:buAutoNum type="arabicPeriod"/>
            </a:pPr>
            <a:r>
              <a:rPr lang="es-ES" sz="2200" dirty="0">
                <a:latin typeface="Calibri"/>
                <a:ea typeface="Calibri"/>
                <a:cs typeface="Calibri"/>
                <a:sym typeface="Calibri"/>
              </a:rPr>
              <a:t>Libertad para estudiarlo y adaptarlo a nuestras necesidades. Esto exige el acceso al código fuente. </a:t>
            </a:r>
          </a:p>
          <a:p>
            <a:pPr marL="620713" indent="-357188" algn="just">
              <a:spcBef>
                <a:spcPts val="0"/>
              </a:spcBef>
              <a:spcAft>
                <a:spcPts val="0"/>
              </a:spcAft>
              <a:buClr>
                <a:srgbClr val="C00000"/>
              </a:buClr>
              <a:buSzPct val="100000"/>
              <a:buFont typeface="+mj-lt"/>
              <a:buAutoNum type="arabicPeriod"/>
            </a:pPr>
            <a:r>
              <a:rPr lang="es-ES" sz="2200" dirty="0">
                <a:latin typeface="Calibri"/>
                <a:ea typeface="Calibri"/>
                <a:cs typeface="Calibri"/>
                <a:sym typeface="Calibri"/>
              </a:rPr>
              <a:t>Libertad de redistribución, de modo que se nos permita colaborar con vecinos y amigos. </a:t>
            </a:r>
          </a:p>
          <a:p>
            <a:pPr marL="620713" indent="-357188" algn="just">
              <a:spcBef>
                <a:spcPts val="0"/>
              </a:spcBef>
              <a:spcAft>
                <a:spcPts val="0"/>
              </a:spcAft>
              <a:buClr>
                <a:srgbClr val="C00000"/>
              </a:buClr>
              <a:buSzPct val="100000"/>
              <a:buFont typeface="+mj-lt"/>
              <a:buAutoNum type="arabicPeriod"/>
            </a:pPr>
            <a:r>
              <a:rPr lang="es-ES" sz="2200" dirty="0">
                <a:latin typeface="Calibri"/>
                <a:ea typeface="Calibri"/>
                <a:cs typeface="Calibri"/>
                <a:sym typeface="Calibri"/>
              </a:rPr>
              <a:t>Libertad para mejorar el programa y publicar las mejoras. También exige el código fuente.</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p:txBody>
      </p:sp>
      <p:sp>
        <p:nvSpPr>
          <p:cNvPr id="2" name="Marcador de fecha 1">
            <a:extLst>
              <a:ext uri="{FF2B5EF4-FFF2-40B4-BE49-F238E27FC236}">
                <a16:creationId xmlns:a16="http://schemas.microsoft.com/office/drawing/2014/main" id="{6D8AE002-393D-176E-8367-B5E14450BE1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92E47A7-3B84-DACE-A213-8F3FBAE30BFC}"/>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46A1E9EA-F85A-E8C0-A471-28F9645DF3A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14</a:t>
            </a:fld>
            <a:endParaRPr lang="es-ES"/>
          </a:p>
        </p:txBody>
      </p:sp>
      <p:pic>
        <p:nvPicPr>
          <p:cNvPr id="5" name="Google Shape;432;p48">
            <a:extLst>
              <a:ext uri="{FF2B5EF4-FFF2-40B4-BE49-F238E27FC236}">
                <a16:creationId xmlns:a16="http://schemas.microsoft.com/office/drawing/2014/main" id="{2EB05AB3-B33E-7411-0600-5EE2280B6EEC}"/>
              </a:ext>
            </a:extLst>
          </p:cNvPr>
          <p:cNvPicPr preferRelativeResize="0"/>
          <p:nvPr/>
        </p:nvPicPr>
        <p:blipFill rotWithShape="1">
          <a:blip r:embed="rId3">
            <a:alphaModFix/>
          </a:blip>
          <a:srcRect/>
          <a:stretch/>
        </p:blipFill>
        <p:spPr>
          <a:xfrm>
            <a:off x="6645592" y="2642111"/>
            <a:ext cx="4612181" cy="3205653"/>
          </a:xfrm>
          <a:prstGeom prst="rect">
            <a:avLst/>
          </a:prstGeom>
          <a:noFill/>
          <a:ln>
            <a:noFill/>
          </a:ln>
        </p:spPr>
      </p:pic>
    </p:spTree>
    <p:extLst>
      <p:ext uri="{BB962C8B-B14F-4D97-AF65-F5344CB8AC3E}">
        <p14:creationId xmlns:p14="http://schemas.microsoft.com/office/powerpoint/2010/main" val="22754585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5449E2DE-4CCD-40D1-F2AF-9F5061352E97}"/>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D927248F-C38E-8012-28D0-4F3BAC9C1361}"/>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Clasificación del Software</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BCA1A5D8-6CB6-674D-39DE-BFF79568B66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19C222C-1389-ECE9-6ACC-A79122E41BB4}"/>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667C5687-DDFD-1CFE-EE0C-6B1E69EBD04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15</a:t>
            </a:fld>
            <a:endParaRPr lang="es-ES"/>
          </a:p>
        </p:txBody>
      </p:sp>
      <p:grpSp>
        <p:nvGrpSpPr>
          <p:cNvPr id="140" name="Grupo 139">
            <a:extLst>
              <a:ext uri="{FF2B5EF4-FFF2-40B4-BE49-F238E27FC236}">
                <a16:creationId xmlns:a16="http://schemas.microsoft.com/office/drawing/2014/main" id="{564C49C2-BE29-8183-23D3-CE584E67DFF6}"/>
              </a:ext>
            </a:extLst>
          </p:cNvPr>
          <p:cNvGrpSpPr/>
          <p:nvPr/>
        </p:nvGrpSpPr>
        <p:grpSpPr>
          <a:xfrm>
            <a:off x="2568086" y="1970429"/>
            <a:ext cx="5945344" cy="540000"/>
            <a:chOff x="2568086" y="1970429"/>
            <a:chExt cx="5945344" cy="540000"/>
          </a:xfrm>
        </p:grpSpPr>
        <p:sp>
          <p:nvSpPr>
            <p:cNvPr id="7" name="Google Shape;441;p8">
              <a:extLst>
                <a:ext uri="{FF2B5EF4-FFF2-40B4-BE49-F238E27FC236}">
                  <a16:creationId xmlns:a16="http://schemas.microsoft.com/office/drawing/2014/main" id="{B3120862-76B9-3EE3-403F-A6FBA4677F0C}"/>
                </a:ext>
              </a:extLst>
            </p:cNvPr>
            <p:cNvSpPr/>
            <p:nvPr/>
          </p:nvSpPr>
          <p:spPr>
            <a:xfrm>
              <a:off x="2753430" y="1970429"/>
              <a:ext cx="5760000" cy="540000"/>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273750" tIns="68575" rIns="128000" bIns="68575"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s-ES" sz="2000" b="1" i="1" u="none" strike="noStrike" cap="none">
                  <a:solidFill>
                    <a:schemeClr val="dk1"/>
                  </a:solidFill>
                  <a:latin typeface="Calibri"/>
                  <a:ea typeface="Calibri"/>
                  <a:cs typeface="Calibri"/>
                  <a:sym typeface="Calibri"/>
                </a:rPr>
                <a:t>De sistemas </a:t>
              </a:r>
              <a:endParaRPr sz="2000" b="1" i="0" u="none" strike="noStrike" cap="none">
                <a:solidFill>
                  <a:schemeClr val="dk1"/>
                </a:solidFill>
                <a:latin typeface="Calibri"/>
                <a:ea typeface="Calibri"/>
                <a:cs typeface="Calibri"/>
                <a:sym typeface="Calibri"/>
              </a:endParaRPr>
            </a:p>
          </p:txBody>
        </p:sp>
        <p:sp>
          <p:nvSpPr>
            <p:cNvPr id="9" name="Google Shape;443;p8">
              <a:extLst>
                <a:ext uri="{FF2B5EF4-FFF2-40B4-BE49-F238E27FC236}">
                  <a16:creationId xmlns:a16="http://schemas.microsoft.com/office/drawing/2014/main" id="{6435CF01-ADB0-91EA-BEF5-1395A0379705}"/>
                </a:ext>
              </a:extLst>
            </p:cNvPr>
            <p:cNvSpPr/>
            <p:nvPr/>
          </p:nvSpPr>
          <p:spPr>
            <a:xfrm flipH="1">
              <a:off x="2568086" y="1970429"/>
              <a:ext cx="540000" cy="540000"/>
            </a:xfrm>
            <a:prstGeom prst="ellipse">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lvl="0" algn="ctr">
                <a:spcBef>
                  <a:spcPts val="0"/>
                </a:spcBef>
                <a:spcAft>
                  <a:spcPts val="0"/>
                </a:spcAft>
                <a:buClr>
                  <a:srgbClr val="000000"/>
                </a:buClr>
                <a:buSzPts val="2800"/>
              </a:pPr>
              <a:r>
                <a:rPr lang="es-ES" sz="2400" b="1" dirty="0">
                  <a:solidFill>
                    <a:srgbClr val="576063"/>
                  </a:solidFill>
                  <a:ea typeface="Calibri"/>
                  <a:cs typeface="Calibri"/>
                  <a:sym typeface="Calibri"/>
                </a:rPr>
                <a:t>ⱱ</a:t>
              </a:r>
              <a:endParaRPr lang="es-ES" b="1" dirty="0">
                <a:solidFill>
                  <a:srgbClr val="576063"/>
                </a:solidFill>
                <a:ea typeface="Calibri"/>
                <a:cs typeface="Calibri"/>
                <a:sym typeface="Calibri"/>
              </a:endParaRPr>
            </a:p>
          </p:txBody>
        </p:sp>
      </p:grpSp>
      <p:grpSp>
        <p:nvGrpSpPr>
          <p:cNvPr id="141" name="Grupo 140">
            <a:extLst>
              <a:ext uri="{FF2B5EF4-FFF2-40B4-BE49-F238E27FC236}">
                <a16:creationId xmlns:a16="http://schemas.microsoft.com/office/drawing/2014/main" id="{7B39C641-82C0-358A-4C1B-D76272C0A507}"/>
              </a:ext>
            </a:extLst>
          </p:cNvPr>
          <p:cNvGrpSpPr/>
          <p:nvPr/>
        </p:nvGrpSpPr>
        <p:grpSpPr>
          <a:xfrm>
            <a:off x="2887255" y="2579928"/>
            <a:ext cx="5994288" cy="545161"/>
            <a:chOff x="2887255" y="2579928"/>
            <a:chExt cx="5994288" cy="545161"/>
          </a:xfrm>
        </p:grpSpPr>
        <p:sp>
          <p:nvSpPr>
            <p:cNvPr id="12" name="Google Shape;446;p8">
              <a:extLst>
                <a:ext uri="{FF2B5EF4-FFF2-40B4-BE49-F238E27FC236}">
                  <a16:creationId xmlns:a16="http://schemas.microsoft.com/office/drawing/2014/main" id="{A8728306-3C91-A4E6-0848-BC486470AE2C}"/>
                </a:ext>
              </a:extLst>
            </p:cNvPr>
            <p:cNvSpPr/>
            <p:nvPr/>
          </p:nvSpPr>
          <p:spPr>
            <a:xfrm>
              <a:off x="3121543" y="2579928"/>
              <a:ext cx="5760000" cy="540000"/>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273750" tIns="68575" rIns="128000" bIns="68575"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s-ES" sz="2000" b="1" i="1" u="none" strike="noStrike" cap="none">
                  <a:solidFill>
                    <a:schemeClr val="dk1"/>
                  </a:solidFill>
                  <a:latin typeface="Calibri"/>
                  <a:ea typeface="Calibri"/>
                  <a:cs typeface="Calibri"/>
                  <a:sym typeface="Calibri"/>
                </a:rPr>
                <a:t>De aplicación </a:t>
              </a:r>
              <a:endParaRPr sz="2000" b="1" i="0" u="none" strike="noStrike" cap="none">
                <a:solidFill>
                  <a:schemeClr val="dk1"/>
                </a:solidFill>
                <a:latin typeface="Calibri"/>
                <a:ea typeface="Calibri"/>
                <a:cs typeface="Calibri"/>
                <a:sym typeface="Calibri"/>
              </a:endParaRPr>
            </a:p>
          </p:txBody>
        </p:sp>
        <p:sp>
          <p:nvSpPr>
            <p:cNvPr id="14" name="Google Shape;448;p8">
              <a:extLst>
                <a:ext uri="{FF2B5EF4-FFF2-40B4-BE49-F238E27FC236}">
                  <a16:creationId xmlns:a16="http://schemas.microsoft.com/office/drawing/2014/main" id="{0F6ED387-3DF7-69C8-3001-410DDB4EA8CA}"/>
                </a:ext>
              </a:extLst>
            </p:cNvPr>
            <p:cNvSpPr/>
            <p:nvPr/>
          </p:nvSpPr>
          <p:spPr>
            <a:xfrm flipH="1">
              <a:off x="2887255" y="2585089"/>
              <a:ext cx="540000" cy="540000"/>
            </a:xfrm>
            <a:prstGeom prst="ellipse">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lvl="0" algn="ctr">
                <a:spcBef>
                  <a:spcPts val="0"/>
                </a:spcBef>
                <a:spcAft>
                  <a:spcPts val="0"/>
                </a:spcAft>
                <a:buClr>
                  <a:srgbClr val="000000"/>
                </a:buClr>
                <a:buSzPts val="2800"/>
              </a:pPr>
              <a:r>
                <a:rPr lang="es-ES" sz="2400" b="1" dirty="0">
                  <a:solidFill>
                    <a:srgbClr val="576063"/>
                  </a:solidFill>
                  <a:ea typeface="Calibri"/>
                  <a:cs typeface="Calibri"/>
                  <a:sym typeface="Calibri"/>
                </a:rPr>
                <a:t>ⱱ</a:t>
              </a:r>
            </a:p>
          </p:txBody>
        </p:sp>
      </p:grpSp>
      <p:grpSp>
        <p:nvGrpSpPr>
          <p:cNvPr id="144" name="Grupo 143">
            <a:extLst>
              <a:ext uri="{FF2B5EF4-FFF2-40B4-BE49-F238E27FC236}">
                <a16:creationId xmlns:a16="http://schemas.microsoft.com/office/drawing/2014/main" id="{0148E275-0276-4666-57DB-C70EB6A5E437}"/>
              </a:ext>
            </a:extLst>
          </p:cNvPr>
          <p:cNvGrpSpPr/>
          <p:nvPr/>
        </p:nvGrpSpPr>
        <p:grpSpPr>
          <a:xfrm>
            <a:off x="3842107" y="4405008"/>
            <a:ext cx="5975052" cy="544252"/>
            <a:chOff x="3842107" y="4405008"/>
            <a:chExt cx="5975052" cy="544252"/>
          </a:xfrm>
        </p:grpSpPr>
        <p:sp>
          <p:nvSpPr>
            <p:cNvPr id="17" name="Google Shape;451;p8">
              <a:extLst>
                <a:ext uri="{FF2B5EF4-FFF2-40B4-BE49-F238E27FC236}">
                  <a16:creationId xmlns:a16="http://schemas.microsoft.com/office/drawing/2014/main" id="{C58BA64B-A8A5-B35E-23A4-162458CA5549}"/>
                </a:ext>
              </a:extLst>
            </p:cNvPr>
            <p:cNvSpPr/>
            <p:nvPr/>
          </p:nvSpPr>
          <p:spPr>
            <a:xfrm>
              <a:off x="4057159" y="4405008"/>
              <a:ext cx="5760000" cy="540000"/>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273750" tIns="68575" rIns="128000" bIns="68575"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s-ES" sz="2000" b="1" i="1" u="none" strike="noStrike" cap="none">
                  <a:solidFill>
                    <a:schemeClr val="dk1"/>
                  </a:solidFill>
                  <a:latin typeface="Calibri"/>
                  <a:ea typeface="Calibri"/>
                  <a:cs typeface="Calibri"/>
                  <a:sym typeface="Calibri"/>
                </a:rPr>
                <a:t>De línea de productos </a:t>
              </a:r>
              <a:endParaRPr sz="2000" b="1" i="0" u="none" strike="noStrike" cap="none">
                <a:solidFill>
                  <a:schemeClr val="dk1"/>
                </a:solidFill>
                <a:latin typeface="Calibri"/>
                <a:ea typeface="Calibri"/>
                <a:cs typeface="Calibri"/>
                <a:sym typeface="Calibri"/>
              </a:endParaRPr>
            </a:p>
          </p:txBody>
        </p:sp>
        <p:sp>
          <p:nvSpPr>
            <p:cNvPr id="19" name="Google Shape;453;p8">
              <a:extLst>
                <a:ext uri="{FF2B5EF4-FFF2-40B4-BE49-F238E27FC236}">
                  <a16:creationId xmlns:a16="http://schemas.microsoft.com/office/drawing/2014/main" id="{8ECAA5E2-9212-3B6E-FDFD-AF6E53ED2F0B}"/>
                </a:ext>
              </a:extLst>
            </p:cNvPr>
            <p:cNvSpPr/>
            <p:nvPr/>
          </p:nvSpPr>
          <p:spPr>
            <a:xfrm flipH="1">
              <a:off x="3842107" y="4409260"/>
              <a:ext cx="540000" cy="540000"/>
            </a:xfrm>
            <a:prstGeom prst="ellipse">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lvl="0" algn="ctr">
                <a:spcBef>
                  <a:spcPts val="0"/>
                </a:spcBef>
                <a:spcAft>
                  <a:spcPts val="0"/>
                </a:spcAft>
                <a:buClr>
                  <a:srgbClr val="000000"/>
                </a:buClr>
                <a:buSzPts val="2800"/>
              </a:pPr>
              <a:r>
                <a:rPr lang="es-ES" sz="2400" b="1" dirty="0">
                  <a:solidFill>
                    <a:srgbClr val="576063"/>
                  </a:solidFill>
                  <a:ea typeface="Calibri"/>
                  <a:cs typeface="Calibri"/>
                  <a:sym typeface="Calibri"/>
                </a:rPr>
                <a:t>ⱱ</a:t>
              </a:r>
            </a:p>
          </p:txBody>
        </p:sp>
      </p:grpSp>
      <p:grpSp>
        <p:nvGrpSpPr>
          <p:cNvPr id="143" name="Grupo 142">
            <a:extLst>
              <a:ext uri="{FF2B5EF4-FFF2-40B4-BE49-F238E27FC236}">
                <a16:creationId xmlns:a16="http://schemas.microsoft.com/office/drawing/2014/main" id="{18CBF59B-4E7C-46E5-30F6-29F4F4D2028C}"/>
              </a:ext>
            </a:extLst>
          </p:cNvPr>
          <p:cNvGrpSpPr/>
          <p:nvPr/>
        </p:nvGrpSpPr>
        <p:grpSpPr>
          <a:xfrm>
            <a:off x="3517159" y="3796373"/>
            <a:ext cx="5979353" cy="546603"/>
            <a:chOff x="3517159" y="3796373"/>
            <a:chExt cx="5979353" cy="546603"/>
          </a:xfrm>
        </p:grpSpPr>
        <p:sp>
          <p:nvSpPr>
            <p:cNvPr id="22" name="Google Shape;456;p8">
              <a:extLst>
                <a:ext uri="{FF2B5EF4-FFF2-40B4-BE49-F238E27FC236}">
                  <a16:creationId xmlns:a16="http://schemas.microsoft.com/office/drawing/2014/main" id="{E28C007B-107F-7BE5-326D-F701BC632177}"/>
                </a:ext>
              </a:extLst>
            </p:cNvPr>
            <p:cNvSpPr/>
            <p:nvPr/>
          </p:nvSpPr>
          <p:spPr>
            <a:xfrm>
              <a:off x="3736512" y="3796373"/>
              <a:ext cx="5760000" cy="540000"/>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273750" tIns="68575" rIns="128000" bIns="68575"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s-ES" sz="2000" b="1" i="1" u="none" strike="noStrike" cap="none">
                  <a:solidFill>
                    <a:schemeClr val="dk1"/>
                  </a:solidFill>
                  <a:latin typeface="Calibri"/>
                  <a:ea typeface="Calibri"/>
                  <a:cs typeface="Calibri"/>
                  <a:sym typeface="Calibri"/>
                </a:rPr>
                <a:t>Integrado </a:t>
              </a:r>
              <a:endParaRPr sz="2000" b="1" i="0" u="none" strike="noStrike" cap="none">
                <a:solidFill>
                  <a:schemeClr val="dk1"/>
                </a:solidFill>
                <a:latin typeface="Calibri"/>
                <a:ea typeface="Calibri"/>
                <a:cs typeface="Calibri"/>
                <a:sym typeface="Calibri"/>
              </a:endParaRPr>
            </a:p>
          </p:txBody>
        </p:sp>
        <p:sp>
          <p:nvSpPr>
            <p:cNvPr id="24" name="Google Shape;458;p8">
              <a:extLst>
                <a:ext uri="{FF2B5EF4-FFF2-40B4-BE49-F238E27FC236}">
                  <a16:creationId xmlns:a16="http://schemas.microsoft.com/office/drawing/2014/main" id="{59A82E2E-FA50-6529-D298-7A2C8ADF2016}"/>
                </a:ext>
              </a:extLst>
            </p:cNvPr>
            <p:cNvSpPr/>
            <p:nvPr/>
          </p:nvSpPr>
          <p:spPr>
            <a:xfrm flipH="1">
              <a:off x="3517159" y="3802976"/>
              <a:ext cx="540000" cy="540000"/>
            </a:xfrm>
            <a:prstGeom prst="ellipse">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lvl="0" algn="ctr">
                <a:spcBef>
                  <a:spcPts val="0"/>
                </a:spcBef>
                <a:spcAft>
                  <a:spcPts val="0"/>
                </a:spcAft>
                <a:buClr>
                  <a:srgbClr val="000000"/>
                </a:buClr>
                <a:buSzPts val="2800"/>
              </a:pPr>
              <a:r>
                <a:rPr lang="es-ES" sz="2400" b="1" dirty="0">
                  <a:solidFill>
                    <a:srgbClr val="576063"/>
                  </a:solidFill>
                  <a:ea typeface="Calibri"/>
                  <a:cs typeface="Calibri"/>
                  <a:sym typeface="Calibri"/>
                </a:rPr>
                <a:t>ⱱ</a:t>
              </a:r>
            </a:p>
          </p:txBody>
        </p:sp>
      </p:grpSp>
      <p:grpSp>
        <p:nvGrpSpPr>
          <p:cNvPr id="142" name="Grupo 141">
            <a:extLst>
              <a:ext uri="{FF2B5EF4-FFF2-40B4-BE49-F238E27FC236}">
                <a16:creationId xmlns:a16="http://schemas.microsoft.com/office/drawing/2014/main" id="{32996889-9357-F84A-0B92-E35AE7A22C9C}"/>
              </a:ext>
            </a:extLst>
          </p:cNvPr>
          <p:cNvGrpSpPr/>
          <p:nvPr/>
        </p:nvGrpSpPr>
        <p:grpSpPr>
          <a:xfrm>
            <a:off x="3196512" y="3191308"/>
            <a:ext cx="5990743" cy="543297"/>
            <a:chOff x="3196512" y="3191308"/>
            <a:chExt cx="5990743" cy="543297"/>
          </a:xfrm>
        </p:grpSpPr>
        <p:sp>
          <p:nvSpPr>
            <p:cNvPr id="27" name="Google Shape;461;p8">
              <a:extLst>
                <a:ext uri="{FF2B5EF4-FFF2-40B4-BE49-F238E27FC236}">
                  <a16:creationId xmlns:a16="http://schemas.microsoft.com/office/drawing/2014/main" id="{D3F23858-BA85-88C0-A7BB-E3F0CACFEACB}"/>
                </a:ext>
              </a:extLst>
            </p:cNvPr>
            <p:cNvSpPr/>
            <p:nvPr/>
          </p:nvSpPr>
          <p:spPr>
            <a:xfrm>
              <a:off x="3427255" y="3194605"/>
              <a:ext cx="5760000" cy="540000"/>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273750" tIns="68575" rIns="128000" bIns="68575"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s-ES" sz="2000" b="1" i="1" u="none" strike="noStrike" cap="none">
                  <a:solidFill>
                    <a:schemeClr val="dk1"/>
                  </a:solidFill>
                  <a:latin typeface="Calibri"/>
                  <a:ea typeface="Calibri"/>
                  <a:cs typeface="Calibri"/>
                  <a:sym typeface="Calibri"/>
                </a:rPr>
                <a:t>Científico  y de ingeniería </a:t>
              </a:r>
              <a:endParaRPr sz="2000" b="1" i="0" u="none" strike="noStrike" cap="none">
                <a:solidFill>
                  <a:schemeClr val="dk1"/>
                </a:solidFill>
                <a:latin typeface="Calibri"/>
                <a:ea typeface="Calibri"/>
                <a:cs typeface="Calibri"/>
                <a:sym typeface="Calibri"/>
              </a:endParaRPr>
            </a:p>
          </p:txBody>
        </p:sp>
        <p:sp>
          <p:nvSpPr>
            <p:cNvPr id="29" name="Google Shape;463;p8">
              <a:extLst>
                <a:ext uri="{FF2B5EF4-FFF2-40B4-BE49-F238E27FC236}">
                  <a16:creationId xmlns:a16="http://schemas.microsoft.com/office/drawing/2014/main" id="{8076AFAC-778F-2BEB-33AB-7EA2443D0E62}"/>
                </a:ext>
              </a:extLst>
            </p:cNvPr>
            <p:cNvSpPr/>
            <p:nvPr/>
          </p:nvSpPr>
          <p:spPr>
            <a:xfrm flipH="1">
              <a:off x="3196512" y="3191308"/>
              <a:ext cx="540000" cy="540000"/>
            </a:xfrm>
            <a:prstGeom prst="ellipse">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lvl="0" algn="ctr">
                <a:spcBef>
                  <a:spcPts val="0"/>
                </a:spcBef>
                <a:spcAft>
                  <a:spcPts val="0"/>
                </a:spcAft>
                <a:buClr>
                  <a:srgbClr val="000000"/>
                </a:buClr>
                <a:buSzPts val="2800"/>
              </a:pPr>
              <a:r>
                <a:rPr lang="es-ES" sz="2400" b="1" dirty="0">
                  <a:solidFill>
                    <a:srgbClr val="576063"/>
                  </a:solidFill>
                  <a:ea typeface="Calibri"/>
                  <a:cs typeface="Calibri"/>
                  <a:sym typeface="Calibri"/>
                </a:rPr>
                <a:t>ⱱ</a:t>
              </a:r>
            </a:p>
          </p:txBody>
        </p:sp>
      </p:grpSp>
      <p:grpSp>
        <p:nvGrpSpPr>
          <p:cNvPr id="145" name="Grupo 144">
            <a:extLst>
              <a:ext uri="{FF2B5EF4-FFF2-40B4-BE49-F238E27FC236}">
                <a16:creationId xmlns:a16="http://schemas.microsoft.com/office/drawing/2014/main" id="{36F6FB62-25E3-D4EA-25D0-CA23F536AA18}"/>
              </a:ext>
            </a:extLst>
          </p:cNvPr>
          <p:cNvGrpSpPr/>
          <p:nvPr/>
        </p:nvGrpSpPr>
        <p:grpSpPr>
          <a:xfrm>
            <a:off x="4136071" y="5013643"/>
            <a:ext cx="6006036" cy="540000"/>
            <a:chOff x="4136071" y="5013643"/>
            <a:chExt cx="6006036" cy="540000"/>
          </a:xfrm>
        </p:grpSpPr>
        <p:sp>
          <p:nvSpPr>
            <p:cNvPr id="128" name="Google Shape;466;p8">
              <a:extLst>
                <a:ext uri="{FF2B5EF4-FFF2-40B4-BE49-F238E27FC236}">
                  <a16:creationId xmlns:a16="http://schemas.microsoft.com/office/drawing/2014/main" id="{01D95944-6A89-0AC7-D5DB-0C0ECE8D78B9}"/>
                </a:ext>
              </a:extLst>
            </p:cNvPr>
            <p:cNvSpPr/>
            <p:nvPr/>
          </p:nvSpPr>
          <p:spPr>
            <a:xfrm>
              <a:off x="4382107" y="5013643"/>
              <a:ext cx="5760000" cy="540000"/>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273750" tIns="68575" rIns="128000" bIns="68575"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s-ES" sz="2000" b="1" i="1" u="none" strike="noStrike" cap="none">
                  <a:solidFill>
                    <a:schemeClr val="dk1"/>
                  </a:solidFill>
                  <a:latin typeface="Calibri"/>
                  <a:ea typeface="Calibri"/>
                  <a:cs typeface="Calibri"/>
                  <a:sym typeface="Calibri"/>
                </a:rPr>
                <a:t>Aplicaciones Web/Móviles </a:t>
              </a:r>
              <a:endParaRPr sz="2000" b="1" i="0" u="none" strike="noStrike" cap="none">
                <a:solidFill>
                  <a:schemeClr val="dk1"/>
                </a:solidFill>
                <a:latin typeface="Calibri"/>
                <a:ea typeface="Calibri"/>
                <a:cs typeface="Calibri"/>
                <a:sym typeface="Calibri"/>
              </a:endParaRPr>
            </a:p>
          </p:txBody>
        </p:sp>
        <p:sp>
          <p:nvSpPr>
            <p:cNvPr id="130" name="Google Shape;468;p8">
              <a:extLst>
                <a:ext uri="{FF2B5EF4-FFF2-40B4-BE49-F238E27FC236}">
                  <a16:creationId xmlns:a16="http://schemas.microsoft.com/office/drawing/2014/main" id="{637F3173-EDF7-80E9-6AD2-7897A270181A}"/>
                </a:ext>
              </a:extLst>
            </p:cNvPr>
            <p:cNvSpPr/>
            <p:nvPr/>
          </p:nvSpPr>
          <p:spPr>
            <a:xfrm flipH="1">
              <a:off x="4136071" y="5013643"/>
              <a:ext cx="540000" cy="540000"/>
            </a:xfrm>
            <a:prstGeom prst="ellipse">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lvl="0" algn="ctr">
                <a:spcBef>
                  <a:spcPts val="0"/>
                </a:spcBef>
                <a:spcAft>
                  <a:spcPts val="0"/>
                </a:spcAft>
                <a:buClr>
                  <a:srgbClr val="000000"/>
                </a:buClr>
                <a:buSzPts val="2800"/>
              </a:pPr>
              <a:r>
                <a:rPr lang="es-ES" sz="2400" b="1" dirty="0">
                  <a:solidFill>
                    <a:srgbClr val="576063"/>
                  </a:solidFill>
                  <a:ea typeface="Calibri"/>
                  <a:cs typeface="Calibri"/>
                  <a:sym typeface="Calibri"/>
                </a:rPr>
                <a:t>ⱱ</a:t>
              </a:r>
            </a:p>
          </p:txBody>
        </p:sp>
      </p:grpSp>
      <p:grpSp>
        <p:nvGrpSpPr>
          <p:cNvPr id="146" name="Grupo 145">
            <a:extLst>
              <a:ext uri="{FF2B5EF4-FFF2-40B4-BE49-F238E27FC236}">
                <a16:creationId xmlns:a16="http://schemas.microsoft.com/office/drawing/2014/main" id="{BE49DDB4-3C02-E411-EC44-17A6346B034A}"/>
              </a:ext>
            </a:extLst>
          </p:cNvPr>
          <p:cNvGrpSpPr/>
          <p:nvPr/>
        </p:nvGrpSpPr>
        <p:grpSpPr>
          <a:xfrm>
            <a:off x="4438488" y="5610037"/>
            <a:ext cx="5997583" cy="540000"/>
            <a:chOff x="4438488" y="5610037"/>
            <a:chExt cx="5997583" cy="540000"/>
          </a:xfrm>
        </p:grpSpPr>
        <p:sp>
          <p:nvSpPr>
            <p:cNvPr id="133" name="Google Shape;471;p8">
              <a:extLst>
                <a:ext uri="{FF2B5EF4-FFF2-40B4-BE49-F238E27FC236}">
                  <a16:creationId xmlns:a16="http://schemas.microsoft.com/office/drawing/2014/main" id="{318669BC-52DC-EB44-12F6-D924DF9A67DD}"/>
                </a:ext>
              </a:extLst>
            </p:cNvPr>
            <p:cNvSpPr/>
            <p:nvPr/>
          </p:nvSpPr>
          <p:spPr>
            <a:xfrm>
              <a:off x="4676071" y="5610037"/>
              <a:ext cx="5760000" cy="540000"/>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273750" tIns="68575" rIns="128000" bIns="68575"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s-ES" sz="2000" b="1" i="1" u="none" strike="noStrike" cap="none">
                  <a:solidFill>
                    <a:schemeClr val="dk1"/>
                  </a:solidFill>
                  <a:latin typeface="Calibri"/>
                  <a:ea typeface="Calibri"/>
                  <a:cs typeface="Calibri"/>
                  <a:sym typeface="Calibri"/>
                </a:rPr>
                <a:t>De inteligencia artificial</a:t>
              </a:r>
              <a:endParaRPr sz="2000" b="1" i="0" u="none" strike="noStrike" cap="none">
                <a:solidFill>
                  <a:schemeClr val="dk1"/>
                </a:solidFill>
                <a:latin typeface="Calibri"/>
                <a:ea typeface="Calibri"/>
                <a:cs typeface="Calibri"/>
                <a:sym typeface="Calibri"/>
              </a:endParaRPr>
            </a:p>
          </p:txBody>
        </p:sp>
        <p:sp>
          <p:nvSpPr>
            <p:cNvPr id="135" name="Google Shape;473;p8">
              <a:extLst>
                <a:ext uri="{FF2B5EF4-FFF2-40B4-BE49-F238E27FC236}">
                  <a16:creationId xmlns:a16="http://schemas.microsoft.com/office/drawing/2014/main" id="{50CBF7A6-0CD9-35C9-B05E-FC0FA4A184EC}"/>
                </a:ext>
              </a:extLst>
            </p:cNvPr>
            <p:cNvSpPr/>
            <p:nvPr/>
          </p:nvSpPr>
          <p:spPr>
            <a:xfrm flipH="1">
              <a:off x="4438488" y="5610037"/>
              <a:ext cx="540000" cy="540000"/>
            </a:xfrm>
            <a:prstGeom prst="ellipse">
              <a:avLst/>
            </a:prstGeom>
            <a:ln/>
          </p:spPr>
          <p:style>
            <a:lnRef idx="1">
              <a:schemeClr val="accent2"/>
            </a:lnRef>
            <a:fillRef idx="2">
              <a:schemeClr val="accent2"/>
            </a:fillRef>
            <a:effectRef idx="1">
              <a:schemeClr val="accent2"/>
            </a:effectRef>
            <a:fontRef idx="minor">
              <a:schemeClr val="dk1"/>
            </a:fontRef>
          </p:style>
          <p:txBody>
            <a:bodyPr spcFirstLastPara="1" wrap="square" lIns="91425" tIns="91425" rIns="91425" bIns="91425" anchor="ctr" anchorCtr="0">
              <a:noAutofit/>
            </a:bodyPr>
            <a:lstStyle/>
            <a:p>
              <a:pPr lvl="0" algn="ctr">
                <a:spcBef>
                  <a:spcPts val="0"/>
                </a:spcBef>
                <a:spcAft>
                  <a:spcPts val="0"/>
                </a:spcAft>
                <a:buClr>
                  <a:srgbClr val="000000"/>
                </a:buClr>
                <a:buSzPts val="2800"/>
              </a:pPr>
              <a:r>
                <a:rPr lang="es-ES" sz="2400" b="1" dirty="0">
                  <a:solidFill>
                    <a:srgbClr val="576063"/>
                  </a:solidFill>
                  <a:ea typeface="Calibri"/>
                  <a:cs typeface="Calibri"/>
                  <a:sym typeface="Calibri"/>
                </a:rPr>
                <a:t>ⱱ</a:t>
              </a:r>
            </a:p>
          </p:txBody>
        </p:sp>
      </p:grpSp>
    </p:spTree>
    <p:extLst>
      <p:ext uri="{BB962C8B-B14F-4D97-AF65-F5344CB8AC3E}">
        <p14:creationId xmlns:p14="http://schemas.microsoft.com/office/powerpoint/2010/main" val="2083814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11A2F1D7-BB97-D90A-1E2B-87554862B0C7}"/>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E4661E1E-AD35-B9B6-EAEF-BAC87589500F}"/>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Software - Retos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1F653C9E-FE3D-66CF-EEAA-7E6D17821D0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2767C0C-AE12-6F5E-8037-4EF7B8755453}"/>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40F8B743-D1FF-DFAB-8050-55FDF13D37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16</a:t>
            </a:fld>
            <a:endParaRPr lang="es-ES"/>
          </a:p>
        </p:txBody>
      </p:sp>
      <p:sp>
        <p:nvSpPr>
          <p:cNvPr id="6" name="Google Shape;149;g1f30b4104d4_0_0">
            <a:extLst>
              <a:ext uri="{FF2B5EF4-FFF2-40B4-BE49-F238E27FC236}">
                <a16:creationId xmlns:a16="http://schemas.microsoft.com/office/drawing/2014/main" id="{59220084-9748-1BDA-2BE7-9FFE4F04D1FD}"/>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A medida que los usuarios adoptan nuevas tecnologías, parte del trabajo consiste en integrar los sistemas tradicionales con los nuevos para asegurar un contexto útil.</a:t>
            </a: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Debemos estar conscientes de que al integrar tecnologías se ven afectados todos los tipos de usuarios y sistemas.</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p:txBody>
      </p:sp>
      <p:pic>
        <p:nvPicPr>
          <p:cNvPr id="10" name="Google Shape;506;p11" descr="https://lh5.googleusercontent.com/n_RDS2vu247kt9BUNLCZ2Dz_EyEeZHBAev3bmF88gesqyBnyNZXzDn2R32TJzzCw-9C8t26y40rec6qPsKZeo49wv_7UnpgC6oIFzp-P88HxseMLvuH5rOUedMIqH5tub-jQ7fc">
            <a:extLst>
              <a:ext uri="{FF2B5EF4-FFF2-40B4-BE49-F238E27FC236}">
                <a16:creationId xmlns:a16="http://schemas.microsoft.com/office/drawing/2014/main" id="{172A795F-503C-F656-C701-FEDE9E948590}"/>
              </a:ext>
            </a:extLst>
          </p:cNvPr>
          <p:cNvPicPr preferRelativeResize="0"/>
          <p:nvPr/>
        </p:nvPicPr>
        <p:blipFill rotWithShape="1">
          <a:blip r:embed="rId3">
            <a:alphaModFix/>
          </a:blip>
          <a:srcRect/>
          <a:stretch/>
        </p:blipFill>
        <p:spPr>
          <a:xfrm>
            <a:off x="9205992" y="3905573"/>
            <a:ext cx="2876239" cy="2422201"/>
          </a:xfrm>
          <a:prstGeom prst="rect">
            <a:avLst/>
          </a:prstGeom>
          <a:noFill/>
          <a:ln>
            <a:noFill/>
          </a:ln>
        </p:spPr>
      </p:pic>
    </p:spTree>
    <p:extLst>
      <p:ext uri="{BB962C8B-B14F-4D97-AF65-F5344CB8AC3E}">
        <p14:creationId xmlns:p14="http://schemas.microsoft.com/office/powerpoint/2010/main" val="30967647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1899384C-E408-C727-51F3-9B27D76AF118}"/>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B99EAD16-28D8-2D4E-180F-E6EB2E2488C0}"/>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Software - Retos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72A36FC2-EA54-8CCB-9FEB-FC2A2E67711A}"/>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C5B0F44-587A-D92F-DD95-C9A2AF6F2EB9}"/>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F6FE4009-60FB-2128-DC2B-167264EB88D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17</a:t>
            </a:fld>
            <a:endParaRPr lang="es-ES"/>
          </a:p>
        </p:txBody>
      </p:sp>
      <p:sp>
        <p:nvSpPr>
          <p:cNvPr id="5" name="Google Shape;494;p10">
            <a:extLst>
              <a:ext uri="{FF2B5EF4-FFF2-40B4-BE49-F238E27FC236}">
                <a16:creationId xmlns:a16="http://schemas.microsoft.com/office/drawing/2014/main" id="{C7F16B79-2EE0-608E-D12C-77518E040166}"/>
              </a:ext>
            </a:extLst>
          </p:cNvPr>
          <p:cNvSpPr/>
          <p:nvPr/>
        </p:nvSpPr>
        <p:spPr>
          <a:xfrm>
            <a:off x="3525995" y="2099933"/>
            <a:ext cx="384566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400" b="1" i="0" u="none" strike="noStrike" cap="none" dirty="0">
                <a:solidFill>
                  <a:schemeClr val="dk1"/>
                </a:solidFill>
                <a:latin typeface="Calibri"/>
                <a:ea typeface="Calibri"/>
                <a:cs typeface="Calibri"/>
                <a:sym typeface="Calibri"/>
              </a:rPr>
              <a:t>Software heredado </a:t>
            </a:r>
            <a:endParaRPr sz="2400" b="0" i="0" u="none" strike="noStrike" cap="none" dirty="0">
              <a:solidFill>
                <a:schemeClr val="dk1"/>
              </a:solidFill>
              <a:latin typeface="Calibri"/>
              <a:ea typeface="Calibri"/>
              <a:cs typeface="Calibri"/>
              <a:sym typeface="Calibri"/>
            </a:endParaRPr>
          </a:p>
        </p:txBody>
      </p:sp>
      <p:sp>
        <p:nvSpPr>
          <p:cNvPr id="7" name="Google Shape;495;p10">
            <a:extLst>
              <a:ext uri="{FF2B5EF4-FFF2-40B4-BE49-F238E27FC236}">
                <a16:creationId xmlns:a16="http://schemas.microsoft.com/office/drawing/2014/main" id="{60AB34FD-E832-F1A9-51C3-68C22C5500DB}"/>
              </a:ext>
            </a:extLst>
          </p:cNvPr>
          <p:cNvSpPr txBox="1"/>
          <p:nvPr/>
        </p:nvSpPr>
        <p:spPr>
          <a:xfrm>
            <a:off x="3584700" y="4213492"/>
            <a:ext cx="3165504"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ES" sz="2400" b="1" i="0" u="none" strike="noStrike" cap="none" dirty="0">
                <a:solidFill>
                  <a:schemeClr val="dk1"/>
                </a:solidFill>
                <a:latin typeface="Calibri"/>
                <a:ea typeface="Calibri"/>
                <a:cs typeface="Calibri"/>
                <a:sym typeface="Calibri"/>
              </a:rPr>
              <a:t>Enfrentar el futuro</a:t>
            </a:r>
            <a:endParaRPr sz="2400" b="1" i="0" u="none" strike="noStrike" cap="none" dirty="0">
              <a:solidFill>
                <a:schemeClr val="dk1"/>
              </a:solidFill>
              <a:latin typeface="Calibri"/>
              <a:ea typeface="Calibri"/>
              <a:cs typeface="Calibri"/>
              <a:sym typeface="Calibri"/>
            </a:endParaRPr>
          </a:p>
        </p:txBody>
      </p:sp>
      <p:pic>
        <p:nvPicPr>
          <p:cNvPr id="8" name="Google Shape;496;p10" descr="Guía ejecutiva] Manejo de crisis informáticas – Parte 2 - Blog Nubity">
            <a:extLst>
              <a:ext uri="{FF2B5EF4-FFF2-40B4-BE49-F238E27FC236}">
                <a16:creationId xmlns:a16="http://schemas.microsoft.com/office/drawing/2014/main" id="{5CDA1A61-20CB-C847-4F48-C27B97AD01D6}"/>
              </a:ext>
            </a:extLst>
          </p:cNvPr>
          <p:cNvPicPr preferRelativeResize="0"/>
          <p:nvPr/>
        </p:nvPicPr>
        <p:blipFill rotWithShape="1">
          <a:blip r:embed="rId3">
            <a:alphaModFix/>
          </a:blip>
          <a:srcRect/>
          <a:stretch/>
        </p:blipFill>
        <p:spPr>
          <a:xfrm>
            <a:off x="501433" y="1902392"/>
            <a:ext cx="3024562" cy="1841955"/>
          </a:xfrm>
          <a:prstGeom prst="rect">
            <a:avLst/>
          </a:prstGeom>
          <a:noFill/>
          <a:ln>
            <a:noFill/>
          </a:ln>
        </p:spPr>
      </p:pic>
      <p:pic>
        <p:nvPicPr>
          <p:cNvPr id="9" name="Google Shape;497;p10" descr="5 ingenierías del futuro que puedes estudiar hoy">
            <a:extLst>
              <a:ext uri="{FF2B5EF4-FFF2-40B4-BE49-F238E27FC236}">
                <a16:creationId xmlns:a16="http://schemas.microsoft.com/office/drawing/2014/main" id="{3E3EF238-31EB-FEF5-B2BF-4F0EF93CDB84}"/>
              </a:ext>
            </a:extLst>
          </p:cNvPr>
          <p:cNvPicPr preferRelativeResize="0"/>
          <p:nvPr/>
        </p:nvPicPr>
        <p:blipFill rotWithShape="1">
          <a:blip r:embed="rId4">
            <a:alphaModFix/>
          </a:blip>
          <a:srcRect/>
          <a:stretch/>
        </p:blipFill>
        <p:spPr>
          <a:xfrm>
            <a:off x="301844" y="4030668"/>
            <a:ext cx="3312787" cy="2082204"/>
          </a:xfrm>
          <a:prstGeom prst="rect">
            <a:avLst/>
          </a:prstGeom>
          <a:noFill/>
          <a:ln>
            <a:noFill/>
          </a:ln>
        </p:spPr>
      </p:pic>
      <p:pic>
        <p:nvPicPr>
          <p:cNvPr id="12" name="Google Shape;482;p9" descr="La UCLM acoge por primera vez la Conferencia Internacional sobre Computación  Ubicua e Inteligencia Ambiental | UCLMtv">
            <a:extLst>
              <a:ext uri="{FF2B5EF4-FFF2-40B4-BE49-F238E27FC236}">
                <a16:creationId xmlns:a16="http://schemas.microsoft.com/office/drawing/2014/main" id="{F51E16D7-C3B8-2AEB-E47A-CE706DEBBE68}"/>
              </a:ext>
            </a:extLst>
          </p:cNvPr>
          <p:cNvPicPr preferRelativeResize="0"/>
          <p:nvPr/>
        </p:nvPicPr>
        <p:blipFill rotWithShape="1">
          <a:blip r:embed="rId5">
            <a:alphaModFix/>
          </a:blip>
          <a:srcRect/>
          <a:stretch/>
        </p:blipFill>
        <p:spPr>
          <a:xfrm>
            <a:off x="6299259" y="4323419"/>
            <a:ext cx="3165505" cy="1888390"/>
          </a:xfrm>
          <a:prstGeom prst="rect">
            <a:avLst/>
          </a:prstGeom>
          <a:noFill/>
          <a:ln>
            <a:noFill/>
          </a:ln>
        </p:spPr>
      </p:pic>
      <p:sp>
        <p:nvSpPr>
          <p:cNvPr id="14" name="Google Shape;483;p9">
            <a:extLst>
              <a:ext uri="{FF2B5EF4-FFF2-40B4-BE49-F238E27FC236}">
                <a16:creationId xmlns:a16="http://schemas.microsoft.com/office/drawing/2014/main" id="{78476938-0418-668B-F446-EA8155B910EC}"/>
              </a:ext>
            </a:extLst>
          </p:cNvPr>
          <p:cNvSpPr/>
          <p:nvPr/>
        </p:nvSpPr>
        <p:spPr>
          <a:xfrm>
            <a:off x="9388554" y="5379741"/>
            <a:ext cx="352281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400" b="1" u="none" strike="noStrike" cap="none" dirty="0">
                <a:solidFill>
                  <a:schemeClr val="dk1"/>
                </a:solidFill>
                <a:latin typeface="Calibri"/>
                <a:ea typeface="Calibri"/>
                <a:cs typeface="Calibri"/>
                <a:sym typeface="Calibri"/>
              </a:rPr>
              <a:t>Computación Ubicua</a:t>
            </a:r>
            <a:endParaRPr sz="2400" b="1" u="none" strike="noStrike" cap="none" dirty="0">
              <a:solidFill>
                <a:schemeClr val="dk1"/>
              </a:solidFill>
              <a:latin typeface="Calibri"/>
              <a:ea typeface="Calibri"/>
              <a:cs typeface="Calibri"/>
              <a:sym typeface="Calibri"/>
            </a:endParaRPr>
          </a:p>
        </p:txBody>
      </p:sp>
      <p:pic>
        <p:nvPicPr>
          <p:cNvPr id="15" name="Google Shape;484;p9" descr="Qué es la World Wide Web (www) y cómo funciona?">
            <a:extLst>
              <a:ext uri="{FF2B5EF4-FFF2-40B4-BE49-F238E27FC236}">
                <a16:creationId xmlns:a16="http://schemas.microsoft.com/office/drawing/2014/main" id="{97BB3A00-C3D6-A15B-639A-7E9C0EA88706}"/>
              </a:ext>
            </a:extLst>
          </p:cNvPr>
          <p:cNvPicPr preferRelativeResize="0"/>
          <p:nvPr/>
        </p:nvPicPr>
        <p:blipFill rotWithShape="1">
          <a:blip r:embed="rId6">
            <a:alphaModFix/>
          </a:blip>
          <a:srcRect/>
          <a:stretch/>
        </p:blipFill>
        <p:spPr>
          <a:xfrm>
            <a:off x="6299259" y="2058412"/>
            <a:ext cx="3522810" cy="2063668"/>
          </a:xfrm>
          <a:prstGeom prst="rect">
            <a:avLst/>
          </a:prstGeom>
          <a:noFill/>
          <a:ln>
            <a:noFill/>
          </a:ln>
        </p:spPr>
      </p:pic>
      <p:sp>
        <p:nvSpPr>
          <p:cNvPr id="19" name="Google Shape;483;p9">
            <a:extLst>
              <a:ext uri="{FF2B5EF4-FFF2-40B4-BE49-F238E27FC236}">
                <a16:creationId xmlns:a16="http://schemas.microsoft.com/office/drawing/2014/main" id="{65EBE6D4-AF31-0087-CAFC-857E0F73BC2F}"/>
              </a:ext>
            </a:extLst>
          </p:cNvPr>
          <p:cNvSpPr/>
          <p:nvPr/>
        </p:nvSpPr>
        <p:spPr>
          <a:xfrm>
            <a:off x="9822069" y="2991013"/>
            <a:ext cx="3522811"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400" b="1" u="none" strike="noStrike" cap="none" dirty="0">
                <a:solidFill>
                  <a:schemeClr val="dk1"/>
                </a:solidFill>
                <a:latin typeface="Calibri"/>
                <a:ea typeface="Calibri"/>
                <a:cs typeface="Calibri"/>
                <a:sym typeface="Calibri"/>
              </a:rPr>
              <a:t>World Wide Web</a:t>
            </a:r>
            <a:endParaRPr sz="2400" b="1" u="none" strike="noStrike" cap="none" dirty="0">
              <a:solidFill>
                <a:schemeClr val="dk1"/>
              </a:solidFill>
              <a:latin typeface="Calibri"/>
              <a:ea typeface="Calibri"/>
              <a:cs typeface="Calibri"/>
              <a:sym typeface="Calibri"/>
            </a:endParaRPr>
          </a:p>
        </p:txBody>
      </p:sp>
      <p:sp>
        <p:nvSpPr>
          <p:cNvPr id="20" name="Google Shape;498;p10">
            <a:extLst>
              <a:ext uri="{FF2B5EF4-FFF2-40B4-BE49-F238E27FC236}">
                <a16:creationId xmlns:a16="http://schemas.microsoft.com/office/drawing/2014/main" id="{34D335F2-CAD4-3935-0034-8897E847CAAE}"/>
              </a:ext>
            </a:extLst>
          </p:cNvPr>
          <p:cNvSpPr/>
          <p:nvPr/>
        </p:nvSpPr>
        <p:spPr>
          <a:xfrm>
            <a:off x="3270830" y="2629763"/>
            <a:ext cx="5760640" cy="2736304"/>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s-ES" sz="3200" b="0" i="0" u="none" strike="noStrike" cap="none" dirty="0">
                <a:solidFill>
                  <a:srgbClr val="000000"/>
                </a:solidFill>
                <a:latin typeface="+mn-lt"/>
                <a:ea typeface="Calibri"/>
                <a:cs typeface="Calibri"/>
                <a:sym typeface="Calibri"/>
              </a:rPr>
              <a:t>Para hacer frente a estos retos:</a:t>
            </a:r>
            <a:endParaRPr sz="1800" b="0" i="0" u="none" strike="noStrike" cap="none" dirty="0">
              <a:solidFill>
                <a:srgbClr val="000000"/>
              </a:solidFill>
              <a:latin typeface="+mn-lt"/>
              <a:ea typeface="Arial"/>
              <a:cs typeface="Arial"/>
              <a:sym typeface="Arial"/>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000000"/>
              </a:solidFill>
              <a:latin typeface="+mn-lt"/>
              <a:ea typeface="Calibri"/>
              <a:cs typeface="Calibri"/>
              <a:sym typeface="Calibri"/>
            </a:endParaRPr>
          </a:p>
          <a:p>
            <a:pPr marL="0" marR="0" lvl="0" indent="0" algn="ctr" rtl="0">
              <a:lnSpc>
                <a:spcPct val="100000"/>
              </a:lnSpc>
              <a:spcBef>
                <a:spcPts val="0"/>
              </a:spcBef>
              <a:spcAft>
                <a:spcPts val="0"/>
              </a:spcAft>
              <a:buClr>
                <a:srgbClr val="000000"/>
              </a:buClr>
              <a:buSzPts val="3200"/>
              <a:buFont typeface="Arial"/>
              <a:buNone/>
            </a:pPr>
            <a:r>
              <a:rPr lang="es-ES" sz="3200" b="1" i="0" u="none" strike="noStrike" cap="none" dirty="0">
                <a:solidFill>
                  <a:srgbClr val="000000"/>
                </a:solidFill>
                <a:latin typeface="+mn-lt"/>
                <a:ea typeface="Calibri"/>
                <a:cs typeface="Calibri"/>
                <a:sym typeface="Calibri"/>
              </a:rPr>
              <a:t>Ingeniería de Software</a:t>
            </a:r>
            <a:endParaRPr sz="3200" b="1" i="0" u="none" strike="noStrike" cap="none" dirty="0">
              <a:solidFill>
                <a:srgbClr val="000000"/>
              </a:solidFill>
              <a:latin typeface="+mn-lt"/>
              <a:ea typeface="Calibri"/>
              <a:cs typeface="Calibri"/>
              <a:sym typeface="Calibri"/>
            </a:endParaRPr>
          </a:p>
        </p:txBody>
      </p:sp>
    </p:spTree>
    <p:extLst>
      <p:ext uri="{BB962C8B-B14F-4D97-AF65-F5344CB8AC3E}">
        <p14:creationId xmlns:p14="http://schemas.microsoft.com/office/powerpoint/2010/main" val="17636589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B35DAF33-AC95-9D8F-ADEF-9F5FBFD7ED1E}"/>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28A55AAE-4191-1103-8713-B736D85A5A18}"/>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Ingeniería de Software </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45A55594-1934-F619-5FBB-0249BC2DE44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7DFC41D-D530-077C-670D-BA21469E6EFD}"/>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79311459-7685-853E-2F87-E83B815CFC4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18</a:t>
            </a:fld>
            <a:endParaRPr lang="es-ES"/>
          </a:p>
        </p:txBody>
      </p:sp>
      <p:sp>
        <p:nvSpPr>
          <p:cNvPr id="6" name="Google Shape;149;g1f30b4104d4_0_0">
            <a:extLst>
              <a:ext uri="{FF2B5EF4-FFF2-40B4-BE49-F238E27FC236}">
                <a16:creationId xmlns:a16="http://schemas.microsoft.com/office/drawing/2014/main" id="{056F98DE-4844-F3B3-D1D9-5587ADCC85CE}"/>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Disciplina de la ingeniería que comprende todos los aspectos de la producción de software desde las etapas iniciales de la especificación del sistema incluyendo la evolución de éste, luego que se comienza a ejecutar.</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p:txBody>
      </p:sp>
      <p:sp>
        <p:nvSpPr>
          <p:cNvPr id="5" name="Google Shape;517;p12">
            <a:extLst>
              <a:ext uri="{FF2B5EF4-FFF2-40B4-BE49-F238E27FC236}">
                <a16:creationId xmlns:a16="http://schemas.microsoft.com/office/drawing/2014/main" id="{E8318946-DCB0-CF81-54A0-C6239FF2641E}"/>
              </a:ext>
            </a:extLst>
          </p:cNvPr>
          <p:cNvSpPr/>
          <p:nvPr/>
        </p:nvSpPr>
        <p:spPr>
          <a:xfrm>
            <a:off x="933904" y="4028087"/>
            <a:ext cx="3994557" cy="136546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0" tIns="0" rIns="0" bIns="0" anchor="ctr" anchorCtr="0">
            <a:noAutofit/>
          </a:bodyPr>
          <a:lstStyle/>
          <a:p>
            <a:pPr marL="93663" marR="0" lvl="2" indent="-6350" algn="ctr" rtl="0">
              <a:lnSpc>
                <a:spcPct val="100000"/>
              </a:lnSpc>
              <a:spcBef>
                <a:spcPts val="0"/>
              </a:spcBef>
              <a:spcAft>
                <a:spcPts val="0"/>
              </a:spcAft>
              <a:buClr>
                <a:srgbClr val="000000"/>
              </a:buClr>
              <a:buSzPts val="2400"/>
              <a:buFont typeface="Arial"/>
              <a:buNone/>
            </a:pPr>
            <a:r>
              <a:rPr lang="es-ES" sz="2400" i="0" u="none" strike="noStrike" cap="none" dirty="0">
                <a:solidFill>
                  <a:schemeClr val="tx1"/>
                </a:solidFill>
                <a:ea typeface="Calibri"/>
                <a:cs typeface="Calibri"/>
                <a:sym typeface="Calibri"/>
              </a:rPr>
              <a:t>Hace que las cosas funcionen. </a:t>
            </a:r>
            <a:endParaRPr sz="1400" i="0" u="none" strike="noStrike" cap="none" dirty="0">
              <a:solidFill>
                <a:schemeClr val="tx1"/>
              </a:solidFill>
              <a:ea typeface="Arial"/>
              <a:cs typeface="Arial"/>
              <a:sym typeface="Arial"/>
            </a:endParaRPr>
          </a:p>
          <a:p>
            <a:pPr marL="93663" marR="0" lvl="2" indent="-6350" algn="ctr" rtl="0">
              <a:lnSpc>
                <a:spcPct val="100000"/>
              </a:lnSpc>
              <a:spcBef>
                <a:spcPts val="0"/>
              </a:spcBef>
              <a:spcAft>
                <a:spcPts val="0"/>
              </a:spcAft>
              <a:buClr>
                <a:srgbClr val="000000"/>
              </a:buClr>
              <a:buSzPts val="2400"/>
              <a:buFont typeface="Arial"/>
              <a:buNone/>
            </a:pPr>
            <a:r>
              <a:rPr lang="es-ES" sz="2400" i="0" u="none" strike="noStrike" cap="none" dirty="0">
                <a:solidFill>
                  <a:schemeClr val="tx1"/>
                </a:solidFill>
                <a:ea typeface="Calibri"/>
                <a:cs typeface="Calibri"/>
                <a:sym typeface="Calibri"/>
              </a:rPr>
              <a:t>Se aplican teorías, métodos y herramientas</a:t>
            </a:r>
            <a:r>
              <a:rPr lang="es-ES" sz="2000" i="0" u="none" strike="noStrike" cap="none" dirty="0">
                <a:solidFill>
                  <a:schemeClr val="tx1"/>
                </a:solidFill>
                <a:ea typeface="Calibri"/>
                <a:cs typeface="Calibri"/>
                <a:sym typeface="Calibri"/>
              </a:rPr>
              <a:t>.</a:t>
            </a:r>
            <a:endParaRPr sz="1400" i="0" u="none" strike="noStrike" cap="none" dirty="0">
              <a:solidFill>
                <a:schemeClr val="tx1"/>
              </a:solidFill>
              <a:ea typeface="Arial"/>
              <a:cs typeface="Arial"/>
              <a:sym typeface="Arial"/>
            </a:endParaRPr>
          </a:p>
        </p:txBody>
      </p:sp>
      <p:cxnSp>
        <p:nvCxnSpPr>
          <p:cNvPr id="7" name="Google Shape;518;p12">
            <a:extLst>
              <a:ext uri="{FF2B5EF4-FFF2-40B4-BE49-F238E27FC236}">
                <a16:creationId xmlns:a16="http://schemas.microsoft.com/office/drawing/2014/main" id="{90814734-5771-C1A3-88CC-85BBBC299E4B}"/>
              </a:ext>
            </a:extLst>
          </p:cNvPr>
          <p:cNvCxnSpPr>
            <a:cxnSpLocks/>
          </p:cNvCxnSpPr>
          <p:nvPr/>
        </p:nvCxnSpPr>
        <p:spPr>
          <a:xfrm flipH="1">
            <a:off x="1999281" y="2395460"/>
            <a:ext cx="1115878" cy="1632627"/>
          </a:xfrm>
          <a:prstGeom prst="straightConnector1">
            <a:avLst/>
          </a:prstGeom>
          <a:noFill/>
          <a:ln w="19050" cap="flat" cmpd="sng">
            <a:solidFill>
              <a:schemeClr val="accent1"/>
            </a:solidFill>
            <a:prstDash val="solid"/>
            <a:round/>
            <a:headEnd type="none" w="sm" len="sm"/>
            <a:tailEnd type="stealth" w="med" len="med"/>
          </a:ln>
        </p:spPr>
      </p:cxnSp>
      <p:sp>
        <p:nvSpPr>
          <p:cNvPr id="8" name="Google Shape;519;p12">
            <a:extLst>
              <a:ext uri="{FF2B5EF4-FFF2-40B4-BE49-F238E27FC236}">
                <a16:creationId xmlns:a16="http://schemas.microsoft.com/office/drawing/2014/main" id="{47AE305E-CE09-8799-12C8-6F84B6A5E8E0}"/>
              </a:ext>
            </a:extLst>
          </p:cNvPr>
          <p:cNvSpPr/>
          <p:nvPr/>
        </p:nvSpPr>
        <p:spPr>
          <a:xfrm>
            <a:off x="1571379" y="2030336"/>
            <a:ext cx="3651550" cy="365124"/>
          </a:xfrm>
          <a:prstGeom prst="rect">
            <a:avLst/>
          </a:prstGeom>
          <a:noFill/>
          <a:ln w="19050" cap="flat" cmpd="sng">
            <a:solidFill>
              <a:schemeClr val="accent2">
                <a:lumMod val="60000"/>
                <a:lumOff val="4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 name="Google Shape;517;p12">
            <a:extLst>
              <a:ext uri="{FF2B5EF4-FFF2-40B4-BE49-F238E27FC236}">
                <a16:creationId xmlns:a16="http://schemas.microsoft.com/office/drawing/2014/main" id="{3EED7A36-CC77-83D6-279F-0267B7B4385B}"/>
              </a:ext>
            </a:extLst>
          </p:cNvPr>
          <p:cNvSpPr/>
          <p:nvPr/>
        </p:nvSpPr>
        <p:spPr>
          <a:xfrm>
            <a:off x="6431797" y="3890075"/>
            <a:ext cx="4246536" cy="2305935"/>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0" tIns="0" rIns="0" bIns="0" anchor="ctr" anchorCtr="0">
            <a:noAutofit/>
          </a:bodyPr>
          <a:lstStyle/>
          <a:p>
            <a:pPr marL="93663" lvl="2" indent="-6350" algn="ctr">
              <a:spcBef>
                <a:spcPts val="0"/>
              </a:spcBef>
              <a:spcAft>
                <a:spcPts val="0"/>
              </a:spcAft>
              <a:buClr>
                <a:srgbClr val="000000"/>
              </a:buClr>
              <a:buSzPts val="2400"/>
            </a:pPr>
            <a:r>
              <a:rPr lang="es-ES" sz="2000" dirty="0">
                <a:solidFill>
                  <a:schemeClr val="tx1"/>
                </a:solidFill>
                <a:ea typeface="Calibri"/>
                <a:cs typeface="Calibri"/>
                <a:sym typeface="Calibri"/>
              </a:rPr>
              <a:t>No sólo comprende los procesos técnicos del desarrollo de software, sino también se realizan actividades como la gestión de proyectos y el desarrollo de herramientas, métodos y teorías de apoyo a la producción de software</a:t>
            </a:r>
            <a:r>
              <a:rPr lang="es-ES" i="0" u="none" strike="noStrike" cap="none" dirty="0">
                <a:solidFill>
                  <a:schemeClr val="tx1"/>
                </a:solidFill>
                <a:ea typeface="Calibri"/>
                <a:cs typeface="Calibri"/>
                <a:sym typeface="Calibri"/>
              </a:rPr>
              <a:t>.</a:t>
            </a:r>
            <a:endParaRPr sz="1200" i="0" u="none" strike="noStrike" cap="none" dirty="0">
              <a:solidFill>
                <a:schemeClr val="tx1"/>
              </a:solidFill>
              <a:ea typeface="Arial"/>
              <a:cs typeface="Arial"/>
              <a:sym typeface="Arial"/>
            </a:endParaRPr>
          </a:p>
        </p:txBody>
      </p:sp>
      <p:cxnSp>
        <p:nvCxnSpPr>
          <p:cNvPr id="13" name="Google Shape;518;p12">
            <a:extLst>
              <a:ext uri="{FF2B5EF4-FFF2-40B4-BE49-F238E27FC236}">
                <a16:creationId xmlns:a16="http://schemas.microsoft.com/office/drawing/2014/main" id="{EECF56B9-C8BC-974C-50E1-978D6BFBC5DB}"/>
              </a:ext>
            </a:extLst>
          </p:cNvPr>
          <p:cNvCxnSpPr>
            <a:cxnSpLocks/>
          </p:cNvCxnSpPr>
          <p:nvPr/>
        </p:nvCxnSpPr>
        <p:spPr>
          <a:xfrm flipH="1">
            <a:off x="9126055" y="2395460"/>
            <a:ext cx="23948" cy="1494615"/>
          </a:xfrm>
          <a:prstGeom prst="straightConnector1">
            <a:avLst/>
          </a:prstGeom>
          <a:noFill/>
          <a:ln w="19050" cap="flat" cmpd="sng">
            <a:solidFill>
              <a:schemeClr val="accent1"/>
            </a:solidFill>
            <a:prstDash val="solid"/>
            <a:round/>
            <a:headEnd type="none" w="sm" len="sm"/>
            <a:tailEnd type="stealth" w="med" len="med"/>
          </a:ln>
        </p:spPr>
      </p:cxnSp>
      <p:sp>
        <p:nvSpPr>
          <p:cNvPr id="14" name="Google Shape;519;p12">
            <a:extLst>
              <a:ext uri="{FF2B5EF4-FFF2-40B4-BE49-F238E27FC236}">
                <a16:creationId xmlns:a16="http://schemas.microsoft.com/office/drawing/2014/main" id="{4929568B-D16C-1684-1257-DF9ABAC42953}"/>
              </a:ext>
            </a:extLst>
          </p:cNvPr>
          <p:cNvSpPr/>
          <p:nvPr/>
        </p:nvSpPr>
        <p:spPr>
          <a:xfrm>
            <a:off x="7606223" y="2030336"/>
            <a:ext cx="2762143" cy="365124"/>
          </a:xfrm>
          <a:prstGeom prst="rect">
            <a:avLst/>
          </a:prstGeom>
          <a:noFill/>
          <a:ln w="19050" cap="flat" cmpd="sng">
            <a:solidFill>
              <a:schemeClr val="accent2">
                <a:lumMod val="60000"/>
                <a:lumOff val="4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015908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E7E7636-EF4E-6946-5810-9C9CFCA4FC43}"/>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3E291A95-6E8E-C728-D0FE-28E72F45436D}"/>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Ingeniería de Software </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3E3B8D8D-1936-EF31-C570-3C8DEC91B1F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B4EBC953-A20E-A67C-810E-E6CADC602052}"/>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B5D43339-52EA-D079-2898-138CC757CE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19</a:t>
            </a:fld>
            <a:endParaRPr lang="es-ES"/>
          </a:p>
        </p:txBody>
      </p:sp>
      <p:sp>
        <p:nvSpPr>
          <p:cNvPr id="6" name="Google Shape;149;g1f30b4104d4_0_0">
            <a:extLst>
              <a:ext uri="{FF2B5EF4-FFF2-40B4-BE49-F238E27FC236}">
                <a16:creationId xmlns:a16="http://schemas.microsoft.com/office/drawing/2014/main" id="{17218905-F643-9CDA-60EA-3469FBF0B9C1}"/>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La IEEE define a la Ingeniería de Software como: </a:t>
            </a: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a:p>
            <a:pPr marL="898525" indent="-449263" algn="just">
              <a:spcBef>
                <a:spcPts val="0"/>
              </a:spcBef>
              <a:spcAft>
                <a:spcPts val="0"/>
              </a:spcAft>
              <a:buClr>
                <a:srgbClr val="C00000"/>
              </a:buClr>
              <a:buSzPct val="100000"/>
              <a:buFont typeface="+mj-lt"/>
              <a:buAutoNum type="arabicPeriod"/>
            </a:pPr>
            <a:r>
              <a:rPr lang="es-ES" sz="2400" dirty="0">
                <a:latin typeface="Calibri"/>
                <a:ea typeface="Calibri"/>
                <a:cs typeface="Calibri"/>
                <a:sym typeface="Calibri"/>
              </a:rPr>
              <a:t>El uso de métodos sistemáticos, disciplinados y cuantificables para el desarrollo, operación y mantenimiento de software.</a:t>
            </a:r>
          </a:p>
          <a:p>
            <a:pPr marL="898525" indent="-449263" algn="just">
              <a:spcBef>
                <a:spcPts val="0"/>
              </a:spcBef>
              <a:spcAft>
                <a:spcPts val="0"/>
              </a:spcAft>
              <a:buClr>
                <a:srgbClr val="C00000"/>
              </a:buClr>
              <a:buSzPct val="100000"/>
              <a:buFont typeface="+mj-lt"/>
              <a:buAutoNum type="arabicPeriod"/>
            </a:pPr>
            <a:r>
              <a:rPr lang="es-ES" sz="2400" dirty="0">
                <a:latin typeface="Calibri"/>
                <a:ea typeface="Calibri"/>
                <a:cs typeface="Calibri"/>
                <a:sym typeface="Calibri"/>
              </a:rPr>
              <a:t>El estudio de técnicas relacionadas con 1</a:t>
            </a:r>
            <a:r>
              <a:rPr lang="es-ES" sz="2800" dirty="0">
                <a:latin typeface="Calibri"/>
                <a:ea typeface="Calibri"/>
                <a:cs typeface="Calibri"/>
                <a:sym typeface="Calibri"/>
              </a:rPr>
              <a:t>.</a:t>
            </a:r>
            <a:endParaRPr lang="es-ES" sz="2400" dirty="0">
              <a:latin typeface="Calibri"/>
              <a:ea typeface="Calibri"/>
              <a:cs typeface="Calibri"/>
              <a:sym typeface="Calibri"/>
            </a:endParaRPr>
          </a:p>
        </p:txBody>
      </p:sp>
    </p:spTree>
    <p:extLst>
      <p:ext uri="{BB962C8B-B14F-4D97-AF65-F5344CB8AC3E}">
        <p14:creationId xmlns:p14="http://schemas.microsoft.com/office/powerpoint/2010/main" val="3076388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C6EBBAF6-8DCA-7D4C-FB9D-191C04349134}"/>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3830F2F3-953F-1A88-7119-6179BC295358}"/>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Ingeniería de Software </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CE863B1D-0CA2-E377-7073-ADBCE7ADEFCA}"/>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11C4792-F3B2-49EA-FE67-149F177D5910}"/>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22D65EE7-D85A-DE85-BFB0-19215586C17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20</a:t>
            </a:fld>
            <a:endParaRPr lang="es-ES"/>
          </a:p>
        </p:txBody>
      </p:sp>
      <p:sp>
        <p:nvSpPr>
          <p:cNvPr id="6" name="Google Shape;149;g1f30b4104d4_0_0">
            <a:extLst>
              <a:ext uri="{FF2B5EF4-FFF2-40B4-BE49-F238E27FC236}">
                <a16:creationId xmlns:a16="http://schemas.microsoft.com/office/drawing/2014/main" id="{954A8786-852C-4F77-337E-C8393A24C7D7}"/>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Usa métodos sistemáticos cuantificables</a:t>
            </a: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endParaRPr lang="es-ES" sz="16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Dentro de tiempos y costos estimados</a:t>
            </a: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a:p>
            <a:pPr algn="just">
              <a:spcBef>
                <a:spcPts val="0"/>
              </a:spcBef>
              <a:spcAft>
                <a:spcPts val="0"/>
              </a:spcAft>
              <a:buClr>
                <a:srgbClr val="C00000"/>
              </a:buClr>
              <a:buSzPct val="100000"/>
            </a:pPr>
            <a:endParaRPr lang="es-ES" sz="12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Para el “desarrollo, operación y mantenimiento”</a:t>
            </a:r>
          </a:p>
        </p:txBody>
      </p:sp>
      <p:sp>
        <p:nvSpPr>
          <p:cNvPr id="5" name="Google Shape;517;p12">
            <a:extLst>
              <a:ext uri="{FF2B5EF4-FFF2-40B4-BE49-F238E27FC236}">
                <a16:creationId xmlns:a16="http://schemas.microsoft.com/office/drawing/2014/main" id="{6EED74B3-6ACB-EBFB-3F5C-D1235D42A81B}"/>
              </a:ext>
            </a:extLst>
          </p:cNvPr>
          <p:cNvSpPr/>
          <p:nvPr/>
        </p:nvSpPr>
        <p:spPr>
          <a:xfrm>
            <a:off x="6806410" y="1983900"/>
            <a:ext cx="4842293" cy="1445100"/>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0" tIns="0" rIns="0" bIns="0" anchor="ctr" anchorCtr="0">
            <a:noAutofit/>
          </a:bodyPr>
          <a:lstStyle/>
          <a:p>
            <a:pPr marL="93663" lvl="1" algn="just">
              <a:spcBef>
                <a:spcPts val="0"/>
              </a:spcBef>
              <a:spcAft>
                <a:spcPts val="0"/>
              </a:spcAft>
              <a:buClr>
                <a:srgbClr val="000000"/>
              </a:buClr>
              <a:buSzPts val="2000"/>
              <a:tabLst>
                <a:tab pos="4572000" algn="l"/>
              </a:tabLst>
            </a:pPr>
            <a:r>
              <a:rPr lang="es-ES" sz="1600" dirty="0">
                <a:ea typeface="Calibri"/>
                <a:cs typeface="Calibri"/>
                <a:sym typeface="Calibri"/>
              </a:rPr>
              <a:t>La cuantificación rigurosa de recursos, procesos y productos es una precondición para optimizar productividad y calidad. </a:t>
            </a:r>
          </a:p>
          <a:p>
            <a:pPr marL="93663" lvl="1" algn="just">
              <a:spcBef>
                <a:spcPts val="0"/>
              </a:spcBef>
              <a:spcAft>
                <a:spcPts val="0"/>
              </a:spcAft>
              <a:buClr>
                <a:srgbClr val="000000"/>
              </a:buClr>
              <a:buSzPts val="2000"/>
              <a:tabLst>
                <a:tab pos="4572000" algn="l"/>
              </a:tabLst>
            </a:pPr>
            <a:r>
              <a:rPr lang="es-ES" sz="1600" dirty="0">
                <a:ea typeface="Calibri"/>
                <a:cs typeface="Calibri"/>
                <a:sym typeface="Calibri"/>
              </a:rPr>
              <a:t>La “metrificación” y el control estadístico de procesos son claves en Ingeniería de Software.</a:t>
            </a:r>
            <a:endParaRPr lang="es-ES" sz="1100" dirty="0">
              <a:solidFill>
                <a:srgbClr val="000000"/>
              </a:solidFill>
              <a:latin typeface="Arial"/>
              <a:ea typeface="Arial"/>
              <a:cs typeface="Arial"/>
              <a:sym typeface="Arial"/>
            </a:endParaRPr>
          </a:p>
        </p:txBody>
      </p:sp>
      <p:sp>
        <p:nvSpPr>
          <p:cNvPr id="7" name="Google Shape;517;p12">
            <a:extLst>
              <a:ext uri="{FF2B5EF4-FFF2-40B4-BE49-F238E27FC236}">
                <a16:creationId xmlns:a16="http://schemas.microsoft.com/office/drawing/2014/main" id="{DBFC273E-CCBB-B53B-35C7-ED1A985C9A4D}"/>
              </a:ext>
            </a:extLst>
          </p:cNvPr>
          <p:cNvSpPr/>
          <p:nvPr/>
        </p:nvSpPr>
        <p:spPr>
          <a:xfrm>
            <a:off x="6806409" y="3604945"/>
            <a:ext cx="4842293" cy="114547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0" tIns="0" rIns="0" bIns="0" anchor="ctr" anchorCtr="0">
            <a:noAutofit/>
          </a:bodyPr>
          <a:lstStyle/>
          <a:p>
            <a:pPr marL="93663" lvl="1" algn="just">
              <a:spcBef>
                <a:spcPts val="0"/>
              </a:spcBef>
              <a:spcAft>
                <a:spcPts val="0"/>
              </a:spcAft>
              <a:buClr>
                <a:srgbClr val="000000"/>
              </a:buClr>
              <a:buSzPts val="2000"/>
              <a:tabLst>
                <a:tab pos="4572000" algn="l"/>
              </a:tabLst>
            </a:pPr>
            <a:r>
              <a:rPr lang="es-ES" sz="1600" dirty="0">
                <a:ea typeface="Calibri"/>
                <a:cs typeface="Calibri"/>
                <a:sym typeface="Calibri"/>
              </a:rPr>
              <a:t>Un Ingeniero de Software debe cumplir contratos en tiempo y costos como es normal en obras de Ingeniería. Ello presupone la capacidad de medir, estimar, planificar y administrar proyectos.</a:t>
            </a:r>
            <a:endParaRPr lang="es-ES" sz="1600" dirty="0">
              <a:ea typeface="Calibri"/>
              <a:cs typeface="Calibri"/>
            </a:endParaRPr>
          </a:p>
        </p:txBody>
      </p:sp>
      <p:sp>
        <p:nvSpPr>
          <p:cNvPr id="8" name="Google Shape;517;p12">
            <a:extLst>
              <a:ext uri="{FF2B5EF4-FFF2-40B4-BE49-F238E27FC236}">
                <a16:creationId xmlns:a16="http://schemas.microsoft.com/office/drawing/2014/main" id="{4736C3DC-92B9-8430-60E6-7E4688E480D4}"/>
              </a:ext>
            </a:extLst>
          </p:cNvPr>
          <p:cNvSpPr/>
          <p:nvPr/>
        </p:nvSpPr>
        <p:spPr>
          <a:xfrm>
            <a:off x="6806410" y="4975577"/>
            <a:ext cx="4842293" cy="1308020"/>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0" tIns="0" rIns="0" bIns="0" anchor="ctr" anchorCtr="0">
            <a:noAutofit/>
          </a:bodyPr>
          <a:lstStyle/>
          <a:p>
            <a:pPr marL="93663" lvl="1" algn="just">
              <a:spcBef>
                <a:spcPts val="0"/>
              </a:spcBef>
              <a:spcAft>
                <a:spcPts val="0"/>
              </a:spcAft>
              <a:buClr>
                <a:srgbClr val="000000"/>
              </a:buClr>
              <a:buSzPts val="2000"/>
              <a:tabLst>
                <a:tab pos="4572000" algn="l"/>
              </a:tabLst>
            </a:pPr>
            <a:r>
              <a:rPr lang="es-ES" sz="1600" dirty="0">
                <a:ea typeface="Calibri"/>
                <a:cs typeface="Calibri"/>
                <a:sym typeface="Calibri"/>
              </a:rPr>
              <a:t>La Ingeniería de Software se ocupa de todo el ciclo de vida de un producto, desde su etapa inicial de planificación y análisis de requerimientos hasta la estrategia para determinar cuándo y cómo debe ser retirado de servicio.</a:t>
            </a:r>
          </a:p>
        </p:txBody>
      </p:sp>
    </p:spTree>
    <p:extLst>
      <p:ext uri="{BB962C8B-B14F-4D97-AF65-F5344CB8AC3E}">
        <p14:creationId xmlns:p14="http://schemas.microsoft.com/office/powerpoint/2010/main" val="220972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7A68AD5C-5833-F592-55AA-53692349EADA}"/>
            </a:ext>
          </a:extLst>
        </p:cNvPr>
        <p:cNvGrpSpPr/>
        <p:nvPr/>
      </p:nvGrpSpPr>
      <p:grpSpPr>
        <a:xfrm>
          <a:off x="0" y="0"/>
          <a:ext cx="0" cy="0"/>
          <a:chOff x="0" y="0"/>
          <a:chExt cx="0" cy="0"/>
        </a:xfrm>
      </p:grpSpPr>
      <p:pic>
        <p:nvPicPr>
          <p:cNvPr id="10" name="Google Shape;544;p15">
            <a:extLst>
              <a:ext uri="{FF2B5EF4-FFF2-40B4-BE49-F238E27FC236}">
                <a16:creationId xmlns:a16="http://schemas.microsoft.com/office/drawing/2014/main" id="{0ECE98BD-36FE-0E63-E1C2-F869ED2CA271}"/>
              </a:ext>
            </a:extLst>
          </p:cNvPr>
          <p:cNvPicPr preferRelativeResize="0"/>
          <p:nvPr/>
        </p:nvPicPr>
        <p:blipFill rotWithShape="1">
          <a:blip r:embed="rId3">
            <a:alphaModFix/>
          </a:blip>
          <a:srcRect/>
          <a:stretch/>
        </p:blipFill>
        <p:spPr>
          <a:xfrm>
            <a:off x="7039144" y="2532024"/>
            <a:ext cx="4286079" cy="3611601"/>
          </a:xfrm>
          <a:prstGeom prst="rect">
            <a:avLst/>
          </a:prstGeom>
          <a:noFill/>
          <a:ln>
            <a:noFill/>
          </a:ln>
        </p:spPr>
      </p:pic>
      <p:sp>
        <p:nvSpPr>
          <p:cNvPr id="147" name="Google Shape;147;g1f30b4104d4_0_0">
            <a:extLst>
              <a:ext uri="{FF2B5EF4-FFF2-40B4-BE49-F238E27FC236}">
                <a16:creationId xmlns:a16="http://schemas.microsoft.com/office/drawing/2014/main" id="{23F26FCD-CB1F-4FAF-CC78-60C2CAAF5FA6}"/>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Participantes en el desarrollo de Software </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58B71B58-6BC8-D35C-D7A7-166A5C12DD0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653158D3-9EAE-D067-F071-3B8CA8E88173}"/>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F47C8584-1F7A-C13C-98E1-058A2F9EB42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21</a:t>
            </a:fld>
            <a:endParaRPr lang="es-ES"/>
          </a:p>
        </p:txBody>
      </p:sp>
      <p:sp>
        <p:nvSpPr>
          <p:cNvPr id="6" name="Google Shape;149;g1f30b4104d4_0_0">
            <a:extLst>
              <a:ext uri="{FF2B5EF4-FFF2-40B4-BE49-F238E27FC236}">
                <a16:creationId xmlns:a16="http://schemas.microsoft.com/office/drawing/2014/main" id="{470F8C00-DEB3-1FCE-8D73-501D8ADBC9F4}"/>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Gerentes ejecutivos (dueños del producto)</a:t>
            </a: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Gerente de proyecto (líder de equipo)</a:t>
            </a: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Profesionales especializados		</a:t>
            </a: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Clientes</a:t>
            </a: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Usuarios finales </a:t>
            </a:r>
          </a:p>
        </p:txBody>
      </p:sp>
      <p:sp>
        <p:nvSpPr>
          <p:cNvPr id="7" name="Google Shape;546;p15">
            <a:extLst>
              <a:ext uri="{FF2B5EF4-FFF2-40B4-BE49-F238E27FC236}">
                <a16:creationId xmlns:a16="http://schemas.microsoft.com/office/drawing/2014/main" id="{622B4B7E-587B-6612-CF36-A131185C062A}"/>
              </a:ext>
            </a:extLst>
          </p:cNvPr>
          <p:cNvSpPr/>
          <p:nvPr/>
        </p:nvSpPr>
        <p:spPr>
          <a:xfrm>
            <a:off x="6372948" y="2532024"/>
            <a:ext cx="89845" cy="614132"/>
          </a:xfrm>
          <a:prstGeom prst="rightBracket">
            <a:avLst>
              <a:gd name="adj" fmla="val 8333"/>
            </a:avLst>
          </a:prstGeom>
          <a:noFill/>
          <a:ln w="19050" cap="flat" cmpd="sng">
            <a:solidFill>
              <a:srgbClr val="8B112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 name="CuadroTexto 7">
            <a:extLst>
              <a:ext uri="{FF2B5EF4-FFF2-40B4-BE49-F238E27FC236}">
                <a16:creationId xmlns:a16="http://schemas.microsoft.com/office/drawing/2014/main" id="{D065D23F-727F-193B-D93E-4AE076500A52}"/>
              </a:ext>
            </a:extLst>
          </p:cNvPr>
          <p:cNvSpPr txBox="1"/>
          <p:nvPr/>
        </p:nvSpPr>
        <p:spPr>
          <a:xfrm>
            <a:off x="6462793" y="2654424"/>
            <a:ext cx="849913" cy="369332"/>
          </a:xfrm>
          <a:prstGeom prst="rect">
            <a:avLst/>
          </a:prstGeom>
          <a:noFill/>
        </p:spPr>
        <p:txBody>
          <a:bodyPr wrap="none" rtlCol="0">
            <a:spAutoFit/>
          </a:bodyPr>
          <a:lstStyle/>
          <a:p>
            <a:r>
              <a:rPr lang="es-ES" b="1" dirty="0"/>
              <a:t>equipo</a:t>
            </a:r>
          </a:p>
        </p:txBody>
      </p:sp>
    </p:spTree>
    <p:extLst>
      <p:ext uri="{BB962C8B-B14F-4D97-AF65-F5344CB8AC3E}">
        <p14:creationId xmlns:p14="http://schemas.microsoft.com/office/powerpoint/2010/main" val="3456495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1E261C59-1FEF-0BAD-E617-76694B044709}"/>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8F8D16E8-1A40-5149-8C85-D79A336CCC89}"/>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Un poco de historia sobre la IS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DFEE4F59-C741-8444-5930-607D5D982C70}"/>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7E90B4EE-20D7-B3C4-80A9-78129E3C3234}"/>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7D5B7638-96AC-3CF9-7216-1306C7504D1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22</a:t>
            </a:fld>
            <a:endParaRPr lang="es-ES"/>
          </a:p>
        </p:txBody>
      </p:sp>
      <p:sp>
        <p:nvSpPr>
          <p:cNvPr id="6" name="Google Shape;149;g1f30b4104d4_0_0">
            <a:extLst>
              <a:ext uri="{FF2B5EF4-FFF2-40B4-BE49-F238E27FC236}">
                <a16:creationId xmlns:a16="http://schemas.microsoft.com/office/drawing/2014/main" id="{EBC3E474-4FDB-2BBB-61A0-4BC6C6C26140}"/>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La Organización del Tratado del Atlántico Norte (OTAN) organizó un par de conferencias que tuvieron carácter fundacional para la </a:t>
            </a:r>
            <a:r>
              <a:rPr lang="es-ES" sz="2800" b="1" i="1" dirty="0">
                <a:latin typeface="Calibri"/>
                <a:ea typeface="Calibri"/>
                <a:cs typeface="Calibri"/>
                <a:sym typeface="Calibri"/>
              </a:rPr>
              <a:t>Ingeniería de Software </a:t>
            </a:r>
            <a:r>
              <a:rPr lang="es-ES" sz="2800" dirty="0">
                <a:latin typeface="Calibri"/>
                <a:ea typeface="Calibri"/>
                <a:cs typeface="Calibri"/>
                <a:sym typeface="Calibri"/>
              </a:rPr>
              <a:t>(</a:t>
            </a:r>
            <a:r>
              <a:rPr lang="es-ES" sz="2800" dirty="0" err="1">
                <a:latin typeface="Calibri"/>
                <a:ea typeface="Calibri"/>
                <a:cs typeface="Calibri"/>
                <a:sym typeface="Calibri"/>
              </a:rPr>
              <a:t>Garmish</a:t>
            </a:r>
            <a:r>
              <a:rPr lang="es-ES" sz="2800" dirty="0">
                <a:latin typeface="Calibri"/>
                <a:ea typeface="Calibri"/>
                <a:cs typeface="Calibri"/>
                <a:sym typeface="Calibri"/>
              </a:rPr>
              <a:t> 1968 y Roma 1969).</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Propósito: </a:t>
            </a:r>
          </a:p>
          <a:p>
            <a:pPr marL="712788" indent="-263525"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Identificar la raíz de los problemas de la industria del software.</a:t>
            </a:r>
          </a:p>
          <a:p>
            <a:pPr marL="712788" indent="-263525"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Sentar las bases de procesos sistemáticos, repetibles y confiables. </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Se comenzó a utilizar la expresión “Ingeniería de Software”</a:t>
            </a:r>
          </a:p>
        </p:txBody>
      </p:sp>
    </p:spTree>
    <p:extLst>
      <p:ext uri="{BB962C8B-B14F-4D97-AF65-F5344CB8AC3E}">
        <p14:creationId xmlns:p14="http://schemas.microsoft.com/office/powerpoint/2010/main" val="35146782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48461874-E6D1-0586-6CAF-DE7B88F50A74}"/>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DAD68CFF-6A90-CC53-ADFA-9BBD47F61FB9}"/>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Un poco de historia sobre la IS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04D5C985-3B0D-7B97-779C-61EEB667540B}"/>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F09C941-DB7F-88DF-EDF7-C70A35B41411}"/>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C028C44D-1592-230E-E511-4BE78F8E058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23</a:t>
            </a:fld>
            <a:endParaRPr lang="es-ES"/>
          </a:p>
        </p:txBody>
      </p:sp>
      <p:sp>
        <p:nvSpPr>
          <p:cNvPr id="5" name="Google Shape;564;p17">
            <a:extLst>
              <a:ext uri="{FF2B5EF4-FFF2-40B4-BE49-F238E27FC236}">
                <a16:creationId xmlns:a16="http://schemas.microsoft.com/office/drawing/2014/main" id="{78BEE16B-4B57-A4B5-04E8-B739C525BD30}"/>
              </a:ext>
            </a:extLst>
          </p:cNvPr>
          <p:cNvSpPr/>
          <p:nvPr/>
        </p:nvSpPr>
        <p:spPr>
          <a:xfrm>
            <a:off x="318468" y="1766808"/>
            <a:ext cx="7027729" cy="1549830"/>
          </a:xfrm>
          <a:prstGeom prst="roundRect">
            <a:avLst>
              <a:gd name="adj" fmla="val 16667"/>
            </a:avLst>
          </a:prstGeom>
          <a:ln>
            <a:headEnd type="none" w="sm" len="sm"/>
            <a:tailEnd type="none" w="sm" len="sm"/>
          </a:ln>
        </p:spPr>
        <p:style>
          <a:lnRef idx="1">
            <a:schemeClr val="accent5"/>
          </a:lnRef>
          <a:fillRef idx="2">
            <a:schemeClr val="accent5"/>
          </a:fillRef>
          <a:effectRef idx="1">
            <a:schemeClr val="accent5"/>
          </a:effectRef>
          <a:fontRef idx="minor">
            <a:schemeClr val="dk1"/>
          </a:fontRef>
        </p:style>
        <p:txBody>
          <a:bodyPr spcFirstLastPara="1" wrap="square" lIns="91425" tIns="45700" rIns="91425" bIns="45700" anchor="ctr" anchorCtr="0">
            <a:noAutofit/>
          </a:bodyPr>
          <a:lstStyle/>
          <a:p>
            <a:pPr marL="93663" marR="0" lvl="7" algn="just" rtl="0">
              <a:lnSpc>
                <a:spcPct val="100000"/>
              </a:lnSpc>
              <a:spcBef>
                <a:spcPts val="0"/>
              </a:spcBef>
              <a:spcAft>
                <a:spcPts val="0"/>
              </a:spcAft>
              <a:buClr>
                <a:srgbClr val="000000"/>
              </a:buClr>
              <a:buSzPts val="1550"/>
              <a:buFont typeface="Arial"/>
              <a:buNone/>
            </a:pPr>
            <a:r>
              <a:rPr lang="es-ES" b="1" i="0" u="none" strike="noStrike" cap="none" dirty="0">
                <a:solidFill>
                  <a:schemeClr val="tx1"/>
                </a:solidFill>
                <a:ea typeface="Calibri"/>
                <a:cs typeface="Calibri"/>
                <a:sym typeface="Calibri"/>
              </a:rPr>
              <a:t>Los años 60 a 80: maduración</a:t>
            </a:r>
            <a:endParaRPr b="1" i="0" u="none" strike="noStrike" cap="none" dirty="0">
              <a:solidFill>
                <a:schemeClr val="tx1"/>
              </a:solidFill>
              <a:ea typeface="Arial"/>
              <a:cs typeface="Arial"/>
              <a:sym typeface="Arial"/>
            </a:endParaRPr>
          </a:p>
          <a:p>
            <a:pPr marL="93663" marR="0" lvl="8" algn="just" rtl="0">
              <a:lnSpc>
                <a:spcPct val="100000"/>
              </a:lnSpc>
              <a:spcBef>
                <a:spcPts val="0"/>
              </a:spcBef>
              <a:spcAft>
                <a:spcPts val="0"/>
              </a:spcAft>
              <a:buClr>
                <a:srgbClr val="000000"/>
              </a:buClr>
              <a:buSzPts val="1550"/>
              <a:buFont typeface="Arial"/>
              <a:buNone/>
            </a:pPr>
            <a:r>
              <a:rPr lang="es-ES" b="0" i="0" u="none" strike="noStrike" cap="none" dirty="0">
                <a:solidFill>
                  <a:schemeClr val="tx1"/>
                </a:solidFill>
                <a:ea typeface="Calibri"/>
                <a:cs typeface="Calibri"/>
                <a:sym typeface="Calibri"/>
              </a:rPr>
              <a:t>Programación modular, con ideas de acoplamiento y cohesión. Y surge un enfoque más formal, la Programación estructurada.</a:t>
            </a:r>
            <a:endParaRPr b="0" i="0" u="none" strike="noStrike" cap="none" dirty="0">
              <a:solidFill>
                <a:schemeClr val="tx1"/>
              </a:solidFill>
              <a:ea typeface="Arial"/>
              <a:cs typeface="Arial"/>
              <a:sym typeface="Arial"/>
            </a:endParaRPr>
          </a:p>
          <a:p>
            <a:pPr marL="93663" marR="0" lvl="8" algn="just" rtl="0">
              <a:lnSpc>
                <a:spcPct val="100000"/>
              </a:lnSpc>
              <a:spcBef>
                <a:spcPts val="0"/>
              </a:spcBef>
              <a:spcAft>
                <a:spcPts val="0"/>
              </a:spcAft>
              <a:buClr>
                <a:srgbClr val="000000"/>
              </a:buClr>
              <a:buSzPts val="1550"/>
              <a:buFont typeface="Arial"/>
              <a:buNone/>
            </a:pPr>
            <a:r>
              <a:rPr lang="es-ES" b="0" i="0" u="none" strike="noStrike" cap="none" dirty="0">
                <a:solidFill>
                  <a:schemeClr val="tx1"/>
                </a:solidFill>
                <a:ea typeface="Calibri"/>
                <a:cs typeface="Calibri"/>
                <a:sym typeface="Calibri"/>
              </a:rPr>
              <a:t>Surge el desarrollo en cascada y hay ideas incipientes de </a:t>
            </a:r>
            <a:r>
              <a:rPr lang="es-ES" b="0" i="0" u="none" strike="noStrike" cap="none" dirty="0" err="1">
                <a:solidFill>
                  <a:schemeClr val="tx1"/>
                </a:solidFill>
                <a:ea typeface="Calibri"/>
                <a:cs typeface="Calibri"/>
                <a:sym typeface="Calibri"/>
              </a:rPr>
              <a:t>prototipacion</a:t>
            </a:r>
            <a:r>
              <a:rPr lang="es-ES" b="0" i="0" u="none" strike="noStrike" cap="none" dirty="0">
                <a:solidFill>
                  <a:schemeClr val="tx1"/>
                </a:solidFill>
                <a:ea typeface="Calibri"/>
                <a:cs typeface="Calibri"/>
                <a:sym typeface="Calibri"/>
              </a:rPr>
              <a:t>.</a:t>
            </a:r>
            <a:endParaRPr b="0" i="0" u="none" strike="noStrike" cap="none" dirty="0">
              <a:solidFill>
                <a:schemeClr val="tx1"/>
              </a:solidFill>
              <a:ea typeface="Arial"/>
              <a:cs typeface="Arial"/>
              <a:sym typeface="Arial"/>
            </a:endParaRPr>
          </a:p>
        </p:txBody>
      </p:sp>
      <p:pic>
        <p:nvPicPr>
          <p:cNvPr id="7" name="Google Shape;568;p17">
            <a:extLst>
              <a:ext uri="{FF2B5EF4-FFF2-40B4-BE49-F238E27FC236}">
                <a16:creationId xmlns:a16="http://schemas.microsoft.com/office/drawing/2014/main" id="{FB82D38F-DFC0-F2F8-B0EB-CDBF23CE0B07}"/>
              </a:ext>
            </a:extLst>
          </p:cNvPr>
          <p:cNvPicPr preferRelativeResize="0"/>
          <p:nvPr/>
        </p:nvPicPr>
        <p:blipFill rotWithShape="1">
          <a:blip r:embed="rId3">
            <a:alphaModFix/>
          </a:blip>
          <a:srcRect t="2620"/>
          <a:stretch/>
        </p:blipFill>
        <p:spPr>
          <a:xfrm>
            <a:off x="7503830" y="1901985"/>
            <a:ext cx="4114067" cy="2417461"/>
          </a:xfrm>
          <a:prstGeom prst="rect">
            <a:avLst/>
          </a:prstGeom>
          <a:noFill/>
          <a:ln>
            <a:noFill/>
          </a:ln>
        </p:spPr>
      </p:pic>
      <p:sp>
        <p:nvSpPr>
          <p:cNvPr id="8" name="Google Shape;564;p17">
            <a:extLst>
              <a:ext uri="{FF2B5EF4-FFF2-40B4-BE49-F238E27FC236}">
                <a16:creationId xmlns:a16="http://schemas.microsoft.com/office/drawing/2014/main" id="{C3DD15F2-3083-6BAF-B4D2-93A9A3EBAE18}"/>
              </a:ext>
            </a:extLst>
          </p:cNvPr>
          <p:cNvSpPr/>
          <p:nvPr/>
        </p:nvSpPr>
        <p:spPr>
          <a:xfrm>
            <a:off x="592320" y="2329947"/>
            <a:ext cx="7027729" cy="2288547"/>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93663" lvl="8" algn="just">
              <a:buClr>
                <a:srgbClr val="000000"/>
              </a:buClr>
              <a:buSzPts val="1550"/>
            </a:pPr>
            <a:r>
              <a:rPr lang="es-ES" b="1" dirty="0">
                <a:solidFill>
                  <a:schemeClr val="tx1"/>
                </a:solidFill>
                <a:ea typeface="Calibri"/>
                <a:cs typeface="Calibri"/>
                <a:sym typeface="Calibri"/>
              </a:rPr>
              <a:t>Los años 80 a 90: edad de oro</a:t>
            </a:r>
          </a:p>
          <a:p>
            <a:pPr marL="93663" lvl="8" algn="just">
              <a:buClr>
                <a:srgbClr val="000000"/>
              </a:buClr>
              <a:buSzPts val="1550"/>
            </a:pPr>
            <a:r>
              <a:rPr lang="es-ES" dirty="0">
                <a:solidFill>
                  <a:schemeClr val="tx1"/>
                </a:solidFill>
                <a:ea typeface="Calibri"/>
                <a:cs typeface="Calibri"/>
                <a:sym typeface="Calibri"/>
              </a:rPr>
              <a:t>Surgen los primeros problemas de calidad con el surgimiento de la globalización del software y sistemas distribuidos.</a:t>
            </a:r>
          </a:p>
          <a:p>
            <a:pPr marL="93663" lvl="8" algn="just">
              <a:buClr>
                <a:srgbClr val="000000"/>
              </a:buClr>
              <a:buSzPts val="1550"/>
            </a:pPr>
            <a:r>
              <a:rPr lang="es-ES" dirty="0">
                <a:solidFill>
                  <a:schemeClr val="tx1"/>
                </a:solidFill>
                <a:ea typeface="Calibri"/>
                <a:cs typeface="Calibri"/>
                <a:sym typeface="Calibri"/>
              </a:rPr>
              <a:t>Con las ideas de programación orientada a objetos, surgen nuevos lenguajes, y la metodología estructurada pasa a competir con el desarrollo orientado a objetos.</a:t>
            </a:r>
          </a:p>
          <a:p>
            <a:pPr marL="93663" lvl="8" algn="just">
              <a:buClr>
                <a:srgbClr val="000000"/>
              </a:buClr>
              <a:buSzPts val="1550"/>
            </a:pPr>
            <a:r>
              <a:rPr lang="es-ES" dirty="0">
                <a:solidFill>
                  <a:schemeClr val="tx1"/>
                </a:solidFill>
                <a:ea typeface="Calibri"/>
                <a:cs typeface="Calibri"/>
                <a:sym typeface="Calibri"/>
              </a:rPr>
              <a:t>Surge la ingeniería basada en componentes</a:t>
            </a:r>
            <a:r>
              <a:rPr lang="es-ES" b="0" i="0" u="none" strike="noStrike" cap="none" dirty="0">
                <a:solidFill>
                  <a:schemeClr val="tx1"/>
                </a:solidFill>
                <a:ea typeface="Calibri"/>
                <a:cs typeface="Calibri"/>
                <a:sym typeface="Calibri"/>
              </a:rPr>
              <a:t>.</a:t>
            </a:r>
            <a:endParaRPr b="0" i="0" u="none" strike="noStrike" cap="none" dirty="0">
              <a:solidFill>
                <a:schemeClr val="tx1"/>
              </a:solidFill>
              <a:ea typeface="Arial"/>
              <a:cs typeface="Arial"/>
              <a:sym typeface="Arial"/>
            </a:endParaRPr>
          </a:p>
        </p:txBody>
      </p:sp>
      <p:pic>
        <p:nvPicPr>
          <p:cNvPr id="9" name="Google Shape;569;p17">
            <a:extLst>
              <a:ext uri="{FF2B5EF4-FFF2-40B4-BE49-F238E27FC236}">
                <a16:creationId xmlns:a16="http://schemas.microsoft.com/office/drawing/2014/main" id="{7D7A7649-AF2B-3C82-25FA-3F6E19132B50}"/>
              </a:ext>
            </a:extLst>
          </p:cNvPr>
          <p:cNvPicPr preferRelativeResize="0"/>
          <p:nvPr/>
        </p:nvPicPr>
        <p:blipFill rotWithShape="1">
          <a:blip r:embed="rId4">
            <a:alphaModFix/>
          </a:blip>
          <a:srcRect/>
          <a:stretch/>
        </p:blipFill>
        <p:spPr>
          <a:xfrm>
            <a:off x="7777682" y="2220269"/>
            <a:ext cx="3223281" cy="2417461"/>
          </a:xfrm>
          <a:prstGeom prst="rect">
            <a:avLst/>
          </a:prstGeom>
          <a:noFill/>
          <a:ln>
            <a:noFill/>
          </a:ln>
        </p:spPr>
      </p:pic>
      <p:sp>
        <p:nvSpPr>
          <p:cNvPr id="10" name="Google Shape;564;p17">
            <a:extLst>
              <a:ext uri="{FF2B5EF4-FFF2-40B4-BE49-F238E27FC236}">
                <a16:creationId xmlns:a16="http://schemas.microsoft.com/office/drawing/2014/main" id="{32357FA1-7B20-9CF2-D2F2-4F76D80DC8CA}"/>
              </a:ext>
            </a:extLst>
          </p:cNvPr>
          <p:cNvSpPr/>
          <p:nvPr/>
        </p:nvSpPr>
        <p:spPr>
          <a:xfrm>
            <a:off x="866172" y="2849900"/>
            <a:ext cx="7027729" cy="2288547"/>
          </a:xfrm>
          <a:prstGeom prst="roundRect">
            <a:avLst>
              <a:gd name="adj" fmla="val 16667"/>
            </a:avLst>
          </a:pr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45700" rIns="91425" bIns="45700" anchor="ctr" anchorCtr="0">
            <a:noAutofit/>
          </a:bodyPr>
          <a:lstStyle/>
          <a:p>
            <a:pPr marL="93663" lvl="8" algn="just">
              <a:buClr>
                <a:srgbClr val="000000"/>
              </a:buClr>
              <a:buSzPts val="1550"/>
            </a:pPr>
            <a:r>
              <a:rPr lang="es-ES" b="1" dirty="0">
                <a:solidFill>
                  <a:schemeClr val="tx1"/>
                </a:solidFill>
                <a:ea typeface="Calibri"/>
                <a:cs typeface="Calibri"/>
                <a:sym typeface="Calibri"/>
              </a:rPr>
              <a:t>Los años 90 y el milenio: era de la disrupción </a:t>
            </a:r>
          </a:p>
          <a:p>
            <a:pPr marL="93663" lvl="8" algn="just">
              <a:buClr>
                <a:srgbClr val="000000"/>
              </a:buClr>
              <a:buSzPts val="1550"/>
            </a:pPr>
            <a:r>
              <a:rPr lang="es-ES" dirty="0">
                <a:solidFill>
                  <a:schemeClr val="tx1"/>
                </a:solidFill>
                <a:ea typeface="Calibri"/>
                <a:cs typeface="Calibri"/>
                <a:sym typeface="Calibri"/>
              </a:rPr>
              <a:t>El cambio surge con Internet. </a:t>
            </a:r>
          </a:p>
          <a:p>
            <a:pPr marL="93663" lvl="8" algn="just">
              <a:buClr>
                <a:srgbClr val="000000"/>
              </a:buClr>
              <a:buSzPts val="1550"/>
            </a:pPr>
            <a:r>
              <a:rPr lang="es-ES" dirty="0">
                <a:solidFill>
                  <a:schemeClr val="tx1"/>
                </a:solidFill>
                <a:ea typeface="Calibri"/>
                <a:cs typeface="Calibri"/>
                <a:sym typeface="Calibri"/>
              </a:rPr>
              <a:t>La integración continua con desarrollo incremental e iterativo se convierte en norma. Los patrones influyen en la generación del desarrollo de software. Surgen las bases de código abierto.</a:t>
            </a:r>
          </a:p>
          <a:p>
            <a:pPr marL="93663" lvl="8" algn="just">
              <a:buClr>
                <a:srgbClr val="000000"/>
              </a:buClr>
              <a:buSzPts val="1550"/>
            </a:pPr>
            <a:r>
              <a:rPr lang="es-ES" dirty="0">
                <a:solidFill>
                  <a:schemeClr val="tx1"/>
                </a:solidFill>
                <a:ea typeface="Calibri"/>
                <a:cs typeface="Calibri"/>
                <a:sym typeface="Calibri"/>
              </a:rPr>
              <a:t>Los dispositivos móviles aparecen en escena y el mundo cambia nuevamente. Surgen las Metodologías ágiles</a:t>
            </a:r>
            <a:r>
              <a:rPr lang="es-ES" b="0" i="0" u="none" strike="noStrike" cap="none" dirty="0">
                <a:solidFill>
                  <a:schemeClr val="tx1"/>
                </a:solidFill>
                <a:ea typeface="Calibri"/>
                <a:cs typeface="Calibri"/>
                <a:sym typeface="Calibri"/>
              </a:rPr>
              <a:t>.</a:t>
            </a:r>
            <a:endParaRPr b="0" i="0" u="none" strike="noStrike" cap="none" dirty="0">
              <a:solidFill>
                <a:schemeClr val="tx1"/>
              </a:solidFill>
              <a:ea typeface="Arial"/>
              <a:cs typeface="Arial"/>
              <a:sym typeface="Arial"/>
            </a:endParaRPr>
          </a:p>
        </p:txBody>
      </p:sp>
      <p:pic>
        <p:nvPicPr>
          <p:cNvPr id="11" name="Google Shape;570;p17">
            <a:extLst>
              <a:ext uri="{FF2B5EF4-FFF2-40B4-BE49-F238E27FC236}">
                <a16:creationId xmlns:a16="http://schemas.microsoft.com/office/drawing/2014/main" id="{A9F903BC-F85A-7892-C8CE-00881D485AA2}"/>
              </a:ext>
            </a:extLst>
          </p:cNvPr>
          <p:cNvPicPr preferRelativeResize="0"/>
          <p:nvPr/>
        </p:nvPicPr>
        <p:blipFill rotWithShape="1">
          <a:blip r:embed="rId5">
            <a:alphaModFix/>
          </a:blip>
          <a:srcRect/>
          <a:stretch/>
        </p:blipFill>
        <p:spPr>
          <a:xfrm>
            <a:off x="8051534" y="2914287"/>
            <a:ext cx="3558802" cy="2316063"/>
          </a:xfrm>
          <a:prstGeom prst="rect">
            <a:avLst/>
          </a:prstGeom>
          <a:noFill/>
          <a:ln>
            <a:noFill/>
          </a:ln>
        </p:spPr>
      </p:pic>
      <p:sp>
        <p:nvSpPr>
          <p:cNvPr id="12" name="Google Shape;564;p17">
            <a:extLst>
              <a:ext uri="{FF2B5EF4-FFF2-40B4-BE49-F238E27FC236}">
                <a16:creationId xmlns:a16="http://schemas.microsoft.com/office/drawing/2014/main" id="{2FB21B88-A254-E55D-F6C8-1311FEF2DEBD}"/>
              </a:ext>
            </a:extLst>
          </p:cNvPr>
          <p:cNvSpPr/>
          <p:nvPr/>
        </p:nvSpPr>
        <p:spPr>
          <a:xfrm>
            <a:off x="1140024" y="3401553"/>
            <a:ext cx="7027729" cy="2288547"/>
          </a:xfrm>
          <a:prstGeom prst="roundRect">
            <a:avLst>
              <a:gd name="adj" fmla="val 16667"/>
            </a:avLst>
          </a:prstGeom>
          <a:ln>
            <a:headEnd type="none" w="sm" len="sm"/>
            <a:tailEnd type="none" w="sm" len="sm"/>
          </a:ln>
        </p:spPr>
        <p:style>
          <a:lnRef idx="1">
            <a:schemeClr val="accent3"/>
          </a:lnRef>
          <a:fillRef idx="2">
            <a:schemeClr val="accent3"/>
          </a:fillRef>
          <a:effectRef idx="1">
            <a:schemeClr val="accent3"/>
          </a:effectRef>
          <a:fontRef idx="minor">
            <a:schemeClr val="dk1"/>
          </a:fontRef>
        </p:style>
        <p:txBody>
          <a:bodyPr spcFirstLastPara="1" wrap="square" lIns="91425" tIns="45700" rIns="91425" bIns="45700" anchor="ctr" anchorCtr="0">
            <a:noAutofit/>
          </a:bodyPr>
          <a:lstStyle/>
          <a:p>
            <a:pPr marL="93663" lvl="8" algn="just">
              <a:buClr>
                <a:srgbClr val="000000"/>
              </a:buClr>
              <a:buSzPts val="1550"/>
            </a:pPr>
            <a:r>
              <a:rPr lang="es-ES" b="1" dirty="0">
                <a:solidFill>
                  <a:schemeClr val="tx1"/>
                </a:solidFill>
                <a:ea typeface="Calibri"/>
                <a:cs typeface="Calibri"/>
                <a:sym typeface="Calibri"/>
              </a:rPr>
              <a:t>La actualidad: Big Data e IA</a:t>
            </a:r>
          </a:p>
          <a:p>
            <a:pPr marL="93663" lvl="8" algn="just">
              <a:buClr>
                <a:srgbClr val="000000"/>
              </a:buClr>
              <a:buSzPts val="1550"/>
            </a:pPr>
            <a:r>
              <a:rPr lang="es-ES" dirty="0">
                <a:solidFill>
                  <a:schemeClr val="tx1"/>
                </a:solidFill>
                <a:ea typeface="Calibri"/>
                <a:cs typeface="Calibri"/>
                <a:sym typeface="Calibri"/>
              </a:rPr>
              <a:t>Los fundamentos de la Inteligencia Artificial existen desde hace décadas. El gran cambio se produjo con el crecimiento de la cantidad de datos disponibles y la capacidad para procesarlos. </a:t>
            </a:r>
          </a:p>
          <a:p>
            <a:pPr marL="93663" lvl="8" algn="just">
              <a:buClr>
                <a:srgbClr val="000000"/>
              </a:buClr>
              <a:buSzPts val="1550"/>
            </a:pPr>
            <a:r>
              <a:rPr lang="es-ES" dirty="0">
                <a:solidFill>
                  <a:schemeClr val="tx1"/>
                </a:solidFill>
                <a:ea typeface="Calibri"/>
                <a:cs typeface="Calibri"/>
                <a:sym typeface="Calibri"/>
              </a:rPr>
              <a:t>Esto permitió desarrollar y aplicar con mayor eficacia los enfoques estadísticos y las redes neuronales, impulsando el avance de la IA en distintas áreas.</a:t>
            </a:r>
          </a:p>
        </p:txBody>
      </p:sp>
      <p:pic>
        <p:nvPicPr>
          <p:cNvPr id="13" name="Google Shape;571;p17">
            <a:extLst>
              <a:ext uri="{FF2B5EF4-FFF2-40B4-BE49-F238E27FC236}">
                <a16:creationId xmlns:a16="http://schemas.microsoft.com/office/drawing/2014/main" id="{E2FC4D97-78F3-B3DD-261B-8E05DE22F7E4}"/>
              </a:ext>
            </a:extLst>
          </p:cNvPr>
          <p:cNvPicPr preferRelativeResize="0"/>
          <p:nvPr/>
        </p:nvPicPr>
        <p:blipFill rotWithShape="1">
          <a:blip r:embed="rId6">
            <a:alphaModFix/>
          </a:blip>
          <a:srcRect l="9285" t="9664" r="10825" b="4909"/>
          <a:stretch/>
        </p:blipFill>
        <p:spPr>
          <a:xfrm>
            <a:off x="8325386" y="3578372"/>
            <a:ext cx="3836889" cy="2288547"/>
          </a:xfrm>
          <a:prstGeom prst="rect">
            <a:avLst/>
          </a:prstGeom>
          <a:noFill/>
          <a:ln>
            <a:noFill/>
          </a:ln>
        </p:spPr>
      </p:pic>
      <p:sp>
        <p:nvSpPr>
          <p:cNvPr id="14" name="Google Shape;573;p17">
            <a:extLst>
              <a:ext uri="{FF2B5EF4-FFF2-40B4-BE49-F238E27FC236}">
                <a16:creationId xmlns:a16="http://schemas.microsoft.com/office/drawing/2014/main" id="{31DB0255-788F-24AB-355E-C6A4DB8BB0FE}"/>
              </a:ext>
            </a:extLst>
          </p:cNvPr>
          <p:cNvSpPr/>
          <p:nvPr/>
        </p:nvSpPr>
        <p:spPr>
          <a:xfrm>
            <a:off x="2194490" y="2130136"/>
            <a:ext cx="7852232" cy="3476310"/>
          </a:xfrm>
          <a:prstGeom prst="roundRect">
            <a:avLst>
              <a:gd name="adj" fmla="val 18004"/>
            </a:avLst>
          </a:prstGeom>
          <a:solidFill>
            <a:schemeClr val="accent2"/>
          </a:solidFill>
          <a:ln w="15875" cap="flat" cmpd="sng">
            <a:solidFill>
              <a:srgbClr val="3D5459"/>
            </a:solidFill>
            <a:prstDash val="solid"/>
            <a:round/>
            <a:headEnd type="none" w="sm" len="sm"/>
            <a:tailEnd type="none" w="sm" len="sm"/>
          </a:ln>
        </p:spPr>
        <p:txBody>
          <a:bodyPr spcFirstLastPara="1" wrap="square" lIns="91425" tIns="45700" rIns="91425" bIns="45700" anchor="ctr" anchorCtr="0">
            <a:noAutofit/>
          </a:bodyPr>
          <a:lstStyle/>
          <a:p>
            <a:pPr marL="263525" marR="0" lvl="1" algn="just" rtl="0">
              <a:lnSpc>
                <a:spcPct val="100000"/>
              </a:lnSpc>
              <a:spcBef>
                <a:spcPts val="0"/>
              </a:spcBef>
              <a:spcAft>
                <a:spcPts val="0"/>
              </a:spcAft>
              <a:buClr>
                <a:srgbClr val="000000"/>
              </a:buClr>
              <a:buSzPts val="1600"/>
              <a:buFont typeface="Arial"/>
              <a:buNone/>
              <a:tabLst>
                <a:tab pos="0" algn="l"/>
              </a:tabLst>
            </a:pPr>
            <a:r>
              <a:rPr lang="es-ES" sz="2200" b="0" i="0" u="none" strike="noStrike" cap="none" dirty="0">
                <a:solidFill>
                  <a:schemeClr val="lt1"/>
                </a:solidFill>
                <a:latin typeface="+mn-lt"/>
                <a:ea typeface="Calibri"/>
                <a:cs typeface="Calibri"/>
                <a:sym typeface="Calibri"/>
              </a:rPr>
              <a:t>Las preguntas que surgen son:</a:t>
            </a:r>
          </a:p>
          <a:p>
            <a:pPr marL="263525" marR="0" lvl="1" algn="just" rtl="0">
              <a:lnSpc>
                <a:spcPct val="100000"/>
              </a:lnSpc>
              <a:spcBef>
                <a:spcPts val="0"/>
              </a:spcBef>
              <a:spcAft>
                <a:spcPts val="0"/>
              </a:spcAft>
              <a:buClr>
                <a:srgbClr val="000000"/>
              </a:buClr>
              <a:buSzPts val="1600"/>
              <a:buFont typeface="Arial"/>
              <a:buNone/>
              <a:tabLst>
                <a:tab pos="0" algn="l"/>
              </a:tabLst>
            </a:pPr>
            <a:endParaRPr sz="2200" b="0" i="0" u="none" strike="noStrike" cap="none" dirty="0">
              <a:solidFill>
                <a:srgbClr val="000000"/>
              </a:solidFill>
              <a:latin typeface="+mn-lt"/>
              <a:ea typeface="Arial"/>
              <a:cs typeface="Arial"/>
              <a:sym typeface="Arial"/>
            </a:endParaRPr>
          </a:p>
          <a:p>
            <a:pPr marL="606425" marR="0" lvl="3" indent="-342900" algn="just" rtl="0">
              <a:lnSpc>
                <a:spcPct val="100000"/>
              </a:lnSpc>
              <a:spcBef>
                <a:spcPts val="0"/>
              </a:spcBef>
              <a:spcAft>
                <a:spcPts val="0"/>
              </a:spcAft>
              <a:buClr>
                <a:schemeClr val="bg1"/>
              </a:buClr>
              <a:buSzPct val="100000"/>
              <a:buFont typeface="Courier New" panose="02070309020205020404" pitchFamily="49" charset="0"/>
              <a:buChar char="o"/>
              <a:tabLst>
                <a:tab pos="0" algn="l"/>
              </a:tabLst>
            </a:pPr>
            <a:r>
              <a:rPr lang="es-ES" sz="2200" b="0" i="0" u="none" strike="noStrike" cap="none" dirty="0">
                <a:solidFill>
                  <a:schemeClr val="lt1"/>
                </a:solidFill>
                <a:latin typeface="+mn-lt"/>
                <a:ea typeface="Calibri"/>
                <a:cs typeface="Calibri"/>
                <a:sym typeface="Calibri"/>
              </a:rPr>
              <a:t>¿Cómo puede afectar IA al proceso de Ingeniería de Software? </a:t>
            </a:r>
            <a:endParaRPr sz="2200" b="0" i="0" u="none" strike="noStrike" cap="none" dirty="0">
              <a:solidFill>
                <a:srgbClr val="000000"/>
              </a:solidFill>
              <a:latin typeface="+mn-lt"/>
              <a:ea typeface="Arial"/>
              <a:cs typeface="Arial"/>
              <a:sym typeface="Arial"/>
            </a:endParaRPr>
          </a:p>
          <a:p>
            <a:pPr marL="606425" marR="0" lvl="3" indent="-342900" algn="just" rtl="0">
              <a:lnSpc>
                <a:spcPct val="100000"/>
              </a:lnSpc>
              <a:spcBef>
                <a:spcPts val="0"/>
              </a:spcBef>
              <a:spcAft>
                <a:spcPts val="0"/>
              </a:spcAft>
              <a:buClr>
                <a:schemeClr val="bg1"/>
              </a:buClr>
              <a:buSzPct val="100000"/>
              <a:buFont typeface="Courier New" panose="02070309020205020404" pitchFamily="49" charset="0"/>
              <a:buChar char="o"/>
              <a:tabLst>
                <a:tab pos="0" algn="l"/>
              </a:tabLst>
            </a:pPr>
            <a:r>
              <a:rPr lang="es-ES" sz="2200" b="0" i="0" u="none" strike="noStrike" cap="none" dirty="0">
                <a:solidFill>
                  <a:schemeClr val="lt1"/>
                </a:solidFill>
                <a:latin typeface="+mn-lt"/>
                <a:ea typeface="Calibri"/>
                <a:cs typeface="Calibri"/>
                <a:sym typeface="Calibri"/>
              </a:rPr>
              <a:t>¿Cuál es el mejor ciclo de vida para sistemas cuyos componentes no programamos? </a:t>
            </a:r>
            <a:endParaRPr sz="2200" b="0" i="0" u="none" strike="noStrike" cap="none" dirty="0">
              <a:solidFill>
                <a:srgbClr val="000000"/>
              </a:solidFill>
              <a:latin typeface="+mn-lt"/>
              <a:ea typeface="Arial"/>
              <a:cs typeface="Arial"/>
              <a:sym typeface="Arial"/>
            </a:endParaRPr>
          </a:p>
          <a:p>
            <a:pPr marL="606425" marR="0" lvl="3" indent="-342900" algn="just" rtl="0">
              <a:lnSpc>
                <a:spcPct val="100000"/>
              </a:lnSpc>
              <a:spcBef>
                <a:spcPts val="0"/>
              </a:spcBef>
              <a:spcAft>
                <a:spcPts val="0"/>
              </a:spcAft>
              <a:buClr>
                <a:schemeClr val="bg1"/>
              </a:buClr>
              <a:buSzPct val="100000"/>
              <a:buFont typeface="Courier New" panose="02070309020205020404" pitchFamily="49" charset="0"/>
              <a:buChar char="o"/>
              <a:tabLst>
                <a:tab pos="0" algn="l"/>
              </a:tabLst>
            </a:pPr>
            <a:r>
              <a:rPr lang="es-ES" sz="2200" b="0" i="0" u="none" strike="noStrike" cap="none" dirty="0">
                <a:solidFill>
                  <a:schemeClr val="lt1"/>
                </a:solidFill>
                <a:latin typeface="+mn-lt"/>
                <a:ea typeface="Calibri"/>
                <a:cs typeface="Calibri"/>
                <a:sym typeface="Calibri"/>
              </a:rPr>
              <a:t>¿Podemos explicar y o confiar en sistemas realizados por componentes  que no hemos programado?</a:t>
            </a:r>
            <a:endParaRPr sz="2200" b="0" i="0" u="none" strike="noStrike" cap="none" dirty="0">
              <a:solidFill>
                <a:schemeClr val="lt1"/>
              </a:solidFill>
              <a:latin typeface="+mn-lt"/>
              <a:ea typeface="Calibri"/>
              <a:cs typeface="Calibri"/>
              <a:sym typeface="Calibri"/>
            </a:endParaRPr>
          </a:p>
        </p:txBody>
      </p:sp>
    </p:spTree>
    <p:extLst>
      <p:ext uri="{BB962C8B-B14F-4D97-AF65-F5344CB8AC3E}">
        <p14:creationId xmlns:p14="http://schemas.microsoft.com/office/powerpoint/2010/main" val="1459334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
                                          </p:stCondLst>
                                        </p:cTn>
                                        <p:tgtEl>
                                          <p:spTgt spid="7"/>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2" presetClass="entr" presetSubtype="4"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C394CEC1-1E20-793F-9797-8E356001DF0D}"/>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A1F72150-18C5-DAB1-AB57-60AE9A20C3F9}"/>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Características de un Ingeniero/a de SW</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B759DE8C-726F-534B-AED0-BEDD9FBFC94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9A9685F-F80D-8D37-E996-7D46834A31F7}"/>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B3B029DC-1764-0E14-3B1A-3D26A2EF170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24</a:t>
            </a:fld>
            <a:endParaRPr lang="es-ES"/>
          </a:p>
        </p:txBody>
      </p:sp>
      <p:sp>
        <p:nvSpPr>
          <p:cNvPr id="6" name="Google Shape;149;g1f30b4104d4_0_0">
            <a:extLst>
              <a:ext uri="{FF2B5EF4-FFF2-40B4-BE49-F238E27FC236}">
                <a16:creationId xmlns:a16="http://schemas.microsoft.com/office/drawing/2014/main" id="{B6D933A5-686B-6F8D-49E0-C9DDDF7A1A2D}"/>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El ingeniero debe dominar los aspectos técnicos, aprender habilidades requeridas para entender el problema, diseñar una solución, desarrollarla, etc.</a:t>
            </a: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Pero, además, los aspectos humanos son lo que lo harán un ingeniero efectivo.</a:t>
            </a:r>
          </a:p>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Debe tener un sentido de responsabilidad individual, aguda conciencia de las necesidades del equipo, atención al detalle, entre otros.</a:t>
            </a:r>
          </a:p>
        </p:txBody>
      </p:sp>
      <p:pic>
        <p:nvPicPr>
          <p:cNvPr id="7" name="Google Shape;581;p18">
            <a:extLst>
              <a:ext uri="{FF2B5EF4-FFF2-40B4-BE49-F238E27FC236}">
                <a16:creationId xmlns:a16="http://schemas.microsoft.com/office/drawing/2014/main" id="{09C47301-3C0D-9150-AFCD-AA83FBED127C}"/>
              </a:ext>
            </a:extLst>
          </p:cNvPr>
          <p:cNvPicPr preferRelativeResize="0"/>
          <p:nvPr/>
        </p:nvPicPr>
        <p:blipFill rotWithShape="1">
          <a:blip r:embed="rId3">
            <a:alphaModFix/>
          </a:blip>
          <a:srcRect l="3931" r="3584"/>
          <a:stretch/>
        </p:blipFill>
        <p:spPr>
          <a:xfrm>
            <a:off x="8725546" y="4356852"/>
            <a:ext cx="3515667" cy="1910757"/>
          </a:xfrm>
          <a:prstGeom prst="rect">
            <a:avLst/>
          </a:prstGeom>
          <a:noFill/>
          <a:ln>
            <a:noFill/>
          </a:ln>
        </p:spPr>
      </p:pic>
    </p:spTree>
    <p:extLst>
      <p:ext uri="{BB962C8B-B14F-4D97-AF65-F5344CB8AC3E}">
        <p14:creationId xmlns:p14="http://schemas.microsoft.com/office/powerpoint/2010/main" val="30425334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8C435020-CD1D-DA91-0F5F-6C6531D9CF88}"/>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3179B420-0D15-3533-A2F9-8CC614F84765}"/>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Responsabilidad profesional y ética</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18F0D31F-8C51-D780-0749-6642E04877E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A85C322-58CB-CB01-5DBE-1070F3EA4D8C}"/>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FE85AAEF-2717-D958-8620-EAF945744C3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25</a:t>
            </a:fld>
            <a:endParaRPr lang="es-ES"/>
          </a:p>
        </p:txBody>
      </p:sp>
      <p:sp>
        <p:nvSpPr>
          <p:cNvPr id="6" name="Google Shape;149;g1f30b4104d4_0_0">
            <a:extLst>
              <a:ext uri="{FF2B5EF4-FFF2-40B4-BE49-F238E27FC236}">
                <a16:creationId xmlns:a16="http://schemas.microsoft.com/office/drawing/2014/main" id="{5C9DD7B8-E985-F739-D77E-AAFD6B52B69F}"/>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La Ingeniería de Software se desarrolla en un marco económico, social y legal.</a:t>
            </a:r>
          </a:p>
          <a:p>
            <a:pPr marL="806450" indent="-357188"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Los IS deben aceptar responsabilidades más amplias que las responsabilidades técnicas.</a:t>
            </a:r>
          </a:p>
          <a:p>
            <a:pPr marL="806450" indent="-357188" algn="just">
              <a:spcBef>
                <a:spcPts val="0"/>
              </a:spcBef>
              <a:spcAft>
                <a:spcPts val="0"/>
              </a:spcAft>
              <a:buClr>
                <a:srgbClr val="C00000"/>
              </a:buClr>
              <a:buSzPct val="100000"/>
              <a:buFont typeface="Noto Sans Symbols2" panose="020B0502040504020204" pitchFamily="34" charset="0"/>
              <a:buChar char="»"/>
            </a:pPr>
            <a:endParaRPr lang="es-ES" sz="24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No debe utilizar su capacidad y habilidades de forma deshonesta, o de forma que deshonre la profesión. </a:t>
            </a:r>
          </a:p>
        </p:txBody>
      </p:sp>
    </p:spTree>
    <p:extLst>
      <p:ext uri="{BB962C8B-B14F-4D97-AF65-F5344CB8AC3E}">
        <p14:creationId xmlns:p14="http://schemas.microsoft.com/office/powerpoint/2010/main" val="2029048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81D43EAB-FB5B-9AFA-8072-416195D45AA3}"/>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2DE963D8-AFC7-60CE-44E0-577BA5C51F44}"/>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Responsabilidad profesional y ética</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DDC162AD-36FD-B631-3A16-D59BB2F6C97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A1C9E0E-DDDF-1F08-EBEB-24A65706992A}"/>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488FAB77-0A63-7411-D281-95B5EB51235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26</a:t>
            </a:fld>
            <a:endParaRPr lang="es-ES"/>
          </a:p>
        </p:txBody>
      </p:sp>
      <p:sp>
        <p:nvSpPr>
          <p:cNvPr id="6" name="Google Shape;149;g1f30b4104d4_0_0">
            <a:extLst>
              <a:ext uri="{FF2B5EF4-FFF2-40B4-BE49-F238E27FC236}">
                <a16:creationId xmlns:a16="http://schemas.microsoft.com/office/drawing/2014/main" id="{DFD73522-38E6-AB2B-B738-6969A0B5CEC3}"/>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600" dirty="0"/>
              <a:t>Existen diferentes organizaciones, como ACM e IEEE, que proponen códigos de ética para los profesionales de informática.</a:t>
            </a:r>
          </a:p>
          <a:p>
            <a:pPr marL="449263" indent="-449263" algn="just">
              <a:spcBef>
                <a:spcPts val="0"/>
              </a:spcBef>
              <a:spcAft>
                <a:spcPts val="0"/>
              </a:spcAft>
              <a:buClr>
                <a:srgbClr val="C00000"/>
              </a:buClr>
              <a:buSzPct val="100000"/>
              <a:buFont typeface="Noto Sans Symbols"/>
              <a:buChar char="❖"/>
            </a:pPr>
            <a:endParaRPr lang="es-ES" sz="1400" dirty="0"/>
          </a:p>
          <a:p>
            <a:pPr marL="449263" indent="-449263" algn="just">
              <a:spcBef>
                <a:spcPts val="0"/>
              </a:spcBef>
              <a:spcAft>
                <a:spcPts val="0"/>
              </a:spcAft>
              <a:buClr>
                <a:srgbClr val="C00000"/>
              </a:buClr>
              <a:buSzPct val="100000"/>
              <a:buFont typeface="Noto Sans Symbols"/>
              <a:buChar char="❖"/>
            </a:pPr>
            <a:r>
              <a:rPr lang="es-ES" sz="2600" dirty="0"/>
              <a:t>Principios:</a:t>
            </a:r>
          </a:p>
          <a:p>
            <a:pPr marL="806450" indent="-357188" algn="just">
              <a:spcBef>
                <a:spcPts val="0"/>
              </a:spcBef>
              <a:spcAft>
                <a:spcPts val="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Confidencialidad</a:t>
            </a:r>
          </a:p>
          <a:p>
            <a:pPr marL="449262" algn="just">
              <a:spcBef>
                <a:spcPts val="0"/>
              </a:spcBef>
              <a:spcAft>
                <a:spcPts val="0"/>
              </a:spcAft>
              <a:buClr>
                <a:srgbClr val="C00000"/>
              </a:buClr>
              <a:buSzPct val="100000"/>
            </a:pPr>
            <a:r>
              <a:rPr lang="es-ES" sz="2200" dirty="0">
                <a:latin typeface="Calibri"/>
                <a:ea typeface="Calibri"/>
                <a:cs typeface="Calibri"/>
                <a:sym typeface="Calibri"/>
              </a:rPr>
              <a:t>		</a:t>
            </a:r>
            <a:r>
              <a:rPr lang="es-ES" sz="2000" i="1" dirty="0">
                <a:latin typeface="Calibri"/>
                <a:ea typeface="Calibri"/>
                <a:cs typeface="Calibri"/>
                <a:sym typeface="Calibri"/>
              </a:rPr>
              <a:t>Respetar la confidencialidad de sus empleados y clientes</a:t>
            </a:r>
          </a:p>
          <a:p>
            <a:pPr marL="806450" indent="-357188" algn="just">
              <a:spcBef>
                <a:spcPts val="0"/>
              </a:spcBef>
              <a:spcAft>
                <a:spcPts val="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Competencia</a:t>
            </a:r>
          </a:p>
          <a:p>
            <a:pPr marL="449262" algn="just">
              <a:spcBef>
                <a:spcPts val="0"/>
              </a:spcBef>
              <a:spcAft>
                <a:spcPts val="0"/>
              </a:spcAft>
              <a:buClr>
                <a:srgbClr val="C00000"/>
              </a:buClr>
              <a:buSzPct val="100000"/>
            </a:pPr>
            <a:r>
              <a:rPr lang="es-ES" sz="2000" i="1" dirty="0">
                <a:latin typeface="Calibri"/>
                <a:ea typeface="Calibri"/>
                <a:cs typeface="Calibri"/>
                <a:sym typeface="Calibri"/>
              </a:rPr>
              <a:t>		No falsificar el nivel de competencia y aceptar responsabilidades fuera de su capacidad</a:t>
            </a:r>
          </a:p>
          <a:p>
            <a:pPr marL="806450" indent="-357188" algn="just">
              <a:spcBef>
                <a:spcPts val="0"/>
              </a:spcBef>
              <a:spcAft>
                <a:spcPts val="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Derechos de la propiedad intelectual</a:t>
            </a:r>
          </a:p>
          <a:p>
            <a:pPr marL="906462" lvl="1" algn="just">
              <a:spcBef>
                <a:spcPts val="0"/>
              </a:spcBef>
              <a:spcAft>
                <a:spcPts val="0"/>
              </a:spcAft>
              <a:buClr>
                <a:srgbClr val="C00000"/>
              </a:buClr>
              <a:buSzPct val="100000"/>
            </a:pPr>
            <a:r>
              <a:rPr lang="es-ES" sz="2000" i="1" dirty="0">
                <a:latin typeface="Calibri"/>
                <a:ea typeface="Calibri"/>
                <a:cs typeface="Calibri"/>
                <a:sym typeface="Calibri"/>
              </a:rPr>
              <a:t>Conocer las leyes vigentes sobre las patentes y copyright</a:t>
            </a:r>
          </a:p>
          <a:p>
            <a:pPr marL="806450" indent="-357188" algn="just">
              <a:spcBef>
                <a:spcPts val="0"/>
              </a:spcBef>
              <a:spcAft>
                <a:spcPts val="0"/>
              </a:spcAft>
              <a:buClr>
                <a:srgbClr val="C00000"/>
              </a:buClr>
              <a:buSzPct val="100000"/>
              <a:buFont typeface="Noto Sans Symbols2" panose="020B0502040504020204" pitchFamily="34" charset="0"/>
              <a:buChar char="»"/>
            </a:pPr>
            <a:r>
              <a:rPr lang="es-ES" sz="2200" dirty="0">
                <a:latin typeface="Calibri"/>
                <a:ea typeface="Calibri"/>
                <a:cs typeface="Calibri"/>
                <a:sym typeface="Calibri"/>
              </a:rPr>
              <a:t>Uso inapropiado de las computadoras</a:t>
            </a:r>
          </a:p>
          <a:p>
            <a:pPr marL="906462" lvl="1" algn="just">
              <a:spcBef>
                <a:spcPts val="0"/>
              </a:spcBef>
              <a:spcAft>
                <a:spcPts val="0"/>
              </a:spcAft>
              <a:buClr>
                <a:srgbClr val="C00000"/>
              </a:buClr>
              <a:buSzPct val="100000"/>
            </a:pPr>
            <a:r>
              <a:rPr lang="es-ES" sz="2000" i="1" dirty="0">
                <a:latin typeface="Calibri"/>
                <a:ea typeface="Calibri"/>
                <a:cs typeface="Calibri"/>
                <a:sym typeface="Calibri"/>
              </a:rPr>
              <a:t>No utilizar los conocimientos técnicos para un uso indebido de otros sistemas</a:t>
            </a:r>
          </a:p>
          <a:p>
            <a:pPr marL="806450" indent="-357188" algn="just">
              <a:spcBef>
                <a:spcPts val="0"/>
              </a:spcBef>
              <a:spcAft>
                <a:spcPts val="0"/>
              </a:spcAft>
              <a:buClr>
                <a:srgbClr val="C00000"/>
              </a:buClr>
              <a:buSzPct val="100000"/>
              <a:buFont typeface="Noto Sans Symbols2" panose="020B0502040504020204" pitchFamily="34" charset="0"/>
              <a:buChar char="»"/>
            </a:pPr>
            <a:endParaRPr lang="es-ES" sz="2400" dirty="0">
              <a:latin typeface="Calibri"/>
              <a:ea typeface="Calibri"/>
              <a:cs typeface="Calibri"/>
              <a:sym typeface="Calibri"/>
            </a:endParaRPr>
          </a:p>
        </p:txBody>
      </p:sp>
    </p:spTree>
    <p:extLst>
      <p:ext uri="{BB962C8B-B14F-4D97-AF65-F5344CB8AC3E}">
        <p14:creationId xmlns:p14="http://schemas.microsoft.com/office/powerpoint/2010/main" val="54040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21"/>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6000"/>
              <a:buFont typeface="Calibri"/>
              <a:buNone/>
            </a:pPr>
            <a:r>
              <a:rPr lang="es-ES" dirty="0"/>
              <a:t>Técnicas de comunicación</a:t>
            </a:r>
            <a:endParaRPr dirty="0"/>
          </a:p>
        </p:txBody>
      </p:sp>
      <p:sp>
        <p:nvSpPr>
          <p:cNvPr id="5" name="Marcador de contenido 4">
            <a:extLst>
              <a:ext uri="{FF2B5EF4-FFF2-40B4-BE49-F238E27FC236}">
                <a16:creationId xmlns:a16="http://schemas.microsoft.com/office/drawing/2014/main" id="{28D46066-9608-4509-2807-26819396DF3C}"/>
              </a:ext>
            </a:extLst>
          </p:cNvPr>
          <p:cNvSpPr>
            <a:spLocks noGrp="1"/>
          </p:cNvSpPr>
          <p:nvPr>
            <p:ph idx="1"/>
          </p:nvPr>
        </p:nvSpPr>
        <p:spPr/>
        <p:txBody>
          <a:bodyPr/>
          <a:lstStyle/>
          <a:p>
            <a:pPr marL="457200" marR="0" lvl="0" indent="-457200" algn="l" defTabSz="457200" rtl="0" eaLnBrk="0" fontAlgn="base" latinLnBrk="0" hangingPunct="0">
              <a:lnSpc>
                <a:spcPct val="100000"/>
              </a:lnSpc>
              <a:spcBef>
                <a:spcPct val="0"/>
              </a:spcBef>
              <a:spcAft>
                <a:spcPct val="0"/>
              </a:spcAft>
              <a:buClr>
                <a:srgbClr val="C00000"/>
              </a:buClr>
              <a:buSzTx/>
              <a:buFont typeface="Wingdings" panose="05000000000000000000" pitchFamily="2" charset="2"/>
              <a:buChar char="v"/>
              <a:tabLst/>
              <a:defRPr/>
            </a:pPr>
            <a:r>
              <a:rPr kumimoji="0" lang="es-ES" sz="3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Al iniciar un proyecto…</a:t>
            </a:r>
          </a:p>
          <a:p>
            <a:pPr marL="0" marR="0" lvl="0" indent="0" algn="l" defTabSz="457200" rtl="0" eaLnBrk="0" fontAlgn="base" latinLnBrk="0" hangingPunct="0">
              <a:lnSpc>
                <a:spcPct val="100000"/>
              </a:lnSpc>
              <a:spcBef>
                <a:spcPct val="0"/>
              </a:spcBef>
              <a:spcAft>
                <a:spcPct val="0"/>
              </a:spcAft>
              <a:buClr>
                <a:srgbClr val="C00000"/>
              </a:buClr>
              <a:buSzTx/>
              <a:buNone/>
              <a:tabLst/>
              <a:defRPr/>
            </a:pPr>
            <a:r>
              <a:rPr lang="es-ES" sz="3200" dirty="0">
                <a:solidFill>
                  <a:prstClr val="black"/>
                </a:solidFill>
                <a:latin typeface="Calibri" panose="020F0502020204030204" pitchFamily="34" charset="0"/>
              </a:rPr>
              <a:t>	¿Cuál es la primera actividad?</a:t>
            </a:r>
            <a:endParaRPr kumimoji="0" lang="es-ES" sz="3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endParaRPr lang="es-ES" dirty="0"/>
          </a:p>
        </p:txBody>
      </p:sp>
      <p:sp>
        <p:nvSpPr>
          <p:cNvPr id="6" name="Marcador de texto 5">
            <a:extLst>
              <a:ext uri="{FF2B5EF4-FFF2-40B4-BE49-F238E27FC236}">
                <a16:creationId xmlns:a16="http://schemas.microsoft.com/office/drawing/2014/main" id="{751FB849-443F-A40F-A3A8-E05A3C3EA235}"/>
              </a:ext>
            </a:extLst>
          </p:cNvPr>
          <p:cNvSpPr>
            <a:spLocks noGrp="1"/>
          </p:cNvSpPr>
          <p:nvPr>
            <p:ph type="body" sz="half" idx="2"/>
          </p:nvPr>
        </p:nvSpPr>
        <p:spPr/>
        <p:txBody>
          <a:bodyPr/>
          <a:lstStyle/>
          <a:p>
            <a:endParaRPr lang="es-ES"/>
          </a:p>
        </p:txBody>
      </p:sp>
      <p:sp>
        <p:nvSpPr>
          <p:cNvPr id="2" name="Marcador de fecha 1">
            <a:extLst>
              <a:ext uri="{FF2B5EF4-FFF2-40B4-BE49-F238E27FC236}">
                <a16:creationId xmlns:a16="http://schemas.microsoft.com/office/drawing/2014/main" id="{3FE3D7E3-626C-2F6D-A467-58EDC17467E9}"/>
              </a:ext>
            </a:extLst>
          </p:cNvPr>
          <p:cNvSpPr>
            <a:spLocks noGrp="1"/>
          </p:cNvSpPr>
          <p:nvPr>
            <p:ph type="dt" sz="half" idx="10"/>
          </p:nvPr>
        </p:nvSpPr>
        <p:spPr/>
        <p:txBody>
          <a:bodyPr/>
          <a:lstStyle/>
          <a:p>
            <a:pPr>
              <a:defRPr/>
            </a:pPr>
            <a:r>
              <a:rPr lang="es-ES"/>
              <a:t>2026</a:t>
            </a:r>
            <a:endParaRPr lang="es-ES" dirty="0"/>
          </a:p>
        </p:txBody>
      </p:sp>
      <p:sp>
        <p:nvSpPr>
          <p:cNvPr id="3" name="Marcador de pie de página 2">
            <a:extLst>
              <a:ext uri="{FF2B5EF4-FFF2-40B4-BE49-F238E27FC236}">
                <a16:creationId xmlns:a16="http://schemas.microsoft.com/office/drawing/2014/main" id="{E4B20FDE-277A-898F-DC15-8440FB97EF18}"/>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C9DC10E2-969A-F9FE-B9C5-ABD39A6123F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27</a:t>
            </a:fld>
            <a:endParaRPr lang="es-ES"/>
          </a:p>
        </p:txBody>
      </p:sp>
      <p:pic>
        <p:nvPicPr>
          <p:cNvPr id="10" name="Google Shape;615;p22">
            <a:extLst>
              <a:ext uri="{FF2B5EF4-FFF2-40B4-BE49-F238E27FC236}">
                <a16:creationId xmlns:a16="http://schemas.microsoft.com/office/drawing/2014/main" id="{8368A9DA-051E-E552-046D-9708CC60286F}"/>
              </a:ext>
            </a:extLst>
          </p:cNvPr>
          <p:cNvPicPr preferRelativeResize="0"/>
          <p:nvPr/>
        </p:nvPicPr>
        <p:blipFill rotWithShape="1">
          <a:blip r:embed="rId3"/>
          <a:srcRect/>
          <a:stretch/>
        </p:blipFill>
        <p:spPr>
          <a:xfrm>
            <a:off x="8770014" y="4047368"/>
            <a:ext cx="3292117" cy="2412171"/>
          </a:xfrm>
          <a:prstGeom prst="rect">
            <a:avLst/>
          </a:prstGeom>
        </p:spPr>
      </p:pic>
      <p:sp>
        <p:nvSpPr>
          <p:cNvPr id="11" name="Google Shape;614;p22">
            <a:extLst>
              <a:ext uri="{FF2B5EF4-FFF2-40B4-BE49-F238E27FC236}">
                <a16:creationId xmlns:a16="http://schemas.microsoft.com/office/drawing/2014/main" id="{067356AB-B424-166E-C395-E8D55A38CEDF}"/>
              </a:ext>
            </a:extLst>
          </p:cNvPr>
          <p:cNvSpPr/>
          <p:nvPr/>
        </p:nvSpPr>
        <p:spPr>
          <a:xfrm>
            <a:off x="4681164" y="2311727"/>
            <a:ext cx="6796074"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s-ES" sz="3600" b="0" i="0" u="none" strike="noStrike" cap="none" dirty="0">
                <a:solidFill>
                  <a:schemeClr val="dk1"/>
                </a:solidFill>
                <a:latin typeface="Calibri"/>
                <a:ea typeface="Calibri"/>
                <a:cs typeface="Calibri"/>
                <a:sym typeface="Calibri"/>
              </a:rPr>
              <a:t>Saber</a:t>
            </a:r>
            <a:r>
              <a:rPr lang="es-ES" sz="3200" b="0" i="0" u="none" strike="noStrike" cap="none" dirty="0">
                <a:solidFill>
                  <a:schemeClr val="dk1"/>
                </a:solidFill>
                <a:latin typeface="Calibri"/>
                <a:ea typeface="Calibri"/>
                <a:cs typeface="Calibri"/>
                <a:sym typeface="Calibri"/>
              </a:rPr>
              <a:t> </a:t>
            </a:r>
            <a:r>
              <a:rPr lang="es-ES" sz="3600" b="0" i="0" u="none" strike="noStrike" cap="none" dirty="0">
                <a:solidFill>
                  <a:schemeClr val="dk1"/>
                </a:solidFill>
                <a:latin typeface="Calibri"/>
                <a:ea typeface="Calibri"/>
                <a:cs typeface="Calibri"/>
                <a:sym typeface="Calibri"/>
              </a:rPr>
              <a:t>lo que el usuario </a:t>
            </a:r>
            <a:r>
              <a:rPr lang="es-ES" sz="3600" b="0" i="0" u="sng" strike="noStrike" cap="none" dirty="0">
                <a:solidFill>
                  <a:schemeClr val="dk1"/>
                </a:solidFill>
                <a:latin typeface="Calibri"/>
                <a:ea typeface="Calibri"/>
                <a:cs typeface="Calibri"/>
                <a:sym typeface="Calibri"/>
              </a:rPr>
              <a:t>quiere</a:t>
            </a:r>
            <a:r>
              <a:rPr lang="es-ES" sz="3600" b="0" i="0" u="none" strike="noStrike" cap="none" dirty="0">
                <a:solidFill>
                  <a:schemeClr val="dk1"/>
                </a:solidFill>
                <a:latin typeface="Calibri"/>
                <a:ea typeface="Calibri"/>
                <a:cs typeface="Calibri"/>
                <a:sym typeface="Calibri"/>
              </a:rPr>
              <a:t>, </a:t>
            </a:r>
            <a:r>
              <a:rPr lang="es-ES" sz="3600" b="0" i="0" u="sng" strike="noStrike" cap="none" dirty="0">
                <a:solidFill>
                  <a:schemeClr val="dk1"/>
                </a:solidFill>
                <a:latin typeface="Calibri"/>
                <a:ea typeface="Calibri"/>
                <a:cs typeface="Calibri"/>
                <a:sym typeface="Calibri"/>
              </a:rPr>
              <a:t>cómo lo quiere</a:t>
            </a:r>
            <a:r>
              <a:rPr lang="es-ES" sz="3600" b="0" i="0" u="none" strike="noStrike" cap="none" dirty="0">
                <a:solidFill>
                  <a:schemeClr val="dk1"/>
                </a:solidFill>
                <a:latin typeface="Calibri"/>
                <a:ea typeface="Calibri"/>
                <a:cs typeface="Calibri"/>
                <a:sym typeface="Calibri"/>
              </a:rPr>
              <a:t>, </a:t>
            </a:r>
            <a:r>
              <a:rPr lang="es-ES" sz="3600" b="0" i="0" u="sng" strike="noStrike" cap="none" dirty="0">
                <a:solidFill>
                  <a:schemeClr val="dk1"/>
                </a:solidFill>
                <a:latin typeface="Calibri"/>
                <a:ea typeface="Calibri"/>
                <a:cs typeface="Calibri"/>
                <a:sym typeface="Calibri"/>
              </a:rPr>
              <a:t>cuándo</a:t>
            </a:r>
            <a:r>
              <a:rPr lang="es-ES" sz="3600" b="0" i="0" u="none" strike="noStrike" cap="none" dirty="0">
                <a:solidFill>
                  <a:schemeClr val="dk1"/>
                </a:solidFill>
                <a:latin typeface="Calibri"/>
                <a:ea typeface="Calibri"/>
                <a:cs typeface="Calibri"/>
                <a:sym typeface="Calibri"/>
              </a:rPr>
              <a:t> y </a:t>
            </a:r>
            <a:r>
              <a:rPr lang="es-ES" sz="3600" b="0" i="0" u="sng" strike="noStrike" cap="none" dirty="0">
                <a:solidFill>
                  <a:schemeClr val="dk1"/>
                </a:solidFill>
                <a:latin typeface="Calibri"/>
                <a:ea typeface="Calibri"/>
                <a:cs typeface="Calibri"/>
                <a:sym typeface="Calibri"/>
              </a:rPr>
              <a:t>por qué.</a:t>
            </a:r>
            <a:endParaRPr sz="1400" b="0" i="0" u="none" strike="noStrike" cap="none" dirty="0">
              <a:solidFill>
                <a:srgbClr val="000000"/>
              </a:solidFill>
              <a:latin typeface="Arial"/>
              <a:ea typeface="Arial"/>
              <a:cs typeface="Arial"/>
              <a:sym typeface="Arial"/>
            </a:endParaRPr>
          </a:p>
        </p:txBody>
      </p:sp>
      <p:sp>
        <p:nvSpPr>
          <p:cNvPr id="12" name="Google Shape;616;p22">
            <a:extLst>
              <a:ext uri="{FF2B5EF4-FFF2-40B4-BE49-F238E27FC236}">
                <a16:creationId xmlns:a16="http://schemas.microsoft.com/office/drawing/2014/main" id="{E77BB15C-4915-C2D1-779A-D9961F2B908D}"/>
              </a:ext>
            </a:extLst>
          </p:cNvPr>
          <p:cNvSpPr txBox="1"/>
          <p:nvPr/>
        </p:nvSpPr>
        <p:spPr>
          <a:xfrm>
            <a:off x="5151446" y="3575966"/>
            <a:ext cx="6106327" cy="783148"/>
          </a:xfrm>
          <a:prstGeom prst="roundRect">
            <a:avLst/>
          </a:prstGeo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s-ES" sz="4000" b="0" i="0" u="none" strike="noStrike" cap="none" dirty="0">
                <a:solidFill>
                  <a:schemeClr val="dk1"/>
                </a:solidFill>
                <a:latin typeface="Calibri"/>
                <a:ea typeface="Calibri"/>
                <a:cs typeface="Calibri"/>
                <a:sym typeface="Calibri"/>
              </a:rPr>
              <a:t>Tenemos que </a:t>
            </a:r>
            <a:r>
              <a:rPr lang="es-ES" sz="4000" b="0" i="0" strike="noStrike" cap="none" dirty="0">
                <a:solidFill>
                  <a:schemeClr val="dk1"/>
                </a:solidFill>
                <a:latin typeface="Calibri"/>
                <a:ea typeface="Calibri"/>
                <a:cs typeface="Calibri"/>
                <a:sym typeface="Calibri"/>
              </a:rPr>
              <a:t>Comunicarnos</a:t>
            </a:r>
            <a:endParaRPr sz="4000" b="0" i="0" strike="noStrike" cap="none"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bg/>
                                          </p:spTgt>
                                        </p:tgtEl>
                                        <p:attrNameLst>
                                          <p:attrName>style.visibility</p:attrName>
                                        </p:attrNameLst>
                                      </p:cBhvr>
                                      <p:to>
                                        <p:strVal val="visible"/>
                                      </p:to>
                                    </p:set>
                                    <p:animEffect transition="in" filter="fade">
                                      <p:cBhvr>
                                        <p:cTn id="12" dur="500"/>
                                        <p:tgtEl>
                                          <p:spTgt spid="12">
                                            <p:bg/>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Effect transition="in" filter="fade">
                                      <p:cBhvr>
                                        <p:cTn id="15"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29F4A619-F612-BF84-4C70-6C2E6693CF91}"/>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04AA8F96-0FE0-509E-FD26-81F64F4A9894}"/>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El problema de la comunicación</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2094328A-3ABD-77E8-E578-EED8F645B36B}"/>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0337147-DB84-536C-60F0-334A70A2449F}"/>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EA0DCF69-A7D0-BFE6-31CE-11913D8BA14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28</a:t>
            </a:fld>
            <a:endParaRPr lang="es-ES"/>
          </a:p>
        </p:txBody>
      </p:sp>
      <p:pic>
        <p:nvPicPr>
          <p:cNvPr id="5" name="Google Shape;623;p23" descr="cid:1.1494796789@web51607.mail.re2.yahoo.com">
            <a:extLst>
              <a:ext uri="{FF2B5EF4-FFF2-40B4-BE49-F238E27FC236}">
                <a16:creationId xmlns:a16="http://schemas.microsoft.com/office/drawing/2014/main" id="{85C7D892-7583-CC05-F9C1-DF94E151964E}"/>
              </a:ext>
            </a:extLst>
          </p:cNvPr>
          <p:cNvPicPr preferRelativeResize="0"/>
          <p:nvPr/>
        </p:nvPicPr>
        <p:blipFill rotWithShape="1">
          <a:blip r:embed="rId3">
            <a:alphaModFix/>
          </a:blip>
          <a:srcRect/>
          <a:stretch/>
        </p:blipFill>
        <p:spPr>
          <a:xfrm>
            <a:off x="1707569" y="1766807"/>
            <a:ext cx="8826073" cy="4536022"/>
          </a:xfrm>
          <a:prstGeom prst="rect">
            <a:avLst/>
          </a:prstGeom>
          <a:noFill/>
          <a:ln>
            <a:noFill/>
          </a:ln>
          <a:effectLst>
            <a:outerShdw blurRad="292100" dist="139700" dir="2700000" algn="tl" rotWithShape="0">
              <a:srgbClr val="333333">
                <a:alpha val="62352"/>
              </a:srgbClr>
            </a:outerShdw>
          </a:effectLst>
        </p:spPr>
      </p:pic>
    </p:spTree>
    <p:extLst>
      <p:ext uri="{BB962C8B-B14F-4D97-AF65-F5344CB8AC3E}">
        <p14:creationId xmlns:p14="http://schemas.microsoft.com/office/powerpoint/2010/main" val="2355128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80C3F521-FDE0-3027-95A6-4C231C91666E}"/>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D4024A0B-EAEE-3EED-98B6-ECC3F9250EEF}"/>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¿Qué vemos?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FFA27FD8-08C4-C0A8-FB5F-5EB9E271C8F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155967F-B9D8-62B0-83F2-E7DB3C0E0B88}"/>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66975E91-DB33-21F5-8184-86D82B6766A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29</a:t>
            </a:fld>
            <a:endParaRPr lang="es-ES"/>
          </a:p>
        </p:txBody>
      </p:sp>
      <p:pic>
        <p:nvPicPr>
          <p:cNvPr id="6" name="Google Shape;630;p24" descr="Resultado de imagen para imagenes con doble sentido">
            <a:extLst>
              <a:ext uri="{FF2B5EF4-FFF2-40B4-BE49-F238E27FC236}">
                <a16:creationId xmlns:a16="http://schemas.microsoft.com/office/drawing/2014/main" id="{38E5B6EE-065D-49F9-A6AD-35FD06DECD8E}"/>
              </a:ext>
            </a:extLst>
          </p:cNvPr>
          <p:cNvPicPr preferRelativeResize="0"/>
          <p:nvPr/>
        </p:nvPicPr>
        <p:blipFill rotWithShape="1">
          <a:blip r:embed="rId3">
            <a:alphaModFix/>
          </a:blip>
          <a:srcRect/>
          <a:stretch/>
        </p:blipFill>
        <p:spPr>
          <a:xfrm>
            <a:off x="3259039" y="1846747"/>
            <a:ext cx="5723134" cy="4275095"/>
          </a:xfrm>
          <a:prstGeom prst="rect">
            <a:avLst/>
          </a:prstGeom>
          <a:noFill/>
          <a:ln>
            <a:noFill/>
          </a:ln>
        </p:spPr>
      </p:pic>
      <p:pic>
        <p:nvPicPr>
          <p:cNvPr id="7" name="Google Shape;631;p24" descr="http://img130.imageshack.us/img130/8964/balconyillusion1.jpg">
            <a:extLst>
              <a:ext uri="{FF2B5EF4-FFF2-40B4-BE49-F238E27FC236}">
                <a16:creationId xmlns:a16="http://schemas.microsoft.com/office/drawing/2014/main" id="{8588C2B8-1FA6-B2C0-B133-A501038A8CF2}"/>
              </a:ext>
            </a:extLst>
          </p:cNvPr>
          <p:cNvPicPr preferRelativeResize="0"/>
          <p:nvPr/>
        </p:nvPicPr>
        <p:blipFill rotWithShape="1">
          <a:blip r:embed="rId4">
            <a:alphaModFix/>
          </a:blip>
          <a:srcRect/>
          <a:stretch/>
        </p:blipFill>
        <p:spPr>
          <a:xfrm>
            <a:off x="5426827" y="2036432"/>
            <a:ext cx="5723133" cy="3895724"/>
          </a:xfrm>
          <a:prstGeom prst="rect">
            <a:avLst/>
          </a:prstGeom>
          <a:noFill/>
          <a:ln>
            <a:noFill/>
          </a:ln>
          <a:effectLst>
            <a:outerShdw blurRad="292100" dist="139700" dir="2700000" algn="tl" rotWithShape="0">
              <a:srgbClr val="333333">
                <a:alpha val="62352"/>
              </a:srgbClr>
            </a:outerShdw>
          </a:effectLst>
        </p:spPr>
      </p:pic>
      <p:pic>
        <p:nvPicPr>
          <p:cNvPr id="8" name="Google Shape;632;p24">
            <a:extLst>
              <a:ext uri="{FF2B5EF4-FFF2-40B4-BE49-F238E27FC236}">
                <a16:creationId xmlns:a16="http://schemas.microsoft.com/office/drawing/2014/main" id="{0BB30F39-7BEF-DE96-3F33-E2AAD4EC1611}"/>
              </a:ext>
            </a:extLst>
          </p:cNvPr>
          <p:cNvPicPr preferRelativeResize="0"/>
          <p:nvPr/>
        </p:nvPicPr>
        <p:blipFill rotWithShape="1">
          <a:blip r:embed="rId5">
            <a:alphaModFix/>
          </a:blip>
          <a:srcRect/>
          <a:stretch/>
        </p:blipFill>
        <p:spPr>
          <a:xfrm>
            <a:off x="1519845" y="1766807"/>
            <a:ext cx="6313487" cy="4511512"/>
          </a:xfrm>
          <a:prstGeom prst="rect">
            <a:avLst/>
          </a:prstGeom>
          <a:noFill/>
          <a:ln>
            <a:noFill/>
          </a:ln>
        </p:spPr>
      </p:pic>
    </p:spTree>
    <p:extLst>
      <p:ext uri="{BB962C8B-B14F-4D97-AF65-F5344CB8AC3E}">
        <p14:creationId xmlns:p14="http://schemas.microsoft.com/office/powerpoint/2010/main" val="13702394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3099FF54-690E-9E71-9AA3-ED4B84ABC3DA}"/>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0E5F7908-FD8B-598B-EA03-9FDDC6344FE0}"/>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La comunicación</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3871EE7B-0605-9368-FC84-BEED4C7CCD7B}"/>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0DFB82F-9E40-8292-9547-EEE6F0D8DC16}"/>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1835BB5E-B971-C46A-14E3-088450E441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30</a:t>
            </a:fld>
            <a:endParaRPr lang="es-ES"/>
          </a:p>
        </p:txBody>
      </p:sp>
      <p:sp>
        <p:nvSpPr>
          <p:cNvPr id="6" name="Google Shape;149;g1f30b4104d4_0_0">
            <a:extLst>
              <a:ext uri="{FF2B5EF4-FFF2-40B4-BE49-F238E27FC236}">
                <a16:creationId xmlns:a16="http://schemas.microsoft.com/office/drawing/2014/main" id="{F804B1D5-4393-4762-1933-ACD158A5FF42}"/>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La comunicación es la base para la obtención de las necesidades del cliente. </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Es la principal fuente de error.</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Al hablar de necesidades, en términos más técnicos, estamos hablando de </a:t>
            </a:r>
            <a:r>
              <a:rPr lang="es-ES" sz="2800" b="1" dirty="0">
                <a:latin typeface="Calibri"/>
                <a:ea typeface="Calibri"/>
                <a:cs typeface="Calibri"/>
                <a:sym typeface="Calibri"/>
              </a:rPr>
              <a:t>Requerimientos.</a:t>
            </a:r>
          </a:p>
        </p:txBody>
      </p:sp>
    </p:spTree>
    <p:extLst>
      <p:ext uri="{BB962C8B-B14F-4D97-AF65-F5344CB8AC3E}">
        <p14:creationId xmlns:p14="http://schemas.microsoft.com/office/powerpoint/2010/main" val="4282818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59FA03E6-6584-6FA3-32FA-5C451E3F5C4C}"/>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C357920E-13AC-6C9E-EBE9-77367A7ECD93}"/>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Requerimientos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C797E936-C7F8-151B-88C2-EC083CD5F62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B4F58C5-2FA8-5AA6-EE21-FAD39927F980}"/>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2CBB37C3-8B17-7D7A-5613-90DFC144361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31</a:t>
            </a:fld>
            <a:endParaRPr lang="es-ES"/>
          </a:p>
        </p:txBody>
      </p:sp>
      <p:sp>
        <p:nvSpPr>
          <p:cNvPr id="6" name="Google Shape;149;g1f30b4104d4_0_0">
            <a:extLst>
              <a:ext uri="{FF2B5EF4-FFF2-40B4-BE49-F238E27FC236}">
                <a16:creationId xmlns:a16="http://schemas.microsoft.com/office/drawing/2014/main" id="{F86E74C9-2174-866D-B8A9-C5120089437A}"/>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Un </a:t>
            </a:r>
            <a:r>
              <a:rPr lang="es-ES" sz="2800" b="1" dirty="0">
                <a:latin typeface="Calibri"/>
                <a:ea typeface="Calibri"/>
                <a:cs typeface="Calibri"/>
                <a:sym typeface="Calibri"/>
              </a:rPr>
              <a:t>Requerimiento</a:t>
            </a:r>
            <a:r>
              <a:rPr lang="es-ES" sz="2800" dirty="0">
                <a:latin typeface="Calibri"/>
                <a:ea typeface="Calibri"/>
                <a:cs typeface="Calibri"/>
                <a:sym typeface="Calibri"/>
              </a:rPr>
              <a:t> (o requisito) es una característica del sistema o una descripción de algo que el sistema es capaz de hacer con el objeto de satisfacer el propósito del sistema..</a:t>
            </a:r>
          </a:p>
          <a:p>
            <a:pPr marL="449263" indent="-449263" algn="just">
              <a:spcBef>
                <a:spcPts val="0"/>
              </a:spcBef>
              <a:spcAft>
                <a:spcPts val="0"/>
              </a:spcAft>
              <a:buClr>
                <a:srgbClr val="C00000"/>
              </a:buClr>
              <a:buSzPct val="100000"/>
              <a:buFont typeface="Noto Sans Symbols"/>
              <a:buChar char="❖"/>
            </a:pPr>
            <a:endParaRPr lang="es-ES" sz="16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t>Definición IEEE-Std-610</a:t>
            </a:r>
            <a:endParaRPr lang="es-ES" sz="2800" dirty="0">
              <a:latin typeface="Calibri"/>
              <a:ea typeface="Calibri"/>
              <a:cs typeface="Calibri"/>
              <a:sym typeface="Calibri"/>
            </a:endParaRPr>
          </a:p>
          <a:p>
            <a:pPr marL="620713" lvl="2" indent="-227013" algn="just">
              <a:lnSpc>
                <a:spcPct val="90000"/>
              </a:lnSpc>
              <a:spcBef>
                <a:spcPts val="0"/>
              </a:spcBef>
              <a:spcAft>
                <a:spcPts val="0"/>
              </a:spcAft>
              <a:buClr>
                <a:srgbClr val="C00000"/>
              </a:buClr>
              <a:buSzPct val="100000"/>
              <a:buFont typeface="Noto Sans Symbols2" panose="020B0502040504020204" pitchFamily="34" charset="0"/>
              <a:buChar char="»"/>
            </a:pPr>
            <a:r>
              <a:rPr lang="es-ES" sz="2400" dirty="0"/>
              <a:t>Condición o capacidad que necesita el usuario para resolver un problema o alcanzar un objetivo.</a:t>
            </a:r>
          </a:p>
          <a:p>
            <a:pPr marL="620713" lvl="2" indent="-227013" algn="just">
              <a:lnSpc>
                <a:spcPct val="90000"/>
              </a:lnSpc>
              <a:spcBef>
                <a:spcPts val="600"/>
              </a:spcBef>
              <a:spcAft>
                <a:spcPts val="0"/>
              </a:spcAft>
              <a:buClr>
                <a:srgbClr val="C00000"/>
              </a:buClr>
              <a:buSzPct val="100000"/>
              <a:buFont typeface="Noto Sans Symbols2" panose="020B0502040504020204" pitchFamily="34" charset="0"/>
              <a:buChar char="»"/>
            </a:pPr>
            <a:r>
              <a:rPr lang="es-ES" sz="2400" dirty="0"/>
              <a:t>Condición o capacidad que debe satisfacer o poseer un sistema o una componente de un sistema para satisfacer un contrato, un estándar, una especificación u otro documento formalmente impuesto.</a:t>
            </a:r>
          </a:p>
          <a:p>
            <a:pPr marL="620713" lvl="2" indent="-227013" algn="just">
              <a:lnSpc>
                <a:spcPct val="90000"/>
              </a:lnSpc>
              <a:spcBef>
                <a:spcPts val="600"/>
              </a:spcBef>
              <a:spcAft>
                <a:spcPts val="0"/>
              </a:spcAft>
              <a:buClr>
                <a:srgbClr val="C00000"/>
              </a:buClr>
              <a:buSzPct val="100000"/>
              <a:buFont typeface="Noto Sans Symbols2" panose="020B0502040504020204" pitchFamily="34" charset="0"/>
              <a:buChar char="»"/>
            </a:pPr>
            <a:r>
              <a:rPr lang="es-ES" sz="2400" dirty="0"/>
              <a:t>Representación documentada de una condición o capacidad como en 1 o 2.</a:t>
            </a:r>
          </a:p>
        </p:txBody>
      </p:sp>
    </p:spTree>
    <p:extLst>
      <p:ext uri="{BB962C8B-B14F-4D97-AF65-F5344CB8AC3E}">
        <p14:creationId xmlns:p14="http://schemas.microsoft.com/office/powerpoint/2010/main" val="10509043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59B38F05-D720-96F6-10AB-317CC0AA8AE0}"/>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790C61DD-306F-8F8E-9C12-35E2819AB832}"/>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err="1">
                <a:solidFill>
                  <a:schemeClr val="dk1"/>
                </a:solidFill>
                <a:latin typeface="Calibri"/>
                <a:ea typeface="Calibri"/>
                <a:cs typeface="Calibri"/>
                <a:sym typeface="Calibri"/>
              </a:rPr>
              <a:t>Stakeholder</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6F6BDD9B-F008-CF11-57FE-A6A92DDDCD9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1B23B6A-51FC-69E3-DD6E-20BA6A4EE04F}"/>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8CAF8022-8129-DF1A-5BB0-EF27D93E4C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32</a:t>
            </a:fld>
            <a:endParaRPr lang="es-ES"/>
          </a:p>
        </p:txBody>
      </p:sp>
      <p:sp>
        <p:nvSpPr>
          <p:cNvPr id="6" name="Google Shape;149;g1f30b4104d4_0_0">
            <a:extLst>
              <a:ext uri="{FF2B5EF4-FFF2-40B4-BE49-F238E27FC236}">
                <a16:creationId xmlns:a16="http://schemas.microsoft.com/office/drawing/2014/main" id="{3CD02DA6-71E1-D630-8312-3FE9A937577B}"/>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El término </a:t>
            </a:r>
            <a:r>
              <a:rPr lang="es-ES" sz="2800" b="1" dirty="0" err="1">
                <a:latin typeface="Calibri"/>
                <a:ea typeface="Calibri"/>
                <a:cs typeface="Calibri"/>
                <a:sym typeface="Calibri"/>
              </a:rPr>
              <a:t>stakeholder</a:t>
            </a:r>
            <a:r>
              <a:rPr lang="es-ES" sz="2800" dirty="0">
                <a:latin typeface="Calibri"/>
                <a:ea typeface="Calibri"/>
                <a:cs typeface="Calibri"/>
                <a:sym typeface="Calibri"/>
              </a:rPr>
              <a:t> se utiliza para referirse a cualquier persona o grupo que se verá afectado por el sistema, directa o indirectamente.</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t>Entre los </a:t>
            </a:r>
            <a:r>
              <a:rPr lang="es-ES" sz="2800" dirty="0" err="1"/>
              <a:t>stakeholders</a:t>
            </a:r>
            <a:r>
              <a:rPr lang="es-ES" sz="2800" dirty="0"/>
              <a:t> se encuentran:</a:t>
            </a:r>
          </a:p>
          <a:p>
            <a:pPr marL="712788" lvl="1" indent="-263525">
              <a:lnSpc>
                <a:spcPct val="90000"/>
              </a:lnSpc>
              <a:spcBef>
                <a:spcPts val="400"/>
              </a:spcBef>
              <a:spcAft>
                <a:spcPts val="0"/>
              </a:spcAft>
              <a:buClr>
                <a:srgbClr val="C00000"/>
              </a:buClr>
              <a:buSzPts val="2400"/>
              <a:buFont typeface="Noto Sans Symbols2" panose="020B0502040504020204" pitchFamily="34" charset="0"/>
              <a:buChar char="»"/>
            </a:pPr>
            <a:r>
              <a:rPr lang="es-ES" sz="2400" dirty="0"/>
              <a:t>Usuarios finales</a:t>
            </a:r>
          </a:p>
          <a:p>
            <a:pPr marL="712788" lvl="1" indent="-263525">
              <a:lnSpc>
                <a:spcPct val="90000"/>
              </a:lnSpc>
              <a:spcBef>
                <a:spcPts val="600"/>
              </a:spcBef>
              <a:spcAft>
                <a:spcPts val="0"/>
              </a:spcAft>
              <a:buClr>
                <a:srgbClr val="C00000"/>
              </a:buClr>
              <a:buSzPts val="2400"/>
              <a:buFont typeface="Noto Sans Symbols2" panose="020B0502040504020204" pitchFamily="34" charset="0"/>
              <a:buChar char="»"/>
            </a:pPr>
            <a:r>
              <a:rPr lang="es-ES" sz="2400" dirty="0"/>
              <a:t>Ingenieros</a:t>
            </a:r>
          </a:p>
          <a:p>
            <a:pPr marL="712788" lvl="1" indent="-263525">
              <a:lnSpc>
                <a:spcPct val="90000"/>
              </a:lnSpc>
              <a:spcBef>
                <a:spcPts val="600"/>
              </a:spcBef>
              <a:spcAft>
                <a:spcPts val="0"/>
              </a:spcAft>
              <a:buClr>
                <a:srgbClr val="C00000"/>
              </a:buClr>
              <a:buSzPts val="2400"/>
              <a:buFont typeface="Noto Sans Symbols2" panose="020B0502040504020204" pitchFamily="34" charset="0"/>
              <a:buChar char="»"/>
            </a:pPr>
            <a:r>
              <a:rPr lang="es-ES" sz="2400" dirty="0"/>
              <a:t>Gerentes</a:t>
            </a:r>
          </a:p>
          <a:p>
            <a:pPr marL="712788" lvl="1" indent="-263525">
              <a:lnSpc>
                <a:spcPct val="90000"/>
              </a:lnSpc>
              <a:spcBef>
                <a:spcPts val="600"/>
              </a:spcBef>
              <a:spcAft>
                <a:spcPts val="0"/>
              </a:spcAft>
              <a:buClr>
                <a:srgbClr val="C00000"/>
              </a:buClr>
              <a:buSzPts val="2400"/>
              <a:buFont typeface="Noto Sans Symbols2" panose="020B0502040504020204" pitchFamily="34" charset="0"/>
              <a:buChar char="»"/>
            </a:pPr>
            <a:r>
              <a:rPr lang="es-ES" sz="2400" dirty="0"/>
              <a:t>Expertos del dominio</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p:txBody>
      </p:sp>
      <p:pic>
        <p:nvPicPr>
          <p:cNvPr id="8" name="Google Shape;665;p28" descr="Stakeholder engagement secrets from Apple, Levi's and Wrigley | Greenbiz">
            <a:extLst>
              <a:ext uri="{FF2B5EF4-FFF2-40B4-BE49-F238E27FC236}">
                <a16:creationId xmlns:a16="http://schemas.microsoft.com/office/drawing/2014/main" id="{EF10D737-B1C3-5A11-C1F6-A0FAF5AEC869}"/>
              </a:ext>
            </a:extLst>
          </p:cNvPr>
          <p:cNvPicPr preferRelativeResize="0"/>
          <p:nvPr/>
        </p:nvPicPr>
        <p:blipFill rotWithShape="1">
          <a:blip r:embed="rId3">
            <a:alphaModFix/>
          </a:blip>
          <a:srcRect l="7183" t="405" r="9260" b="-402"/>
          <a:stretch/>
        </p:blipFill>
        <p:spPr>
          <a:xfrm>
            <a:off x="7441654" y="3099666"/>
            <a:ext cx="4254112" cy="3096344"/>
          </a:xfrm>
          <a:prstGeom prst="rect">
            <a:avLst/>
          </a:prstGeom>
          <a:noFill/>
          <a:ln>
            <a:noFill/>
          </a:ln>
        </p:spPr>
      </p:pic>
    </p:spTree>
    <p:extLst>
      <p:ext uri="{BB962C8B-B14F-4D97-AF65-F5344CB8AC3E}">
        <p14:creationId xmlns:p14="http://schemas.microsoft.com/office/powerpoint/2010/main" val="17671213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FC7BC551-E28D-8651-8F74-1423985508C2}"/>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76F124AC-4855-D7A9-8C24-088F2E001FCA}"/>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Fuentes de Requerimientos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BB38847B-686C-1158-C7E0-4B01D74F756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CE394D1-4157-B27F-1618-72825362C909}"/>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B28D3B80-3A79-DC5A-C952-B392D3A9676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33</a:t>
            </a:fld>
            <a:endParaRPr lang="es-ES"/>
          </a:p>
        </p:txBody>
      </p:sp>
      <p:sp>
        <p:nvSpPr>
          <p:cNvPr id="6" name="Google Shape;149;g1f30b4104d4_0_0">
            <a:extLst>
              <a:ext uri="{FF2B5EF4-FFF2-40B4-BE49-F238E27FC236}">
                <a16:creationId xmlns:a16="http://schemas.microsoft.com/office/drawing/2014/main" id="{FB39B77F-EAF8-A230-B505-DFF68F1D8E54}"/>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Documentación</a:t>
            </a:r>
          </a:p>
          <a:p>
            <a:pPr marL="449263" indent="-449263" algn="just">
              <a:spcBef>
                <a:spcPts val="0"/>
              </a:spcBef>
              <a:spcAft>
                <a:spcPts val="0"/>
              </a:spcAft>
              <a:buClr>
                <a:srgbClr val="C00000"/>
              </a:buClr>
              <a:buSzPct val="100000"/>
              <a:buFont typeface="Noto Sans Symbols"/>
              <a:buChar char="❖"/>
            </a:pPr>
            <a:r>
              <a:rPr lang="es-ES" sz="2800" dirty="0" err="1">
                <a:latin typeface="Calibri"/>
                <a:cs typeface="Calibri"/>
                <a:sym typeface="Calibri"/>
              </a:rPr>
              <a:t>Stakeholders</a:t>
            </a:r>
            <a:endParaRPr lang="es-ES" sz="2800" dirty="0">
              <a:latin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latin typeface="Calibri"/>
                <a:cs typeface="Calibri"/>
                <a:sym typeface="Calibri"/>
              </a:rPr>
              <a:t>Especificaciones de sistemas similares</a:t>
            </a:r>
            <a:endParaRPr lang="es-ES" sz="2400" dirty="0"/>
          </a:p>
        </p:txBody>
      </p:sp>
      <p:pic>
        <p:nvPicPr>
          <p:cNvPr id="7" name="Google Shape;653;p27">
            <a:extLst>
              <a:ext uri="{FF2B5EF4-FFF2-40B4-BE49-F238E27FC236}">
                <a16:creationId xmlns:a16="http://schemas.microsoft.com/office/drawing/2014/main" id="{22FCD55E-C726-4D22-9772-B3CA8C7AF7E0}"/>
              </a:ext>
            </a:extLst>
          </p:cNvPr>
          <p:cNvPicPr preferRelativeResize="0"/>
          <p:nvPr/>
        </p:nvPicPr>
        <p:blipFill rotWithShape="1">
          <a:blip r:embed="rId3">
            <a:alphaModFix/>
          </a:blip>
          <a:srcRect l="7645" r="12322" b="13459"/>
          <a:stretch/>
        </p:blipFill>
        <p:spPr>
          <a:xfrm>
            <a:off x="7284204" y="2807023"/>
            <a:ext cx="4678040" cy="3336602"/>
          </a:xfrm>
          <a:prstGeom prst="rect">
            <a:avLst/>
          </a:prstGeom>
          <a:noFill/>
          <a:ln>
            <a:noFill/>
          </a:ln>
        </p:spPr>
      </p:pic>
    </p:spTree>
    <p:extLst>
      <p:ext uri="{BB962C8B-B14F-4D97-AF65-F5344CB8AC3E}">
        <p14:creationId xmlns:p14="http://schemas.microsoft.com/office/powerpoint/2010/main" val="40186004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5BCDFF5C-221F-1E47-A518-C4D42D022A50}"/>
            </a:ext>
          </a:extLst>
        </p:cNvPr>
        <p:cNvGrpSpPr/>
        <p:nvPr/>
      </p:nvGrpSpPr>
      <p:grpSpPr>
        <a:xfrm>
          <a:off x="0" y="0"/>
          <a:ext cx="0" cy="0"/>
          <a:chOff x="0" y="0"/>
          <a:chExt cx="0" cy="0"/>
        </a:xfrm>
      </p:grpSpPr>
      <p:pic>
        <p:nvPicPr>
          <p:cNvPr id="7" name="Google Shape;678;p29" descr="punto de vista | Toma de Decisiones. Miguel Angel Ariño">
            <a:extLst>
              <a:ext uri="{FF2B5EF4-FFF2-40B4-BE49-F238E27FC236}">
                <a16:creationId xmlns:a16="http://schemas.microsoft.com/office/drawing/2014/main" id="{4085E4B0-73CA-8023-C0BB-0F47974E9B0B}"/>
              </a:ext>
            </a:extLst>
          </p:cNvPr>
          <p:cNvPicPr preferRelativeResize="0"/>
          <p:nvPr/>
        </p:nvPicPr>
        <p:blipFill rotWithShape="1">
          <a:blip r:embed="rId3">
            <a:alphaModFix/>
          </a:blip>
          <a:srcRect l="5991" t="5620" r="5118" b="9374"/>
          <a:stretch>
            <a:fillRect/>
          </a:stretch>
        </p:blipFill>
        <p:spPr>
          <a:xfrm>
            <a:off x="9956971" y="4745423"/>
            <a:ext cx="1928284" cy="1592315"/>
          </a:xfrm>
          <a:prstGeom prst="rect">
            <a:avLst/>
          </a:prstGeom>
          <a:noFill/>
          <a:ln>
            <a:noFill/>
          </a:ln>
        </p:spPr>
      </p:pic>
      <p:sp>
        <p:nvSpPr>
          <p:cNvPr id="147" name="Google Shape;147;g1f30b4104d4_0_0">
            <a:extLst>
              <a:ext uri="{FF2B5EF4-FFF2-40B4-BE49-F238E27FC236}">
                <a16:creationId xmlns:a16="http://schemas.microsoft.com/office/drawing/2014/main" id="{930A6832-878D-A8C3-58EB-CD88644EF5BB}"/>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Puntos de vista</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EE948DB8-91B5-CA65-B649-3BB05BD8D72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81809B7-6854-8A31-B7E5-918FAA8C14CE}"/>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AB48FCE8-89ED-56C0-2248-F09A578BE11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34</a:t>
            </a:fld>
            <a:endParaRPr lang="es-ES"/>
          </a:p>
        </p:txBody>
      </p:sp>
      <p:sp>
        <p:nvSpPr>
          <p:cNvPr id="6" name="Google Shape;149;g1f30b4104d4_0_0">
            <a:extLst>
              <a:ext uri="{FF2B5EF4-FFF2-40B4-BE49-F238E27FC236}">
                <a16:creationId xmlns:a16="http://schemas.microsoft.com/office/drawing/2014/main" id="{29F3CD69-58FE-6EB0-9D8E-6C112E065D97}"/>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Existen tres tipos genéricos de puntos de vista:</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Punto de vista de los </a:t>
            </a:r>
            <a:r>
              <a:rPr lang="es-ES" sz="2400" b="1" dirty="0" err="1"/>
              <a:t>interactuadores</a:t>
            </a:r>
            <a:r>
              <a:rPr lang="es-ES" sz="2400" dirty="0"/>
              <a:t>: representan a las personas u otros sistemas que interactúan directamente con el sistema. Pueden influir en los requerimientos del sistema de algún modo.</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Punto de vista </a:t>
            </a:r>
            <a:r>
              <a:rPr lang="es-ES" sz="2400" b="1" dirty="0"/>
              <a:t>indirecto</a:t>
            </a:r>
            <a:r>
              <a:rPr lang="es-ES" sz="2400" dirty="0"/>
              <a:t>: representan a los </a:t>
            </a:r>
            <a:r>
              <a:rPr lang="es-ES" sz="2400" dirty="0" err="1"/>
              <a:t>stakeholders</a:t>
            </a:r>
            <a:r>
              <a:rPr lang="es-ES" sz="2400" dirty="0"/>
              <a:t> que no utilizan el sistema ellos mismos pero que influyen en los requerimientos de algún modo.</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Punto de vista del </a:t>
            </a:r>
            <a:r>
              <a:rPr lang="es-ES" sz="2400" b="1" dirty="0"/>
              <a:t>dominio</a:t>
            </a:r>
            <a:r>
              <a:rPr lang="es-ES" sz="2400" dirty="0"/>
              <a:t>: representan las características y restricciones del dominio que influyen en los requerimientos del sistema.</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p:txBody>
      </p:sp>
    </p:spTree>
    <p:extLst>
      <p:ext uri="{BB962C8B-B14F-4D97-AF65-F5344CB8AC3E}">
        <p14:creationId xmlns:p14="http://schemas.microsoft.com/office/powerpoint/2010/main" val="188537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268517D-6FB8-0591-0ABB-B7FAF1111D41}"/>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06A10738-1F5A-5F0B-92C8-4A464276BEB5}"/>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Puntos de vista</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6D9932CB-3D3A-B251-BAA7-8104FCF76D6E}"/>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8CD8A27-A28E-160B-ECA1-928205793506}"/>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8FFEFA85-1905-E98A-6BAB-E738BC6B046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35</a:t>
            </a:fld>
            <a:endParaRPr lang="es-ES"/>
          </a:p>
        </p:txBody>
      </p:sp>
      <p:sp>
        <p:nvSpPr>
          <p:cNvPr id="6" name="Google Shape;149;g1f30b4104d4_0_0">
            <a:extLst>
              <a:ext uri="{FF2B5EF4-FFF2-40B4-BE49-F238E27FC236}">
                <a16:creationId xmlns:a16="http://schemas.microsoft.com/office/drawing/2014/main" id="{3DB25F62-BA90-1E26-5353-B7A326CEBB24}"/>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Su identificación puede ser difícil. </a:t>
            </a: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Los más específicos son:</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Los proveedores de servicios al sistema, los receptores de servicios del sistema.</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Los sistemas que deben interactuar.</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Las regulaciones y estándares a aplicar.</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Las fuentes de requerimientos.</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Los puntos de vista de las personas que lo van a desarrollar, administrar y mantener.</a:t>
            </a:r>
          </a:p>
          <a:p>
            <a:pPr marL="712788" lvl="1" indent="-263525" algn="just">
              <a:lnSpc>
                <a:spcPct val="90000"/>
              </a:lnSpc>
              <a:spcBef>
                <a:spcPts val="400"/>
              </a:spcBef>
              <a:spcAft>
                <a:spcPts val="0"/>
              </a:spcAft>
              <a:buClr>
                <a:srgbClr val="C00000"/>
              </a:buClr>
              <a:buSzPts val="2400"/>
              <a:buFont typeface="Noto Sans Symbols2" panose="020B0502040504020204" pitchFamily="34" charset="0"/>
              <a:buChar char="»"/>
            </a:pPr>
            <a:r>
              <a:rPr lang="es-ES" sz="2400" dirty="0"/>
              <a:t>Puntos de vista del marketing y otros que generan requerimientos sobre las características del sistema.</a:t>
            </a:r>
          </a:p>
        </p:txBody>
      </p:sp>
      <p:pic>
        <p:nvPicPr>
          <p:cNvPr id="8" name="Google Shape;686;p30" descr="MI COLE AL DÍA on Twitter: &quot;Escuchar otro punto de vista... Y comprenderlo.  #eduhora180… &quot;">
            <a:extLst>
              <a:ext uri="{FF2B5EF4-FFF2-40B4-BE49-F238E27FC236}">
                <a16:creationId xmlns:a16="http://schemas.microsoft.com/office/drawing/2014/main" id="{B2C537D0-4D4B-0ECA-6601-F55967582B5D}"/>
              </a:ext>
            </a:extLst>
          </p:cNvPr>
          <p:cNvPicPr preferRelativeResize="0"/>
          <p:nvPr/>
        </p:nvPicPr>
        <p:blipFill rotWithShape="1">
          <a:blip r:embed="rId3">
            <a:alphaModFix/>
          </a:blip>
          <a:srcRect/>
          <a:stretch/>
        </p:blipFill>
        <p:spPr>
          <a:xfrm>
            <a:off x="7313211" y="349250"/>
            <a:ext cx="3501934" cy="2327023"/>
          </a:xfrm>
          <a:prstGeom prst="rect">
            <a:avLst/>
          </a:prstGeom>
          <a:noFill/>
          <a:ln>
            <a:noFill/>
          </a:ln>
        </p:spPr>
      </p:pic>
    </p:spTree>
    <p:extLst>
      <p:ext uri="{BB962C8B-B14F-4D97-AF65-F5344CB8AC3E}">
        <p14:creationId xmlns:p14="http://schemas.microsoft.com/office/powerpoint/2010/main" val="3044649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99"/>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C00000"/>
              </a:buClr>
              <a:buSzPts val="5400"/>
              <a:buFont typeface="Calibri"/>
              <a:buNone/>
            </a:pPr>
            <a:r>
              <a:rPr lang="es-ES" dirty="0"/>
              <a:t>Elicitación de Requerimientos</a:t>
            </a:r>
            <a:endParaRPr dirty="0"/>
          </a:p>
        </p:txBody>
      </p:sp>
      <p:sp>
        <p:nvSpPr>
          <p:cNvPr id="4" name="Marcador de contenido 3">
            <a:extLst>
              <a:ext uri="{FF2B5EF4-FFF2-40B4-BE49-F238E27FC236}">
                <a16:creationId xmlns:a16="http://schemas.microsoft.com/office/drawing/2014/main" id="{2DE7889F-CFF5-48C3-E52E-B19B7C8ECD74}"/>
              </a:ext>
            </a:extLst>
          </p:cNvPr>
          <p:cNvSpPr>
            <a:spLocks noGrp="1"/>
          </p:cNvSpPr>
          <p:nvPr>
            <p:ph idx="1"/>
          </p:nvPr>
        </p:nvSpPr>
        <p:spPr/>
        <p:txBody>
          <a:bodyPr/>
          <a:lstStyle/>
          <a:p>
            <a:pPr marL="449263" indent="-449263" algn="just">
              <a:spcBef>
                <a:spcPts val="0"/>
              </a:spcBef>
              <a:spcAft>
                <a:spcPts val="0"/>
              </a:spcAft>
              <a:buClr>
                <a:srgbClr val="C00000"/>
              </a:buClr>
              <a:buFont typeface="Noto Sans Symbols"/>
              <a:buChar char="❖"/>
            </a:pPr>
            <a:r>
              <a:rPr lang="es-ES" sz="2800" dirty="0">
                <a:solidFill>
                  <a:schemeClr val="tx1"/>
                </a:solidFill>
                <a:ea typeface="Calibri"/>
                <a:cs typeface="Calibri"/>
                <a:sym typeface="Calibri"/>
              </a:rPr>
              <a:t>Es el proceso de adquirir (“</a:t>
            </a:r>
            <a:r>
              <a:rPr lang="es-ES" sz="2800" dirty="0" err="1">
                <a:solidFill>
                  <a:schemeClr val="tx1"/>
                </a:solidFill>
                <a:ea typeface="Calibri"/>
                <a:cs typeface="Calibri"/>
                <a:sym typeface="Calibri"/>
              </a:rPr>
              <a:t>eliciting</a:t>
            </a:r>
            <a:r>
              <a:rPr lang="es-ES" sz="2800" dirty="0">
                <a:solidFill>
                  <a:schemeClr val="tx1"/>
                </a:solidFill>
                <a:ea typeface="Calibri"/>
                <a:cs typeface="Calibri"/>
                <a:sym typeface="Calibri"/>
              </a:rPr>
              <a:t>”) [sonsacar] todo el conocimiento relevante necesario para producir un modelo de los requerimientos de un dominio de problema. </a:t>
            </a:r>
          </a:p>
          <a:p>
            <a:pPr marL="449263" indent="-449263" algn="just">
              <a:spcBef>
                <a:spcPts val="0"/>
              </a:spcBef>
              <a:spcAft>
                <a:spcPts val="0"/>
              </a:spcAft>
              <a:buClr>
                <a:srgbClr val="C00000"/>
              </a:buClr>
              <a:buFont typeface="Noto Sans Symbols"/>
              <a:buChar char="❖"/>
            </a:pPr>
            <a:endParaRPr lang="es-ES" sz="2800" dirty="0">
              <a:solidFill>
                <a:schemeClr val="tx1"/>
              </a:solidFill>
              <a:ea typeface="Calibri"/>
              <a:cs typeface="Calibri"/>
              <a:sym typeface="Calibri"/>
            </a:endParaRPr>
          </a:p>
          <a:p>
            <a:pPr marL="449263" indent="-449263" algn="just">
              <a:spcBef>
                <a:spcPts val="0"/>
              </a:spcBef>
              <a:spcAft>
                <a:spcPts val="0"/>
              </a:spcAft>
              <a:buClr>
                <a:srgbClr val="C00000"/>
              </a:buClr>
              <a:buFont typeface="Noto Sans Symbols"/>
              <a:buChar char="❖"/>
            </a:pPr>
            <a:r>
              <a:rPr lang="es-ES" sz="2800" dirty="0">
                <a:solidFill>
                  <a:schemeClr val="tx1"/>
                </a:solidFill>
                <a:ea typeface="Calibri"/>
                <a:cs typeface="Calibri"/>
                <a:sym typeface="Calibri"/>
              </a:rPr>
              <a:t>Objetivos:</a:t>
            </a:r>
          </a:p>
          <a:p>
            <a:pPr marL="620713" indent="-263525" algn="just">
              <a:spcBef>
                <a:spcPts val="0"/>
              </a:spcBef>
              <a:spcAft>
                <a:spcPts val="0"/>
              </a:spcAft>
              <a:buClr>
                <a:srgbClr val="C00000"/>
              </a:buClr>
              <a:buFont typeface="Noto Sans Symbols2" panose="020B0502040504020204" pitchFamily="34" charset="0"/>
              <a:buChar char="»"/>
            </a:pPr>
            <a:r>
              <a:rPr lang="es-ES" sz="2400" dirty="0">
                <a:solidFill>
                  <a:schemeClr val="tx1"/>
                </a:solidFill>
                <a:ea typeface="Calibri"/>
                <a:cs typeface="Calibri"/>
                <a:sym typeface="Calibri"/>
              </a:rPr>
              <a:t>Conocer el dominio del problema para poder comunicarse con clientes y usuarios y entender sus necesidades.</a:t>
            </a:r>
          </a:p>
          <a:p>
            <a:pPr marL="620713" indent="-263525" algn="just">
              <a:spcBef>
                <a:spcPts val="0"/>
              </a:spcBef>
              <a:spcAft>
                <a:spcPts val="0"/>
              </a:spcAft>
              <a:buClr>
                <a:srgbClr val="C00000"/>
              </a:buClr>
              <a:buFont typeface="Noto Sans Symbols2" panose="020B0502040504020204" pitchFamily="34" charset="0"/>
              <a:buChar char="»"/>
            </a:pPr>
            <a:r>
              <a:rPr lang="es-ES" sz="2400" dirty="0">
                <a:solidFill>
                  <a:schemeClr val="tx1"/>
                </a:solidFill>
                <a:ea typeface="Calibri"/>
                <a:cs typeface="Calibri"/>
                <a:sym typeface="Calibri"/>
              </a:rPr>
              <a:t>Conocer el sistema actual (manual o informatizado).</a:t>
            </a:r>
          </a:p>
          <a:p>
            <a:pPr marL="620713" indent="-263525" algn="just">
              <a:spcBef>
                <a:spcPts val="0"/>
              </a:spcBef>
              <a:spcAft>
                <a:spcPts val="0"/>
              </a:spcAft>
              <a:buClr>
                <a:srgbClr val="C00000"/>
              </a:buClr>
              <a:buFont typeface="Noto Sans Symbols2" panose="020B0502040504020204" pitchFamily="34" charset="0"/>
              <a:buChar char="»"/>
            </a:pPr>
            <a:r>
              <a:rPr lang="es-ES" sz="2400" dirty="0">
                <a:solidFill>
                  <a:schemeClr val="tx1"/>
                </a:solidFill>
                <a:ea typeface="Calibri"/>
                <a:cs typeface="Calibri"/>
                <a:sym typeface="Calibri"/>
              </a:rPr>
              <a:t>Identificar las necesidades, tanto explícitas como implícitas, de clientes y usuarios y sus expectativas sobre el sistema a desarrollar.</a:t>
            </a:r>
          </a:p>
          <a:p>
            <a:pPr marL="449263" indent="-449263" algn="just">
              <a:spcBef>
                <a:spcPts val="0"/>
              </a:spcBef>
              <a:spcAft>
                <a:spcPts val="0"/>
              </a:spcAft>
              <a:buClr>
                <a:srgbClr val="C00000"/>
              </a:buClr>
              <a:buFont typeface="Noto Sans Symbols"/>
              <a:buChar char="❖"/>
            </a:pPr>
            <a:endParaRPr lang="es-ES" sz="2800" dirty="0">
              <a:solidFill>
                <a:schemeClr val="tx1"/>
              </a:solidFill>
              <a:ea typeface="Calibri"/>
              <a:cs typeface="Calibri"/>
              <a:sym typeface="Calibri"/>
            </a:endParaRPr>
          </a:p>
          <a:p>
            <a:pPr marL="0" indent="0">
              <a:buNone/>
            </a:pPr>
            <a:endParaRPr lang="es-ES" dirty="0">
              <a:solidFill>
                <a:schemeClr val="tx1"/>
              </a:solidFill>
            </a:endParaRPr>
          </a:p>
        </p:txBody>
      </p:sp>
      <p:sp>
        <p:nvSpPr>
          <p:cNvPr id="5" name="Marcador de texto 4">
            <a:extLst>
              <a:ext uri="{FF2B5EF4-FFF2-40B4-BE49-F238E27FC236}">
                <a16:creationId xmlns:a16="http://schemas.microsoft.com/office/drawing/2014/main" id="{7DB55441-A472-E50E-603C-60B0208DBD79}"/>
              </a:ext>
            </a:extLst>
          </p:cNvPr>
          <p:cNvSpPr>
            <a:spLocks noGrp="1"/>
          </p:cNvSpPr>
          <p:nvPr>
            <p:ph type="body" sz="half" idx="2"/>
          </p:nvPr>
        </p:nvSpPr>
        <p:spPr/>
        <p:txBody>
          <a:bodyPr/>
          <a:lstStyle/>
          <a:p>
            <a:endParaRPr lang="es-ES" dirty="0"/>
          </a:p>
        </p:txBody>
      </p:sp>
      <p:sp>
        <p:nvSpPr>
          <p:cNvPr id="2" name="Marcador de fecha 1">
            <a:extLst>
              <a:ext uri="{FF2B5EF4-FFF2-40B4-BE49-F238E27FC236}">
                <a16:creationId xmlns:a16="http://schemas.microsoft.com/office/drawing/2014/main" id="{AEC56EF8-D74A-FAF9-98A1-60037802ABEA}"/>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D103D998-B779-46E7-BF1E-5A1C5023918C}"/>
              </a:ext>
            </a:extLst>
          </p:cNvPr>
          <p:cNvSpPr>
            <a:spLocks noGrp="1"/>
          </p:cNvSpPr>
          <p:nvPr>
            <p:ph type="ftr" sz="quarter" idx="11"/>
          </p:nvPr>
        </p:nvSpPr>
        <p:spPr/>
        <p:txBody>
          <a:bodyPr/>
          <a:lstStyle/>
          <a:p>
            <a:r>
              <a:rPr lang="es-ES"/>
              <a:t>INGENIERÍA DE SOFTWARE I</a:t>
            </a:r>
          </a:p>
        </p:txBody>
      </p:sp>
      <p:sp>
        <p:nvSpPr>
          <p:cNvPr id="692" name="Google Shape;692;p99"/>
          <p:cNvSpPr txBox="1">
            <a:spLocks noGrp="1"/>
          </p:cNvSpPr>
          <p:nvPr>
            <p:ph type="sldNum" sz="quarter" idx="12"/>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7700"/>
              <a:buNone/>
            </a:pPr>
            <a:fld id="{00000000-1234-1234-1234-123412341234}" type="slidenum">
              <a:rPr lang="es-ES"/>
              <a:t>36</a:t>
            </a:fld>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F5FE0AC8-78C4-6972-4077-456E43D847DB}"/>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3E09CB9A-073F-C2BA-15EF-E6900B9A53FE}"/>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Elicitación de Requerimientos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ED76768C-30C9-F75E-7D9C-0DF19584AFAB}"/>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117B989B-5539-D5EA-E250-7820C798F96F}"/>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CAB9929C-DA22-8FD2-A895-8D475CCDBC9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37</a:t>
            </a:fld>
            <a:endParaRPr lang="es-ES"/>
          </a:p>
        </p:txBody>
      </p:sp>
      <p:sp>
        <p:nvSpPr>
          <p:cNvPr id="6" name="Google Shape;149;g1f30b4104d4_0_0">
            <a:extLst>
              <a:ext uri="{FF2B5EF4-FFF2-40B4-BE49-F238E27FC236}">
                <a16:creationId xmlns:a16="http://schemas.microsoft.com/office/drawing/2014/main" id="{559B8E1B-B845-D1A5-782B-0A9D93211F99}"/>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La elicitación de requisitos es una actividad principalmente de carácter social, mucho más que tecnológico.</a:t>
            </a: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Los problemas que se plantean son, por tanto, de naturaleza psicológica y social, más que técnicos.</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a:p>
            <a:pPr marL="620713" indent="-263525" algn="just">
              <a:spcBef>
                <a:spcPts val="0"/>
              </a:spcBef>
              <a:spcAft>
                <a:spcPts val="0"/>
              </a:spcAft>
              <a:buClr>
                <a:srgbClr val="C00000"/>
              </a:buClr>
              <a:buSzPct val="100000"/>
              <a:buFont typeface="Noto Sans Symbols2" panose="020B0502040504020204" pitchFamily="34" charset="0"/>
              <a:buChar char="»"/>
            </a:pPr>
            <a:r>
              <a:rPr lang="es-ES" sz="2400" i="1" u="sng" dirty="0">
                <a:latin typeface="Calibri"/>
                <a:ea typeface="Calibri"/>
                <a:cs typeface="Calibri"/>
                <a:sym typeface="Calibri"/>
              </a:rPr>
              <a:t>Nota</a:t>
            </a:r>
            <a:r>
              <a:rPr lang="es-ES" sz="2400" i="1" dirty="0">
                <a:latin typeface="Calibri"/>
                <a:ea typeface="Calibri"/>
                <a:cs typeface="Calibri"/>
                <a:sym typeface="Calibri"/>
              </a:rPr>
              <a:t>: Requerimientos = Requisitos.</a:t>
            </a:r>
          </a:p>
        </p:txBody>
      </p:sp>
      <p:pic>
        <p:nvPicPr>
          <p:cNvPr id="7" name="Google Shape;714;p104" descr="http://www.wheresthedrama.com/ego.jpg">
            <a:extLst>
              <a:ext uri="{FF2B5EF4-FFF2-40B4-BE49-F238E27FC236}">
                <a16:creationId xmlns:a16="http://schemas.microsoft.com/office/drawing/2014/main" id="{205B9961-8A96-4FAD-E178-41AE58754125}"/>
              </a:ext>
            </a:extLst>
          </p:cNvPr>
          <p:cNvPicPr preferRelativeResize="0"/>
          <p:nvPr/>
        </p:nvPicPr>
        <p:blipFill rotWithShape="1">
          <a:blip r:embed="rId3"/>
          <a:srcRect/>
          <a:stretch/>
        </p:blipFill>
        <p:spPr>
          <a:xfrm>
            <a:off x="8503644" y="3952081"/>
            <a:ext cx="2534314" cy="1809751"/>
          </a:xfrm>
          <a:prstGeom prst="rect">
            <a:avLst/>
          </a:prstGeom>
        </p:spPr>
      </p:pic>
    </p:spTree>
    <p:extLst>
      <p:ext uri="{BB962C8B-B14F-4D97-AF65-F5344CB8AC3E}">
        <p14:creationId xmlns:p14="http://schemas.microsoft.com/office/powerpoint/2010/main" val="8021874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FAD57E6D-24F6-3816-69E4-14EC02384DDA}"/>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2F73EE03-7AA1-7A43-CCB5-34A791B5C09B}"/>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Problemas de comunicación</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618DF374-1B73-7C20-F988-96AD379E927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31A3596-BF18-80D7-18A5-57541057A43A}"/>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D35D6B86-8666-818F-4775-92057D9BBFC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38</a:t>
            </a:fld>
            <a:endParaRPr lang="es-ES"/>
          </a:p>
        </p:txBody>
      </p:sp>
      <p:sp>
        <p:nvSpPr>
          <p:cNvPr id="6" name="Google Shape;149;g1f30b4104d4_0_0">
            <a:extLst>
              <a:ext uri="{FF2B5EF4-FFF2-40B4-BE49-F238E27FC236}">
                <a16:creationId xmlns:a16="http://schemas.microsoft.com/office/drawing/2014/main" id="{98537FD8-2EF5-5BAF-32C0-11F0944CB56D}"/>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Dificultad para expresar claramente las necesidades.</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No ser conscientes de sus propias necesidades.</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No entender cómo la tecnología puede ayudar.</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Miedo a parecer incompetentes por ignorancia tecnológica.</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No tomar decisiones por no poder prever las  consecuencias, no entender las alternativas o no tener una visión global.</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Cultura y vocabulario diferentes.</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Intereses distintos en el sistema a desarrollar.</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Medios de comunicación inadecuados (diagramas que no entienden los clientes y usuarios).</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Conflictos personales o políticos.</a:t>
            </a:r>
          </a:p>
        </p:txBody>
      </p:sp>
    </p:spTree>
    <p:extLst>
      <p:ext uri="{BB962C8B-B14F-4D97-AF65-F5344CB8AC3E}">
        <p14:creationId xmlns:p14="http://schemas.microsoft.com/office/powerpoint/2010/main" val="2289864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059BE44B-15F9-AEDF-A809-E5D96181011F}"/>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30B40789-F188-3793-0C5B-35F8D2B65975}"/>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Problemas de comunicación</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E7C6B255-2E1A-E9A2-E1A3-636867D8FF6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83A2EEC-8788-2565-DA93-E17C09146C0B}"/>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BDDAC535-F101-C9D4-C7FC-12959D4C17C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39</a:t>
            </a:fld>
            <a:endParaRPr lang="es-ES"/>
          </a:p>
        </p:txBody>
      </p:sp>
      <p:sp>
        <p:nvSpPr>
          <p:cNvPr id="6" name="Google Shape;149;g1f30b4104d4_0_0">
            <a:extLst>
              <a:ext uri="{FF2B5EF4-FFF2-40B4-BE49-F238E27FC236}">
                <a16:creationId xmlns:a16="http://schemas.microsoft.com/office/drawing/2014/main" id="{F2D1A8DF-8D40-3236-4392-B9931113B525}"/>
              </a:ext>
            </a:extLst>
          </p:cNvPr>
          <p:cNvSpPr/>
          <p:nvPr/>
        </p:nvSpPr>
        <p:spPr>
          <a:xfrm>
            <a:off x="1087731" y="1873966"/>
            <a:ext cx="10170042" cy="4478414"/>
          </a:xfrm>
          <a:prstGeom prst="rect">
            <a:avLst/>
          </a:prstGeom>
          <a:noFill/>
          <a:ln>
            <a:noFill/>
          </a:ln>
        </p:spPr>
        <p:txBody>
          <a:bodyPr spcFirstLastPara="1" wrap="square" lIns="90000" tIns="45000" rIns="90000" bIns="45000" anchor="t" anchorCtr="0">
            <a:noAutofit/>
          </a:bodyPr>
          <a:lstStyle/>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Limitaciones cognitivas (del desarrollador)</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No conocer el dominio del problema.</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Hacer suposiciones sobre el dominio del problema.</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Hacer suposiciones sobre aspectos tecnológicos.</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Hacer simplificaciones excesivas.</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Conducta humana</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Conflictos y ambigüedades en los roles de los participantes.</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Pasividad de clientes, usuarios o ingenieros de requisitos.</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Temor a que el nuevo sistema lo deje sin trabajo.</a:t>
            </a:r>
          </a:p>
          <a:p>
            <a:pPr marL="449263" indent="-3556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Técnicos </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Complejidad del dominio del problema.</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Complejidad de los requisitos.</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Múltiples fuentes de requisitos.</a:t>
            </a:r>
          </a:p>
          <a:p>
            <a:pPr marL="806450" lvl="1" indent="-255588" algn="just">
              <a:spcBef>
                <a:spcPts val="0"/>
              </a:spcBef>
              <a:spcAft>
                <a:spcPts val="0"/>
              </a:spcAft>
              <a:buClr>
                <a:srgbClr val="C00000"/>
              </a:buClr>
              <a:buSzPct val="100000"/>
              <a:buFont typeface="Arial" panose="020B0604020202020204" pitchFamily="34" charset="0"/>
              <a:buChar char="•"/>
            </a:pPr>
            <a:r>
              <a:rPr lang="es-ES" sz="2000" dirty="0">
                <a:latin typeface="Calibri"/>
                <a:ea typeface="Calibri"/>
                <a:cs typeface="Calibri"/>
                <a:sym typeface="Calibri"/>
              </a:rPr>
              <a:t>Fuentes de información poco claras.</a:t>
            </a:r>
            <a:endParaRPr lang="es-ES" sz="2400" dirty="0">
              <a:latin typeface="Calibri"/>
              <a:ea typeface="Calibri"/>
              <a:cs typeface="Calibri"/>
              <a:sym typeface="Calibri"/>
            </a:endParaRPr>
          </a:p>
        </p:txBody>
      </p:sp>
    </p:spTree>
    <p:extLst>
      <p:ext uri="{BB962C8B-B14F-4D97-AF65-F5344CB8AC3E}">
        <p14:creationId xmlns:p14="http://schemas.microsoft.com/office/powerpoint/2010/main" val="28359969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23B43112-0A9A-39AA-F73B-5951EBF79A2E}"/>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BC1C8567-C4B0-87DB-8571-077C6B7FFC53}"/>
              </a:ext>
            </a:extLst>
          </p:cNvPr>
          <p:cNvSpPr txBox="1">
            <a:spLocks noGrp="1"/>
          </p:cNvSpPr>
          <p:nvPr>
            <p:ph type="title"/>
          </p:nvPr>
        </p:nvSpPr>
        <p:spPr>
          <a:xfrm>
            <a:off x="1091253" y="1131376"/>
            <a:ext cx="10058707"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Técnicas de Elicitación</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9190966B-BC6D-436D-C37B-4CA78EECBD2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2EB4551-4066-335D-F89C-714B410F8170}"/>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76947967-BB3D-F893-A831-E47371C40AE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40</a:t>
            </a:fld>
            <a:endParaRPr lang="es-ES"/>
          </a:p>
        </p:txBody>
      </p:sp>
      <p:sp>
        <p:nvSpPr>
          <p:cNvPr id="6" name="Google Shape;149;g1f30b4104d4_0_0">
            <a:extLst>
              <a:ext uri="{FF2B5EF4-FFF2-40B4-BE49-F238E27FC236}">
                <a16:creationId xmlns:a16="http://schemas.microsoft.com/office/drawing/2014/main" id="{E5995929-6CBA-B0FB-C091-79266AE1D96F}"/>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La elicitación de requisitos se realiza aplicando diversos métodos de recopilación de información:</a:t>
            </a:r>
          </a:p>
          <a:p>
            <a:pPr marL="620713" indent="-263525" algn="just">
              <a:lnSpc>
                <a:spcPct val="150000"/>
              </a:lnSpc>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Métodos discretos</a:t>
            </a:r>
          </a:p>
          <a:p>
            <a:pPr marL="992188" lvl="1" indent="-371475">
              <a:lnSpc>
                <a:spcPct val="75000"/>
              </a:lnSpc>
              <a:spcBef>
                <a:spcPts val="450"/>
              </a:spcBef>
              <a:spcAft>
                <a:spcPts val="0"/>
              </a:spcAft>
              <a:buClr>
                <a:srgbClr val="262626"/>
              </a:buClr>
              <a:buSzPts val="2220"/>
              <a:buFont typeface="Calibri"/>
              <a:buAutoNum type="arabicPeriod"/>
            </a:pPr>
            <a:r>
              <a:rPr lang="es-ES" sz="2220" dirty="0"/>
              <a:t>Muestreo de la documentación, los formularios y los datos existentes.</a:t>
            </a:r>
            <a:endParaRPr lang="es-ES" dirty="0"/>
          </a:p>
          <a:p>
            <a:pPr marL="992188" lvl="1" indent="-371475">
              <a:lnSpc>
                <a:spcPct val="75000"/>
              </a:lnSpc>
              <a:spcBef>
                <a:spcPts val="450"/>
              </a:spcBef>
              <a:spcAft>
                <a:spcPts val="0"/>
              </a:spcAft>
              <a:buClr>
                <a:srgbClr val="262626"/>
              </a:buClr>
              <a:buSzPts val="2220"/>
              <a:buFont typeface="Calibri"/>
              <a:buAutoNum type="arabicPeriod"/>
            </a:pPr>
            <a:r>
              <a:rPr lang="es-ES" sz="2220" dirty="0"/>
              <a:t>Investigación y visitas al lugar.</a:t>
            </a:r>
            <a:endParaRPr lang="es-ES" dirty="0"/>
          </a:p>
          <a:p>
            <a:pPr marL="992188" lvl="1" indent="-371475">
              <a:lnSpc>
                <a:spcPct val="75000"/>
              </a:lnSpc>
              <a:spcBef>
                <a:spcPts val="450"/>
              </a:spcBef>
              <a:spcAft>
                <a:spcPts val="0"/>
              </a:spcAft>
              <a:buClr>
                <a:srgbClr val="262626"/>
              </a:buClr>
              <a:buSzPts val="2220"/>
              <a:buFont typeface="Calibri"/>
              <a:buAutoNum type="arabicPeriod"/>
            </a:pPr>
            <a:r>
              <a:rPr lang="es-ES" sz="2220" dirty="0"/>
              <a:t>Observación del ambiente de trabajo.</a:t>
            </a:r>
            <a:endParaRPr lang="es-ES" sz="2400" b="1" dirty="0">
              <a:latin typeface="Calibri"/>
              <a:ea typeface="Calibri"/>
              <a:cs typeface="Calibri"/>
              <a:sym typeface="Calibri"/>
            </a:endParaRPr>
          </a:p>
          <a:p>
            <a:pPr marL="620713" indent="-263525" algn="just">
              <a:lnSpc>
                <a:spcPct val="150000"/>
              </a:lnSpc>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Métodos interactivos</a:t>
            </a:r>
          </a:p>
          <a:p>
            <a:pPr marL="992188" lvl="1" indent="-371475">
              <a:lnSpc>
                <a:spcPct val="75000"/>
              </a:lnSpc>
              <a:spcBef>
                <a:spcPts val="450"/>
              </a:spcBef>
              <a:spcAft>
                <a:spcPts val="0"/>
              </a:spcAft>
              <a:buClr>
                <a:srgbClr val="262626"/>
              </a:buClr>
              <a:buSzPts val="2220"/>
              <a:buFont typeface="Calibri"/>
              <a:buAutoNum type="arabicPeriod"/>
            </a:pPr>
            <a:r>
              <a:rPr lang="es-ES" sz="2220" dirty="0"/>
              <a:t>Cuestionarios.</a:t>
            </a:r>
            <a:endParaRPr lang="es-ES" dirty="0"/>
          </a:p>
          <a:p>
            <a:pPr marL="992188" lvl="1" indent="-371475">
              <a:lnSpc>
                <a:spcPct val="75000"/>
              </a:lnSpc>
              <a:spcBef>
                <a:spcPts val="450"/>
              </a:spcBef>
              <a:spcAft>
                <a:spcPts val="0"/>
              </a:spcAft>
              <a:buClr>
                <a:srgbClr val="262626"/>
              </a:buClr>
              <a:buSzPts val="2220"/>
              <a:buFont typeface="Calibri"/>
              <a:buAutoNum type="arabicPeriod"/>
            </a:pPr>
            <a:r>
              <a:rPr lang="es-ES" sz="2220" dirty="0"/>
              <a:t>Entrevistas.</a:t>
            </a:r>
            <a:endParaRPr lang="es-ES" dirty="0"/>
          </a:p>
          <a:p>
            <a:pPr marL="992188" lvl="1" indent="-371475">
              <a:lnSpc>
                <a:spcPct val="75000"/>
              </a:lnSpc>
              <a:spcBef>
                <a:spcPts val="450"/>
              </a:spcBef>
              <a:spcAft>
                <a:spcPts val="0"/>
              </a:spcAft>
              <a:buClr>
                <a:srgbClr val="262626"/>
              </a:buClr>
              <a:buSzPts val="2220"/>
              <a:buFont typeface="Calibri"/>
              <a:buAutoNum type="arabicPeriod"/>
            </a:pPr>
            <a:r>
              <a:rPr lang="es-ES" sz="2220" dirty="0"/>
              <a:t>Planeación conjunta de Requerimientos (JRP o JAD).</a:t>
            </a:r>
            <a:endParaRPr lang="es-ES" dirty="0"/>
          </a:p>
          <a:p>
            <a:pPr marL="992188" lvl="1" indent="-371475">
              <a:lnSpc>
                <a:spcPct val="75000"/>
              </a:lnSpc>
              <a:spcBef>
                <a:spcPts val="450"/>
              </a:spcBef>
              <a:spcAft>
                <a:spcPts val="0"/>
              </a:spcAft>
              <a:buClr>
                <a:srgbClr val="262626"/>
              </a:buClr>
              <a:buSzPts val="2220"/>
              <a:buFont typeface="Calibri"/>
              <a:buAutoNum type="arabicPeriod"/>
            </a:pPr>
            <a:r>
              <a:rPr lang="es-ES" sz="2220" dirty="0"/>
              <a:t>Lluvia de Ideas - </a:t>
            </a:r>
            <a:r>
              <a:rPr lang="es-ES" sz="2220" dirty="0" err="1"/>
              <a:t>Brainstorming</a:t>
            </a:r>
            <a:r>
              <a:rPr lang="es-ES" sz="2220" dirty="0"/>
              <a:t>.</a:t>
            </a:r>
          </a:p>
          <a:p>
            <a:pPr marL="620713" indent="-263525" algn="just">
              <a:spcBef>
                <a:spcPts val="0"/>
              </a:spcBef>
              <a:spcAft>
                <a:spcPts val="0"/>
              </a:spcAft>
              <a:buClr>
                <a:srgbClr val="C00000"/>
              </a:buClr>
              <a:buSzPct val="100000"/>
              <a:buFont typeface="Noto Sans Symbols2" panose="020B0502040504020204" pitchFamily="34" charset="0"/>
              <a:buChar char="»"/>
            </a:pPr>
            <a:endParaRPr lang="es-ES" sz="2400" dirty="0">
              <a:latin typeface="Calibri"/>
              <a:ea typeface="Calibri"/>
              <a:cs typeface="Calibri"/>
              <a:sym typeface="Calibri"/>
            </a:endParaRPr>
          </a:p>
        </p:txBody>
      </p:sp>
    </p:spTree>
    <p:extLst>
      <p:ext uri="{BB962C8B-B14F-4D97-AF65-F5344CB8AC3E}">
        <p14:creationId xmlns:p14="http://schemas.microsoft.com/office/powerpoint/2010/main" val="1937715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AA84910A-5698-1752-0D05-59055B701016}"/>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126ACC31-7A32-73F9-5610-473AB5A68F51}"/>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25F37B34-4BA9-FE69-BCE8-5F8C527832A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38EE88C1-0B26-447D-DFF7-7191BAE43DEB}"/>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2C04D565-F483-EA81-9AEE-A1AE16852B8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41</a:t>
            </a:fld>
            <a:endParaRPr lang="es-ES"/>
          </a:p>
        </p:txBody>
      </p:sp>
      <p:sp>
        <p:nvSpPr>
          <p:cNvPr id="6" name="Google Shape;149;g1f30b4104d4_0_0">
            <a:extLst>
              <a:ext uri="{FF2B5EF4-FFF2-40B4-BE49-F238E27FC236}">
                <a16:creationId xmlns:a16="http://schemas.microsoft.com/office/drawing/2014/main" id="{503E588A-8246-F02F-7117-AF2518A56A01}"/>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Hay métodos interactivos que pueden usarse para obtener los requerimientos de los miembros de la organización. </a:t>
            </a: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Aunque son distintos en su implementación, estos métodos tienen muchas cosas en común. </a:t>
            </a: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La base es hablar con las personas en la organización y escuchar para comprender.</a:t>
            </a: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Cada uno cuenta con su propio proceso establecido.</a:t>
            </a: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p:txBody>
      </p:sp>
      <p:pic>
        <p:nvPicPr>
          <p:cNvPr id="7" name="Google Shape;746;g3764bf369be_0_0" descr="Imagen relacionada">
            <a:extLst>
              <a:ext uri="{FF2B5EF4-FFF2-40B4-BE49-F238E27FC236}">
                <a16:creationId xmlns:a16="http://schemas.microsoft.com/office/drawing/2014/main" id="{B7C7F2E7-3E8C-28B6-DDA8-A43B6402560B}"/>
              </a:ext>
            </a:extLst>
          </p:cNvPr>
          <p:cNvPicPr preferRelativeResize="0"/>
          <p:nvPr/>
        </p:nvPicPr>
        <p:blipFill rotWithShape="1">
          <a:blip r:embed="rId3">
            <a:alphaModFix/>
          </a:blip>
          <a:srcRect/>
          <a:stretch/>
        </p:blipFill>
        <p:spPr>
          <a:xfrm>
            <a:off x="9655443" y="4138046"/>
            <a:ext cx="2101445" cy="2118365"/>
          </a:xfrm>
          <a:prstGeom prst="rect">
            <a:avLst/>
          </a:prstGeom>
          <a:noFill/>
          <a:ln>
            <a:noFill/>
          </a:ln>
        </p:spPr>
      </p:pic>
    </p:spTree>
    <p:extLst>
      <p:ext uri="{BB962C8B-B14F-4D97-AF65-F5344CB8AC3E}">
        <p14:creationId xmlns:p14="http://schemas.microsoft.com/office/powerpoint/2010/main" val="11139409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590526B8-A4C2-1D8F-D223-D7D3DF958E7E}"/>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67CEF5F0-14F0-8278-1D4E-785714ADCB7A}"/>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Cuestionarios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BCB99927-AB30-E093-6AE6-E49CCB409AFA}"/>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DE46535-D614-EDC6-C401-B8E6758750AC}"/>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014DAB90-7AB7-EC9B-2077-B7E4CAA1072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42</a:t>
            </a:fld>
            <a:endParaRPr lang="es-ES"/>
          </a:p>
        </p:txBody>
      </p:sp>
      <p:sp>
        <p:nvSpPr>
          <p:cNvPr id="6" name="Google Shape;149;g1f30b4104d4_0_0">
            <a:extLst>
              <a:ext uri="{FF2B5EF4-FFF2-40B4-BE49-F238E27FC236}">
                <a16:creationId xmlns:a16="http://schemas.microsoft.com/office/drawing/2014/main" id="{3C854D06-1E24-E890-4936-E58C93C9D81F}"/>
              </a:ext>
            </a:extLst>
          </p:cNvPr>
          <p:cNvSpPr/>
          <p:nvPr/>
        </p:nvSpPr>
        <p:spPr>
          <a:xfrm>
            <a:off x="1087731" y="2030336"/>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Documento que permite al analista recabar información y opiniones de los encuestados.</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Sirve para:</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Recolectar hechos de un gran número de personas.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Detectar un sentimiento generalizado.</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Detectar problemas entre usuarios.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Cuantificar respuestas.</a:t>
            </a:r>
          </a:p>
          <a:p>
            <a:pPr marL="449263" indent="-449263" algn="just">
              <a:spcBef>
                <a:spcPts val="0"/>
              </a:spcBef>
              <a:spcAft>
                <a:spcPts val="0"/>
              </a:spcAft>
              <a:buClr>
                <a:srgbClr val="C00000"/>
              </a:buClr>
              <a:buSzPct val="100000"/>
              <a:buFont typeface="Noto Sans Symbols"/>
              <a:buChar char="❖"/>
            </a:pPr>
            <a:endParaRPr lang="es-ES" sz="2400" dirty="0">
              <a:latin typeface="Calibri"/>
              <a:ea typeface="Calibri"/>
              <a:cs typeface="Calibri"/>
              <a:sym typeface="Calibri"/>
            </a:endParaRPr>
          </a:p>
        </p:txBody>
      </p:sp>
      <p:pic>
        <p:nvPicPr>
          <p:cNvPr id="8" name="Google Shape;755;p115" descr="http://www.angel24.net/upload/g_14imagen_img12_10_23.jpg">
            <a:extLst>
              <a:ext uri="{FF2B5EF4-FFF2-40B4-BE49-F238E27FC236}">
                <a16:creationId xmlns:a16="http://schemas.microsoft.com/office/drawing/2014/main" id="{376CD541-A1CC-6108-8245-294F4BE47AF0}"/>
              </a:ext>
            </a:extLst>
          </p:cNvPr>
          <p:cNvPicPr preferRelativeResize="0"/>
          <p:nvPr/>
        </p:nvPicPr>
        <p:blipFill rotWithShape="1">
          <a:blip r:embed="rId3">
            <a:alphaModFix/>
          </a:blip>
          <a:srcRect b="23220"/>
          <a:stretch/>
        </p:blipFill>
        <p:spPr>
          <a:xfrm>
            <a:off x="8543347" y="3672882"/>
            <a:ext cx="3578274" cy="2053742"/>
          </a:xfrm>
          <a:prstGeom prst="rect">
            <a:avLst/>
          </a:prstGeom>
          <a:noFill/>
          <a:ln>
            <a:noFill/>
          </a:ln>
        </p:spPr>
      </p:pic>
    </p:spTree>
    <p:extLst>
      <p:ext uri="{BB962C8B-B14F-4D97-AF65-F5344CB8AC3E}">
        <p14:creationId xmlns:p14="http://schemas.microsoft.com/office/powerpoint/2010/main" val="1748688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F11BF4D4-874B-F38E-1286-AEE69F501E74}"/>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0978F739-AE06-754C-F849-9B7089E74E0B}"/>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Cuestionarios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611F6366-7E60-E648-7534-30ED87DD5DA0}"/>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3F9EAC8-BE56-CFD3-FA54-2E03C0DE879C}"/>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D126D258-95E3-AD93-3A3D-8091C358E9F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43</a:t>
            </a:fld>
            <a:endParaRPr lang="es-ES"/>
          </a:p>
        </p:txBody>
      </p:sp>
      <p:sp>
        <p:nvSpPr>
          <p:cNvPr id="6" name="Google Shape;149;g1f30b4104d4_0_0">
            <a:extLst>
              <a:ext uri="{FF2B5EF4-FFF2-40B4-BE49-F238E27FC236}">
                <a16:creationId xmlns:a16="http://schemas.microsoft.com/office/drawing/2014/main" id="{51801A7D-B059-6760-4DFF-7C492DD0D47B}"/>
              </a:ext>
            </a:extLst>
          </p:cNvPr>
          <p:cNvSpPr/>
          <p:nvPr/>
        </p:nvSpPr>
        <p:spPr>
          <a:xfrm>
            <a:off x="1087731" y="1766807"/>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Ventajas: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Respuesta rápida</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Económicos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Anónimos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Estructurados de fácil análisis</a:t>
            </a: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Desventajas: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Número bajo de respuestas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No responde a todas las preguntas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Preguntas rígidas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No se puede realizar el análisis corporal</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No se pueden aclarar respuestas incompletas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Difíciles de preparar</a:t>
            </a:r>
          </a:p>
          <a:p>
            <a:pPr marL="449263" indent="-449263" algn="just">
              <a:spcBef>
                <a:spcPts val="0"/>
              </a:spcBef>
              <a:spcAft>
                <a:spcPts val="0"/>
              </a:spcAft>
              <a:buClr>
                <a:srgbClr val="C00000"/>
              </a:buClr>
              <a:buSzPct val="100000"/>
              <a:buFont typeface="Noto Sans Symbols"/>
              <a:buChar char="❖"/>
            </a:pPr>
            <a:endParaRPr lang="es-ES" sz="2800" dirty="0">
              <a:latin typeface="Calibri"/>
              <a:ea typeface="Calibri"/>
              <a:cs typeface="Calibri"/>
              <a:sym typeface="Calibri"/>
            </a:endParaRPr>
          </a:p>
        </p:txBody>
      </p:sp>
      <p:pic>
        <p:nvPicPr>
          <p:cNvPr id="7" name="Google Shape;762;p116">
            <a:extLst>
              <a:ext uri="{FF2B5EF4-FFF2-40B4-BE49-F238E27FC236}">
                <a16:creationId xmlns:a16="http://schemas.microsoft.com/office/drawing/2014/main" id="{A193FFB0-B132-204B-D9DA-087F3D32AE8A}"/>
              </a:ext>
            </a:extLst>
          </p:cNvPr>
          <p:cNvPicPr preferRelativeResize="0"/>
          <p:nvPr/>
        </p:nvPicPr>
        <p:blipFill rotWithShape="1">
          <a:blip r:embed="rId3">
            <a:alphaModFix/>
          </a:blip>
          <a:srcRect l="1706"/>
          <a:stretch/>
        </p:blipFill>
        <p:spPr>
          <a:xfrm>
            <a:off x="8790094" y="1963997"/>
            <a:ext cx="2467679" cy="3748434"/>
          </a:xfrm>
          <a:prstGeom prst="rect">
            <a:avLst/>
          </a:prstGeom>
          <a:noFill/>
          <a:ln>
            <a:noFill/>
          </a:ln>
        </p:spPr>
      </p:pic>
    </p:spTree>
    <p:extLst>
      <p:ext uri="{BB962C8B-B14F-4D97-AF65-F5344CB8AC3E}">
        <p14:creationId xmlns:p14="http://schemas.microsoft.com/office/powerpoint/2010/main" val="24783633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49BBA6DA-F5A8-4981-A6A5-211D27F9807C}"/>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F77EC0DC-FA5A-4CB4-BE8F-5E46D5F06814}"/>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Cuestionarios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E2A584EA-34AF-8644-9166-2BAB9E6E7DF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7007B4E-91E0-FB3D-C77B-EF9D2BB0F96F}"/>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292C1061-DB40-2A44-3E67-B934D4793DA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44</a:t>
            </a:fld>
            <a:endParaRPr lang="es-ES"/>
          </a:p>
        </p:txBody>
      </p:sp>
      <p:sp>
        <p:nvSpPr>
          <p:cNvPr id="6" name="Google Shape;149;g1f30b4104d4_0_0">
            <a:extLst>
              <a:ext uri="{FF2B5EF4-FFF2-40B4-BE49-F238E27FC236}">
                <a16:creationId xmlns:a16="http://schemas.microsoft.com/office/drawing/2014/main" id="{683B00DA-AA92-7C29-E53D-9517E294C8C6}"/>
              </a:ext>
            </a:extLst>
          </p:cNvPr>
          <p:cNvSpPr/>
          <p:nvPr/>
        </p:nvSpPr>
        <p:spPr>
          <a:xfrm>
            <a:off x="1087731" y="1766807"/>
            <a:ext cx="10170042"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Tipos de preguntas: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Abiertas</a:t>
            </a:r>
          </a:p>
          <a:p>
            <a:pPr marL="806450" lvl="2">
              <a:lnSpc>
                <a:spcPct val="85000"/>
              </a:lnSpc>
              <a:spcBef>
                <a:spcPts val="450"/>
              </a:spcBef>
              <a:spcAft>
                <a:spcPts val="0"/>
              </a:spcAft>
              <a:buClr>
                <a:srgbClr val="262626"/>
              </a:buClr>
              <a:buSzPts val="2400"/>
              <a:tabLst>
                <a:tab pos="806450" algn="l"/>
              </a:tabLst>
            </a:pPr>
            <a:r>
              <a:rPr lang="es-ES" sz="2200" dirty="0"/>
              <a:t>Son las que dejan abiertas todas las posibles opciones de respuesta. </a:t>
            </a:r>
          </a:p>
          <a:p>
            <a:pPr marL="806450" lvl="2">
              <a:lnSpc>
                <a:spcPct val="85000"/>
              </a:lnSpc>
              <a:spcBef>
                <a:spcPts val="450"/>
              </a:spcBef>
              <a:spcAft>
                <a:spcPts val="0"/>
              </a:spcAft>
              <a:buClr>
                <a:srgbClr val="262626"/>
              </a:buClr>
              <a:buSzPts val="2400"/>
              <a:tabLst>
                <a:tab pos="806450" algn="l"/>
              </a:tabLst>
            </a:pPr>
            <a:r>
              <a:rPr lang="es-ES" sz="2000" i="1" dirty="0"/>
              <a:t>«Describa los problemas que experimenta en la actualidad con los informes de las salidas»,</a:t>
            </a:r>
            <a:br>
              <a:rPr lang="es-ES" sz="2000" i="1" dirty="0"/>
            </a:br>
            <a:r>
              <a:rPr lang="es-ES" sz="2000" i="1" dirty="0"/>
              <a:t>«En su opinión, ¿qué tan útiles son los manuales de usuario para la aplicación de contabilidad del sistema actual?»</a:t>
            </a:r>
          </a:p>
          <a:p>
            <a:pPr marL="806450" lvl="1" indent="-349250" algn="just">
              <a:spcBef>
                <a:spcPts val="0"/>
              </a:spcBef>
              <a:spcAft>
                <a:spcPts val="0"/>
              </a:spcAft>
              <a:buClr>
                <a:srgbClr val="C00000"/>
              </a:buClr>
              <a:buSzPct val="100000"/>
              <a:buFont typeface="Noto Sans Symbols2" panose="020B0502040504020204" pitchFamily="34" charset="0"/>
              <a:buChar char="»"/>
            </a:pPr>
            <a:endParaRPr lang="es-ES" sz="2400" dirty="0">
              <a:latin typeface="Calibri"/>
              <a:ea typeface="Calibri"/>
              <a:cs typeface="Calibri"/>
              <a:sym typeface="Calibri"/>
            </a:endParaRP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Cerradas</a:t>
            </a:r>
          </a:p>
          <a:p>
            <a:pPr marL="806450" lvl="1">
              <a:lnSpc>
                <a:spcPct val="85000"/>
              </a:lnSpc>
              <a:spcBef>
                <a:spcPts val="450"/>
              </a:spcBef>
              <a:spcAft>
                <a:spcPts val="0"/>
              </a:spcAft>
              <a:buClr>
                <a:srgbClr val="262626"/>
              </a:buClr>
              <a:buSzPts val="2400"/>
            </a:pPr>
            <a:r>
              <a:rPr lang="es-ES" sz="2200" dirty="0"/>
              <a:t>Limitan o cierran las opciones de respuestas disponibles.</a:t>
            </a:r>
          </a:p>
          <a:p>
            <a:pPr marL="806450" lvl="3">
              <a:lnSpc>
                <a:spcPct val="85000"/>
              </a:lnSpc>
              <a:spcBef>
                <a:spcPts val="450"/>
              </a:spcBef>
              <a:spcAft>
                <a:spcPts val="0"/>
              </a:spcAft>
              <a:buClr>
                <a:srgbClr val="262626"/>
              </a:buClr>
              <a:buSzPts val="2000"/>
            </a:pPr>
            <a:r>
              <a:rPr lang="es-ES" sz="2000" i="1" dirty="0"/>
              <a:t>«¿Es útil el reporte que utiliza actualmente?»   SI   NO</a:t>
            </a:r>
          </a:p>
          <a:p>
            <a:pPr algn="just">
              <a:spcBef>
                <a:spcPts val="0"/>
              </a:spcBef>
              <a:spcAft>
                <a:spcPts val="0"/>
              </a:spcAft>
              <a:buClr>
                <a:srgbClr val="C00000"/>
              </a:buClr>
              <a:buSzPct val="100000"/>
            </a:pPr>
            <a:endParaRPr lang="es-ES" sz="2800" dirty="0">
              <a:latin typeface="Calibri"/>
              <a:ea typeface="Calibri"/>
              <a:cs typeface="Calibri"/>
              <a:sym typeface="Calibri"/>
            </a:endParaRPr>
          </a:p>
        </p:txBody>
      </p:sp>
    </p:spTree>
    <p:extLst>
      <p:ext uri="{BB962C8B-B14F-4D97-AF65-F5344CB8AC3E}">
        <p14:creationId xmlns:p14="http://schemas.microsoft.com/office/powerpoint/2010/main" val="3419814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3A8061B2-020C-930C-0698-EAE9291E55AE}"/>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7B1621B6-1BF9-1733-04D4-F3B4DD1C8C57}"/>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Cuestionarios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8248628B-58BD-F11A-BFEE-8E0A7C79339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94E026A-ED57-BD41-982E-694386B3DACF}"/>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3CB0F79A-93BB-FF24-32F6-B69A84811DC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45</a:t>
            </a:fld>
            <a:endParaRPr lang="es-ES"/>
          </a:p>
        </p:txBody>
      </p:sp>
      <p:grpSp>
        <p:nvGrpSpPr>
          <p:cNvPr id="786" name="Google Shape;786;p119"/>
          <p:cNvGrpSpPr/>
          <p:nvPr/>
        </p:nvGrpSpPr>
        <p:grpSpPr>
          <a:xfrm>
            <a:off x="2283317" y="1999580"/>
            <a:ext cx="7401475" cy="3644036"/>
            <a:chOff x="781727" y="1829098"/>
            <a:chExt cx="7371719" cy="3644036"/>
          </a:xfrm>
        </p:grpSpPr>
        <p:sp>
          <p:nvSpPr>
            <p:cNvPr id="787" name="Google Shape;787;p119"/>
            <p:cNvSpPr/>
            <p:nvPr/>
          </p:nvSpPr>
          <p:spPr>
            <a:xfrm>
              <a:off x="2928864" y="2748226"/>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88" name="Google Shape;788;p119"/>
            <p:cNvSpPr/>
            <p:nvPr/>
          </p:nvSpPr>
          <p:spPr>
            <a:xfrm>
              <a:off x="3122805" y="2809713"/>
              <a:ext cx="2461676" cy="366767"/>
            </a:xfrm>
            <a:prstGeom prst="rect">
              <a:avLst/>
            </a:prstGeom>
            <a:noFill/>
            <a:ln>
              <a:noFill/>
            </a:ln>
          </p:spPr>
          <p:txBody>
            <a:bodyPr spcFirstLastPara="1" wrap="non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Velocidad de conclusión</a:t>
              </a:r>
              <a:endParaRPr b="0" i="0" u="none" strike="noStrike" cap="none" dirty="0">
                <a:solidFill>
                  <a:srgbClr val="000000"/>
                </a:solidFill>
                <a:latin typeface="+mn-lt"/>
                <a:ea typeface="Arial"/>
                <a:cs typeface="Arial"/>
                <a:sym typeface="Arial"/>
              </a:endParaRPr>
            </a:p>
          </p:txBody>
        </p:sp>
        <p:sp>
          <p:nvSpPr>
            <p:cNvPr id="789" name="Google Shape;789;p119"/>
            <p:cNvSpPr/>
            <p:nvPr/>
          </p:nvSpPr>
          <p:spPr>
            <a:xfrm>
              <a:off x="2928864" y="3328988"/>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90" name="Google Shape;790;p119"/>
            <p:cNvSpPr/>
            <p:nvPr/>
          </p:nvSpPr>
          <p:spPr>
            <a:xfrm>
              <a:off x="2965376" y="3373060"/>
              <a:ext cx="2933700" cy="468000"/>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Naturaleza exploratoria</a:t>
              </a:r>
              <a:endParaRPr b="0" i="0" u="none" strike="noStrike" cap="none" dirty="0">
                <a:solidFill>
                  <a:srgbClr val="000000"/>
                </a:solidFill>
                <a:latin typeface="+mn-lt"/>
                <a:ea typeface="Arial"/>
                <a:cs typeface="Arial"/>
                <a:sym typeface="Arial"/>
              </a:endParaRPr>
            </a:p>
          </p:txBody>
        </p:sp>
        <p:sp>
          <p:nvSpPr>
            <p:cNvPr id="791" name="Google Shape;791;p119"/>
            <p:cNvSpPr/>
            <p:nvPr/>
          </p:nvSpPr>
          <p:spPr>
            <a:xfrm>
              <a:off x="2928864" y="3894488"/>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92" name="Google Shape;792;p119"/>
            <p:cNvSpPr/>
            <p:nvPr/>
          </p:nvSpPr>
          <p:spPr>
            <a:xfrm>
              <a:off x="2928864" y="4429366"/>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93" name="Google Shape;793;p119"/>
            <p:cNvSpPr/>
            <p:nvPr/>
          </p:nvSpPr>
          <p:spPr>
            <a:xfrm>
              <a:off x="2965376" y="4473439"/>
              <a:ext cx="2933700" cy="468000"/>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Facilidad de preparación</a:t>
              </a:r>
              <a:endParaRPr b="0" i="0" u="none" strike="noStrike" cap="none" dirty="0">
                <a:solidFill>
                  <a:srgbClr val="000000"/>
                </a:solidFill>
                <a:latin typeface="+mn-lt"/>
                <a:ea typeface="Arial"/>
                <a:cs typeface="Arial"/>
                <a:sym typeface="Arial"/>
              </a:endParaRPr>
            </a:p>
          </p:txBody>
        </p:sp>
        <p:sp>
          <p:nvSpPr>
            <p:cNvPr id="794" name="Google Shape;794;p119"/>
            <p:cNvSpPr/>
            <p:nvPr/>
          </p:nvSpPr>
          <p:spPr>
            <a:xfrm>
              <a:off x="2928864" y="4975665"/>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95" name="Google Shape;795;p119"/>
            <p:cNvSpPr/>
            <p:nvPr/>
          </p:nvSpPr>
          <p:spPr>
            <a:xfrm>
              <a:off x="2953470" y="5005134"/>
              <a:ext cx="2933700" cy="468000"/>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Facilidad de Análisis</a:t>
              </a:r>
              <a:endParaRPr b="0" i="0" u="none" strike="noStrike" cap="none" dirty="0">
                <a:solidFill>
                  <a:srgbClr val="000000"/>
                </a:solidFill>
                <a:latin typeface="+mn-lt"/>
                <a:ea typeface="Arial"/>
                <a:cs typeface="Arial"/>
                <a:sym typeface="Arial"/>
              </a:endParaRPr>
            </a:p>
          </p:txBody>
        </p:sp>
        <p:cxnSp>
          <p:nvCxnSpPr>
            <p:cNvPr id="796" name="Google Shape;796;p119"/>
            <p:cNvCxnSpPr/>
            <p:nvPr/>
          </p:nvCxnSpPr>
          <p:spPr>
            <a:xfrm rot="10800000">
              <a:off x="1721119" y="2996865"/>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797" name="Google Shape;797;p119"/>
            <p:cNvCxnSpPr/>
            <p:nvPr/>
          </p:nvCxnSpPr>
          <p:spPr>
            <a:xfrm rot="10800000">
              <a:off x="1721119" y="3556442"/>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798" name="Google Shape;798;p119"/>
            <p:cNvCxnSpPr/>
            <p:nvPr/>
          </p:nvCxnSpPr>
          <p:spPr>
            <a:xfrm rot="10800000">
              <a:off x="1721119" y="4128488"/>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799" name="Google Shape;799;p119"/>
            <p:cNvCxnSpPr/>
            <p:nvPr/>
          </p:nvCxnSpPr>
          <p:spPr>
            <a:xfrm rot="10800000">
              <a:off x="1733208" y="4663366"/>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800" name="Google Shape;800;p119"/>
            <p:cNvCxnSpPr/>
            <p:nvPr/>
          </p:nvCxnSpPr>
          <p:spPr>
            <a:xfrm rot="10800000">
              <a:off x="1721119" y="5180593"/>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801" name="Google Shape;801;p119"/>
            <p:cNvCxnSpPr/>
            <p:nvPr/>
          </p:nvCxnSpPr>
          <p:spPr>
            <a:xfrm rot="10800000">
              <a:off x="5866790" y="2996865"/>
              <a:ext cx="1183224" cy="0"/>
            </a:xfrm>
            <a:prstGeom prst="straightConnector1">
              <a:avLst/>
            </a:prstGeom>
            <a:noFill/>
            <a:ln w="12700" cap="flat" cmpd="sng">
              <a:solidFill>
                <a:schemeClr val="dk1"/>
              </a:solidFill>
              <a:prstDash val="solid"/>
              <a:round/>
              <a:headEnd type="triangle" w="med" len="med"/>
              <a:tailEnd type="none" w="sm" len="sm"/>
            </a:ln>
          </p:spPr>
        </p:cxnSp>
        <p:cxnSp>
          <p:nvCxnSpPr>
            <p:cNvPr id="802" name="Google Shape;802;p119"/>
            <p:cNvCxnSpPr/>
            <p:nvPr/>
          </p:nvCxnSpPr>
          <p:spPr>
            <a:xfrm rot="10800000">
              <a:off x="5866790" y="3556442"/>
              <a:ext cx="1183224" cy="0"/>
            </a:xfrm>
            <a:prstGeom prst="straightConnector1">
              <a:avLst/>
            </a:prstGeom>
            <a:noFill/>
            <a:ln w="12700" cap="flat" cmpd="sng">
              <a:solidFill>
                <a:schemeClr val="dk1"/>
              </a:solidFill>
              <a:prstDash val="solid"/>
              <a:round/>
              <a:headEnd type="triangle" w="med" len="med"/>
              <a:tailEnd type="none" w="sm" len="sm"/>
            </a:ln>
          </p:spPr>
        </p:cxnSp>
        <p:cxnSp>
          <p:nvCxnSpPr>
            <p:cNvPr id="803" name="Google Shape;803;p119"/>
            <p:cNvCxnSpPr/>
            <p:nvPr/>
          </p:nvCxnSpPr>
          <p:spPr>
            <a:xfrm rot="10800000">
              <a:off x="5866790" y="4127918"/>
              <a:ext cx="1183224" cy="0"/>
            </a:xfrm>
            <a:prstGeom prst="straightConnector1">
              <a:avLst/>
            </a:prstGeom>
            <a:noFill/>
            <a:ln w="12700" cap="flat" cmpd="sng">
              <a:solidFill>
                <a:schemeClr val="dk1"/>
              </a:solidFill>
              <a:prstDash val="solid"/>
              <a:round/>
              <a:headEnd type="triangle" w="med" len="med"/>
              <a:tailEnd type="none" w="sm" len="sm"/>
            </a:ln>
          </p:spPr>
        </p:cxnSp>
        <p:cxnSp>
          <p:nvCxnSpPr>
            <p:cNvPr id="804" name="Google Shape;804;p119"/>
            <p:cNvCxnSpPr/>
            <p:nvPr/>
          </p:nvCxnSpPr>
          <p:spPr>
            <a:xfrm rot="10800000">
              <a:off x="5866790" y="4664318"/>
              <a:ext cx="1183224" cy="0"/>
            </a:xfrm>
            <a:prstGeom prst="straightConnector1">
              <a:avLst/>
            </a:prstGeom>
            <a:noFill/>
            <a:ln w="12700" cap="flat" cmpd="sng">
              <a:solidFill>
                <a:schemeClr val="dk1"/>
              </a:solidFill>
              <a:prstDash val="solid"/>
              <a:round/>
              <a:headEnd type="triangle" w="med" len="med"/>
              <a:tailEnd type="none" w="sm" len="sm"/>
            </a:ln>
          </p:spPr>
        </p:cxnSp>
        <p:cxnSp>
          <p:nvCxnSpPr>
            <p:cNvPr id="805" name="Google Shape;805;p119"/>
            <p:cNvCxnSpPr/>
            <p:nvPr/>
          </p:nvCxnSpPr>
          <p:spPr>
            <a:xfrm rot="10800000">
              <a:off x="5866790" y="5179118"/>
              <a:ext cx="1183224" cy="0"/>
            </a:xfrm>
            <a:prstGeom prst="straightConnector1">
              <a:avLst/>
            </a:prstGeom>
            <a:noFill/>
            <a:ln w="12700" cap="flat" cmpd="sng">
              <a:solidFill>
                <a:schemeClr val="dk1"/>
              </a:solidFill>
              <a:prstDash val="solid"/>
              <a:round/>
              <a:headEnd type="triangle" w="med" len="med"/>
              <a:tailEnd type="none" w="sm" len="sm"/>
            </a:ln>
          </p:spPr>
        </p:cxnSp>
        <p:sp>
          <p:nvSpPr>
            <p:cNvPr id="806" name="Google Shape;806;p119"/>
            <p:cNvSpPr/>
            <p:nvPr/>
          </p:nvSpPr>
          <p:spPr>
            <a:xfrm>
              <a:off x="781727" y="2306759"/>
              <a:ext cx="1208665"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1" i="0" u="none" strike="noStrike" cap="none" dirty="0">
                  <a:solidFill>
                    <a:schemeClr val="dk1"/>
                  </a:solidFill>
                  <a:latin typeface="+mn-lt"/>
                  <a:ea typeface="Arial"/>
                  <a:cs typeface="Arial"/>
                  <a:sym typeface="Arial"/>
                </a:rPr>
                <a:t>Abiertas</a:t>
              </a:r>
              <a:endParaRPr b="0" i="0" u="none" strike="noStrike" cap="none" dirty="0">
                <a:solidFill>
                  <a:srgbClr val="000000"/>
                </a:solidFill>
                <a:latin typeface="+mn-lt"/>
                <a:ea typeface="Arial"/>
                <a:cs typeface="Arial"/>
                <a:sym typeface="Arial"/>
              </a:endParaRPr>
            </a:p>
          </p:txBody>
        </p:sp>
        <p:sp>
          <p:nvSpPr>
            <p:cNvPr id="807" name="Google Shape;807;p119"/>
            <p:cNvSpPr/>
            <p:nvPr/>
          </p:nvSpPr>
          <p:spPr>
            <a:xfrm>
              <a:off x="937869" y="2793167"/>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Lenta</a:t>
              </a:r>
              <a:endParaRPr b="0" i="0" u="none" strike="noStrike" cap="none" dirty="0">
                <a:solidFill>
                  <a:srgbClr val="000000"/>
                </a:solidFill>
                <a:latin typeface="+mn-lt"/>
                <a:ea typeface="Arial"/>
                <a:cs typeface="Arial"/>
                <a:sym typeface="Arial"/>
              </a:endParaRPr>
            </a:p>
          </p:txBody>
        </p:sp>
        <p:sp>
          <p:nvSpPr>
            <p:cNvPr id="808" name="Google Shape;808;p119"/>
            <p:cNvSpPr/>
            <p:nvPr/>
          </p:nvSpPr>
          <p:spPr>
            <a:xfrm>
              <a:off x="6858219" y="2306212"/>
              <a:ext cx="1295227"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1" i="0" u="none" strike="noStrike" cap="none" dirty="0">
                  <a:solidFill>
                    <a:schemeClr val="dk1"/>
                  </a:solidFill>
                  <a:latin typeface="+mn-lt"/>
                  <a:ea typeface="Arial"/>
                  <a:cs typeface="Arial"/>
                  <a:sym typeface="Arial"/>
                </a:rPr>
                <a:t>Cerradas</a:t>
              </a:r>
              <a:endParaRPr b="0" i="0" u="none" strike="noStrike" cap="none" dirty="0">
                <a:solidFill>
                  <a:srgbClr val="000000"/>
                </a:solidFill>
                <a:latin typeface="+mn-lt"/>
                <a:ea typeface="Arial"/>
                <a:cs typeface="Arial"/>
                <a:sym typeface="Arial"/>
              </a:endParaRPr>
            </a:p>
          </p:txBody>
        </p:sp>
        <p:sp>
          <p:nvSpPr>
            <p:cNvPr id="809" name="Google Shape;809;p119"/>
            <p:cNvSpPr/>
            <p:nvPr/>
          </p:nvSpPr>
          <p:spPr>
            <a:xfrm>
              <a:off x="3027909" y="1829098"/>
              <a:ext cx="2760662" cy="828432"/>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sz="2400" b="1" i="0" u="none" strike="noStrike" cap="none" dirty="0">
                  <a:solidFill>
                    <a:schemeClr val="dk1"/>
                  </a:solidFill>
                  <a:latin typeface="+mn-lt"/>
                  <a:ea typeface="Arial"/>
                  <a:cs typeface="Arial"/>
                  <a:sym typeface="Arial"/>
                </a:rPr>
                <a:t>Tipos de Preguntas</a:t>
              </a:r>
              <a:endParaRPr sz="2400" b="0" i="0" u="none" strike="noStrike" cap="none" dirty="0">
                <a:solidFill>
                  <a:srgbClr val="000000"/>
                </a:solidFill>
                <a:latin typeface="+mn-lt"/>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400" b="1" i="0" u="none" strike="noStrike" cap="none" dirty="0">
                <a:solidFill>
                  <a:schemeClr val="dk1"/>
                </a:solidFill>
                <a:latin typeface="+mn-lt"/>
                <a:ea typeface="Arial"/>
                <a:cs typeface="Arial"/>
                <a:sym typeface="Arial"/>
              </a:endParaRPr>
            </a:p>
          </p:txBody>
        </p:sp>
        <p:sp>
          <p:nvSpPr>
            <p:cNvPr id="810" name="Google Shape;810;p119"/>
            <p:cNvSpPr/>
            <p:nvPr/>
          </p:nvSpPr>
          <p:spPr>
            <a:xfrm>
              <a:off x="937869" y="3342065"/>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a:solidFill>
                    <a:schemeClr val="dk1"/>
                  </a:solidFill>
                  <a:latin typeface="+mn-lt"/>
                  <a:ea typeface="Arial"/>
                  <a:cs typeface="Arial"/>
                  <a:sym typeface="Arial"/>
                </a:rPr>
                <a:t>Alta</a:t>
              </a:r>
              <a:endParaRPr b="0" i="0" u="none" strike="noStrike" cap="none">
                <a:solidFill>
                  <a:srgbClr val="000000"/>
                </a:solidFill>
                <a:latin typeface="+mn-lt"/>
                <a:ea typeface="Arial"/>
                <a:cs typeface="Arial"/>
                <a:sym typeface="Arial"/>
              </a:endParaRPr>
            </a:p>
          </p:txBody>
        </p:sp>
        <p:sp>
          <p:nvSpPr>
            <p:cNvPr id="811" name="Google Shape;811;p119"/>
            <p:cNvSpPr/>
            <p:nvPr/>
          </p:nvSpPr>
          <p:spPr>
            <a:xfrm>
              <a:off x="937869" y="3923209"/>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Alta</a:t>
              </a:r>
              <a:endParaRPr b="0" i="0" u="none" strike="noStrike" cap="none" dirty="0">
                <a:solidFill>
                  <a:srgbClr val="000000"/>
                </a:solidFill>
                <a:latin typeface="+mn-lt"/>
                <a:ea typeface="Arial"/>
                <a:cs typeface="Arial"/>
                <a:sym typeface="Arial"/>
              </a:endParaRPr>
            </a:p>
          </p:txBody>
        </p:sp>
        <p:sp>
          <p:nvSpPr>
            <p:cNvPr id="812" name="Google Shape;812;p119"/>
            <p:cNvSpPr/>
            <p:nvPr/>
          </p:nvSpPr>
          <p:spPr>
            <a:xfrm>
              <a:off x="937869" y="4490782"/>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Fácil</a:t>
              </a:r>
              <a:endParaRPr b="0" i="0" u="none" strike="noStrike" cap="none" dirty="0">
                <a:solidFill>
                  <a:srgbClr val="000000"/>
                </a:solidFill>
                <a:latin typeface="+mn-lt"/>
                <a:ea typeface="Arial"/>
                <a:cs typeface="Arial"/>
                <a:sym typeface="Arial"/>
              </a:endParaRPr>
            </a:p>
          </p:txBody>
        </p:sp>
        <p:sp>
          <p:nvSpPr>
            <p:cNvPr id="813" name="Google Shape;813;p119"/>
            <p:cNvSpPr/>
            <p:nvPr/>
          </p:nvSpPr>
          <p:spPr>
            <a:xfrm>
              <a:off x="911718" y="4977190"/>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Difícil</a:t>
              </a:r>
              <a:endParaRPr b="0" i="0" u="none" strike="noStrike" cap="none" dirty="0">
                <a:solidFill>
                  <a:srgbClr val="000000"/>
                </a:solidFill>
                <a:latin typeface="+mn-lt"/>
                <a:ea typeface="Arial"/>
                <a:cs typeface="Arial"/>
                <a:sym typeface="Arial"/>
              </a:endParaRPr>
            </a:p>
          </p:txBody>
        </p:sp>
        <p:sp>
          <p:nvSpPr>
            <p:cNvPr id="814" name="Google Shape;814;p119"/>
            <p:cNvSpPr/>
            <p:nvPr/>
          </p:nvSpPr>
          <p:spPr>
            <a:xfrm>
              <a:off x="7096310" y="2793167"/>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Rápida</a:t>
              </a:r>
              <a:endParaRPr b="0" i="0" u="none" strike="noStrike" cap="none" dirty="0">
                <a:solidFill>
                  <a:srgbClr val="000000"/>
                </a:solidFill>
                <a:latin typeface="+mn-lt"/>
                <a:ea typeface="Arial"/>
                <a:cs typeface="Arial"/>
                <a:sym typeface="Arial"/>
              </a:endParaRPr>
            </a:p>
          </p:txBody>
        </p:sp>
        <p:sp>
          <p:nvSpPr>
            <p:cNvPr id="815" name="Google Shape;815;p119"/>
            <p:cNvSpPr/>
            <p:nvPr/>
          </p:nvSpPr>
          <p:spPr>
            <a:xfrm>
              <a:off x="7096310" y="3342065"/>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Poca</a:t>
              </a:r>
              <a:endParaRPr b="0" i="0" u="none" strike="noStrike" cap="none" dirty="0">
                <a:solidFill>
                  <a:srgbClr val="000000"/>
                </a:solidFill>
                <a:latin typeface="+mn-lt"/>
                <a:ea typeface="Arial"/>
                <a:cs typeface="Arial"/>
                <a:sym typeface="Arial"/>
              </a:endParaRPr>
            </a:p>
          </p:txBody>
        </p:sp>
        <p:sp>
          <p:nvSpPr>
            <p:cNvPr id="816" name="Google Shape;816;p119"/>
            <p:cNvSpPr/>
            <p:nvPr/>
          </p:nvSpPr>
          <p:spPr>
            <a:xfrm>
              <a:off x="7096310" y="3923209"/>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Poca</a:t>
              </a:r>
              <a:endParaRPr b="0" i="0" u="none" strike="noStrike" cap="none" dirty="0">
                <a:solidFill>
                  <a:srgbClr val="000000"/>
                </a:solidFill>
                <a:latin typeface="+mn-lt"/>
                <a:ea typeface="Arial"/>
                <a:cs typeface="Arial"/>
                <a:sym typeface="Arial"/>
              </a:endParaRPr>
            </a:p>
          </p:txBody>
        </p:sp>
        <p:sp>
          <p:nvSpPr>
            <p:cNvPr id="817" name="Google Shape;817;p119"/>
            <p:cNvSpPr/>
            <p:nvPr/>
          </p:nvSpPr>
          <p:spPr>
            <a:xfrm>
              <a:off x="7118143" y="4490781"/>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a:solidFill>
                    <a:schemeClr val="dk1"/>
                  </a:solidFill>
                  <a:latin typeface="+mn-lt"/>
                  <a:ea typeface="Arial"/>
                  <a:cs typeface="Arial"/>
                  <a:sym typeface="Arial"/>
                </a:rPr>
                <a:t>Difícil</a:t>
              </a:r>
              <a:endParaRPr b="0" i="0" u="none" strike="noStrike" cap="none">
                <a:solidFill>
                  <a:srgbClr val="000000"/>
                </a:solidFill>
                <a:latin typeface="+mn-lt"/>
                <a:ea typeface="Arial"/>
                <a:cs typeface="Arial"/>
                <a:sym typeface="Arial"/>
              </a:endParaRPr>
            </a:p>
          </p:txBody>
        </p:sp>
        <p:sp>
          <p:nvSpPr>
            <p:cNvPr id="818" name="Google Shape;818;p119"/>
            <p:cNvSpPr/>
            <p:nvPr/>
          </p:nvSpPr>
          <p:spPr>
            <a:xfrm>
              <a:off x="7118143" y="4980951"/>
              <a:ext cx="89638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Fácil</a:t>
              </a:r>
              <a:endParaRPr b="0" i="0" u="none" strike="noStrike" cap="none" dirty="0">
                <a:solidFill>
                  <a:srgbClr val="000000"/>
                </a:solidFill>
                <a:latin typeface="+mn-lt"/>
                <a:ea typeface="Arial"/>
                <a:cs typeface="Arial"/>
                <a:sym typeface="Arial"/>
              </a:endParaRPr>
            </a:p>
          </p:txBody>
        </p:sp>
        <p:sp>
          <p:nvSpPr>
            <p:cNvPr id="819" name="Google Shape;819;p119"/>
            <p:cNvSpPr/>
            <p:nvPr/>
          </p:nvSpPr>
          <p:spPr>
            <a:xfrm>
              <a:off x="2965376" y="3938746"/>
              <a:ext cx="2933700" cy="468000"/>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Amplitud y profundidad</a:t>
              </a:r>
              <a:endParaRPr b="0" i="0" u="none" strike="noStrike" cap="none" dirty="0">
                <a:solidFill>
                  <a:srgbClr val="000000"/>
                </a:solidFill>
                <a:latin typeface="+mn-lt"/>
                <a:ea typeface="Arial"/>
                <a:cs typeface="Arial"/>
                <a:sym typeface="Arial"/>
              </a:endParaRPr>
            </a:p>
          </p:txBody>
        </p:sp>
      </p:grpSp>
    </p:spTree>
    <p:extLst>
      <p:ext uri="{BB962C8B-B14F-4D97-AF65-F5344CB8AC3E}">
        <p14:creationId xmlns:p14="http://schemas.microsoft.com/office/powerpoint/2010/main" val="2267863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797C3988-7582-2E8F-3C59-6A413951DF8D}"/>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DCB4B584-E433-FDE2-012C-C15092C4DC46}"/>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Cuestionarios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65F0E176-DFD5-AE9D-8741-4F30FC1A66D9}"/>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E4EED0C-DA32-5B4C-813B-F12AA5647EB2}"/>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0F275943-6E26-B793-14D9-61BC77048B1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46</a:t>
            </a:fld>
            <a:endParaRPr lang="es-ES"/>
          </a:p>
        </p:txBody>
      </p:sp>
      <p:sp>
        <p:nvSpPr>
          <p:cNvPr id="6" name="Google Shape;149;g1f30b4104d4_0_0">
            <a:extLst>
              <a:ext uri="{FF2B5EF4-FFF2-40B4-BE49-F238E27FC236}">
                <a16:creationId xmlns:a16="http://schemas.microsoft.com/office/drawing/2014/main" id="{73D25E58-561A-62D3-4B8D-EAC7B81AF31B}"/>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Tipo de información obtenida</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Actitud</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Lo que las personas dicen que quieren	</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Creencias</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Lo que las personas creen que es verdad</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Comportamiento</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Lo que realmente hacen</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Características</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De las personas o cosas</a:t>
            </a:r>
          </a:p>
        </p:txBody>
      </p:sp>
    </p:spTree>
    <p:extLst>
      <p:ext uri="{BB962C8B-B14F-4D97-AF65-F5344CB8AC3E}">
        <p14:creationId xmlns:p14="http://schemas.microsoft.com/office/powerpoint/2010/main" val="1989544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1111C6D5-0B58-BABE-2914-6E0C74D7F70C}"/>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4CD7483A-916D-31FC-B6F1-D2D75AE1B7DF}"/>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Cuestionarios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31A9D435-303B-243F-CC90-AF7B17BD184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E02FC6B-0C7D-C61E-776F-E203E46174EE}"/>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99D67B5E-62B1-907D-7BA0-4B83C2A15D1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47</a:t>
            </a:fld>
            <a:endParaRPr lang="es-ES"/>
          </a:p>
        </p:txBody>
      </p:sp>
      <p:sp>
        <p:nvSpPr>
          <p:cNvPr id="6" name="Google Shape;149;g1f30b4104d4_0_0">
            <a:extLst>
              <a:ext uri="{FF2B5EF4-FFF2-40B4-BE49-F238E27FC236}">
                <a16:creationId xmlns:a16="http://schemas.microsoft.com/office/drawing/2014/main" id="{B7C4E59B-F4AB-514A-C8FA-EC9C3BB1657E}"/>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¿Cuándo usar cuestionarios?</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Las personas están dispersas geográficamente</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Diferentes oficinas o ciudades</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Muchas  personas involucradas </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Clientes o usuarios</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Queremos obtener opiniones generales </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Queremos identificar problemas generales</a:t>
            </a:r>
          </a:p>
        </p:txBody>
      </p:sp>
    </p:spTree>
    <p:extLst>
      <p:ext uri="{BB962C8B-B14F-4D97-AF65-F5344CB8AC3E}">
        <p14:creationId xmlns:p14="http://schemas.microsoft.com/office/powerpoint/2010/main" val="26500476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DA001B4E-BA2B-105C-871A-CAC38D883B65}"/>
            </a:ext>
          </a:extLst>
        </p:cNvPr>
        <p:cNvGrpSpPr/>
        <p:nvPr/>
      </p:nvGrpSpPr>
      <p:grpSpPr>
        <a:xfrm>
          <a:off x="0" y="0"/>
          <a:ext cx="0" cy="0"/>
          <a:chOff x="0" y="0"/>
          <a:chExt cx="0" cy="0"/>
        </a:xfrm>
      </p:grpSpPr>
      <p:pic>
        <p:nvPicPr>
          <p:cNvPr id="7" name="Google Shape;841;p122" descr="http://www.latitudperiodico.com.ar/imagenes/dibujito_entrevistas.jpg">
            <a:extLst>
              <a:ext uri="{FF2B5EF4-FFF2-40B4-BE49-F238E27FC236}">
                <a16:creationId xmlns:a16="http://schemas.microsoft.com/office/drawing/2014/main" id="{256BF6EE-1A26-07DB-C5ED-61BD26BD5EA2}"/>
              </a:ext>
            </a:extLst>
          </p:cNvPr>
          <p:cNvPicPr preferRelativeResize="0"/>
          <p:nvPr/>
        </p:nvPicPr>
        <p:blipFill rotWithShape="1">
          <a:blip r:embed="rId3"/>
          <a:srcRect/>
          <a:stretch/>
        </p:blipFill>
        <p:spPr>
          <a:xfrm>
            <a:off x="9185012" y="4075755"/>
            <a:ext cx="2828954" cy="2133839"/>
          </a:xfrm>
          <a:prstGeom prst="rect">
            <a:avLst/>
          </a:prstGeom>
        </p:spPr>
      </p:pic>
      <p:sp>
        <p:nvSpPr>
          <p:cNvPr id="147" name="Google Shape;147;g1f30b4104d4_0_0">
            <a:extLst>
              <a:ext uri="{FF2B5EF4-FFF2-40B4-BE49-F238E27FC236}">
                <a16:creationId xmlns:a16="http://schemas.microsoft.com/office/drawing/2014/main" id="{9CDC8065-B6DB-9019-67DA-73AE43193B4B}"/>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686C966C-56B5-4C49-1E83-3DF6E7267EE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2499EB7B-7B7F-2789-8181-FA5B4CF4F333}"/>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917FF269-F01B-1F75-7C5B-0A46D1060FC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48</a:t>
            </a:fld>
            <a:endParaRPr lang="es-ES"/>
          </a:p>
        </p:txBody>
      </p:sp>
      <p:sp>
        <p:nvSpPr>
          <p:cNvPr id="6" name="Google Shape;149;g1f30b4104d4_0_0">
            <a:extLst>
              <a:ext uri="{FF2B5EF4-FFF2-40B4-BE49-F238E27FC236}">
                <a16:creationId xmlns:a16="http://schemas.microsoft.com/office/drawing/2014/main" id="{4D33C46C-7E61-7F39-94C9-99E5C3A73CB3}"/>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Técnica de exploración mediante la cual el analista de sistemas recolecta información de las personas a través de la interacción cara a cara.</a:t>
            </a:r>
          </a:p>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Es una conversación con un propósito específico, que se basa en un formato de preguntas y respuestas en general.</a:t>
            </a:r>
          </a:p>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Busca conocer opiniones y sentimientos del entrevistado.</a:t>
            </a:r>
          </a:p>
        </p:txBody>
      </p:sp>
    </p:spTree>
    <p:extLst>
      <p:ext uri="{BB962C8B-B14F-4D97-AF65-F5344CB8AC3E}">
        <p14:creationId xmlns:p14="http://schemas.microsoft.com/office/powerpoint/2010/main" val="4276879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1AF6551E-5736-DF20-C697-7F48FE48A8DE}"/>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CD1FAFFB-E4EF-A1BF-2730-02FFE3675039}"/>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1C5BE3A7-A6AF-BFD3-1714-6E3C32A1F41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BD59D1DB-F178-C135-553E-7D0D74B163E0}"/>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B18D284B-0064-3A7E-F786-47E44B1C6BE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49</a:t>
            </a:fld>
            <a:endParaRPr lang="es-ES"/>
          </a:p>
        </p:txBody>
      </p:sp>
      <p:sp>
        <p:nvSpPr>
          <p:cNvPr id="6" name="Google Shape;149;g1f30b4104d4_0_0">
            <a:extLst>
              <a:ext uri="{FF2B5EF4-FFF2-40B4-BE49-F238E27FC236}">
                <a16:creationId xmlns:a16="http://schemas.microsoft.com/office/drawing/2014/main" id="{CB0F29B8-D49E-E08E-2041-40E53AE7679E}"/>
              </a:ext>
            </a:extLst>
          </p:cNvPr>
          <p:cNvSpPr/>
          <p:nvPr/>
        </p:nvSpPr>
        <p:spPr>
          <a:xfrm>
            <a:off x="1087731" y="1766807"/>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Ventajas: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El entrevistado se siente incluido en el proyecto</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Es posible obtener una retroalimentación del encuestado</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Es posible adaptar las preguntas de acuerdo al entrevistado</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Información no verbal observando las acciones y expresiones del entrevistado</a:t>
            </a:r>
          </a:p>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Desventajas: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Costosas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Tiempo y recursos humanos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Las entrevistas dependen en gran parte de las habilidades del entrevistador</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rPr>
              <a:t>No aplicable a distancia</a:t>
            </a:r>
          </a:p>
        </p:txBody>
      </p:sp>
    </p:spTree>
    <p:extLst>
      <p:ext uri="{BB962C8B-B14F-4D97-AF65-F5344CB8AC3E}">
        <p14:creationId xmlns:p14="http://schemas.microsoft.com/office/powerpoint/2010/main" val="3401733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21F823AA-E3C1-880B-4DFC-71EE65EB9992}"/>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5C61E871-E86E-9D8A-2CA7-DF442434F948}"/>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5DB7F845-7C64-2D15-EF33-15C2FBA1CC46}"/>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1B9018B-7953-7589-92FA-5C03385DE7BE}"/>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A8E102FC-8B8A-A64E-187B-A0EBAFBC610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50</a:t>
            </a:fld>
            <a:endParaRPr lang="es-ES"/>
          </a:p>
        </p:txBody>
      </p:sp>
      <p:sp>
        <p:nvSpPr>
          <p:cNvPr id="6" name="Google Shape;149;g1f30b4104d4_0_0">
            <a:extLst>
              <a:ext uri="{FF2B5EF4-FFF2-40B4-BE49-F238E27FC236}">
                <a16:creationId xmlns:a16="http://schemas.microsoft.com/office/drawing/2014/main" id="{0630B3C5-08AD-5C3F-BD8A-75587F870AA2}"/>
              </a:ext>
            </a:extLst>
          </p:cNvPr>
          <p:cNvSpPr/>
          <p:nvPr/>
        </p:nvSpPr>
        <p:spPr>
          <a:xfrm>
            <a:off x="1087731" y="1766807"/>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Tipos de entrevistas: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Estructuradas (Cerradas)</a:t>
            </a:r>
          </a:p>
          <a:p>
            <a:pPr marL="806450" lvl="2" algn="just">
              <a:lnSpc>
                <a:spcPct val="85000"/>
              </a:lnSpc>
              <a:spcBef>
                <a:spcPts val="450"/>
              </a:spcBef>
              <a:spcAft>
                <a:spcPts val="0"/>
              </a:spcAft>
              <a:buClr>
                <a:srgbClr val="262626"/>
              </a:buClr>
              <a:buSzPts val="2400"/>
              <a:tabLst>
                <a:tab pos="806450" algn="l"/>
              </a:tabLst>
            </a:pPr>
            <a:r>
              <a:rPr lang="es-ES" sz="2200" dirty="0"/>
              <a:t>El encuestador tiene un conjunto específico de preguntas para hacerle al entrevistado.</a:t>
            </a:r>
          </a:p>
          <a:p>
            <a:pPr marL="806450" lvl="2" algn="just">
              <a:lnSpc>
                <a:spcPct val="85000"/>
              </a:lnSpc>
              <a:spcBef>
                <a:spcPts val="450"/>
              </a:spcBef>
              <a:spcAft>
                <a:spcPts val="0"/>
              </a:spcAft>
              <a:buClr>
                <a:srgbClr val="262626"/>
              </a:buClr>
              <a:buSzPts val="2400"/>
              <a:tabLst>
                <a:tab pos="806450" algn="l"/>
              </a:tabLst>
            </a:pPr>
            <a:r>
              <a:rPr lang="es-ES" sz="2200" dirty="0"/>
              <a:t>Se dirige al usuario sobre un requerimiento puntual.</a:t>
            </a:r>
          </a:p>
          <a:p>
            <a:pPr marL="806450" lvl="2" algn="just">
              <a:lnSpc>
                <a:spcPct val="85000"/>
              </a:lnSpc>
              <a:spcBef>
                <a:spcPts val="450"/>
              </a:spcBef>
              <a:spcAft>
                <a:spcPts val="0"/>
              </a:spcAft>
              <a:buClr>
                <a:srgbClr val="262626"/>
              </a:buClr>
              <a:buSzPts val="2400"/>
              <a:tabLst>
                <a:tab pos="806450" algn="l"/>
              </a:tabLst>
            </a:pPr>
            <a:r>
              <a:rPr lang="es-ES" sz="2200" dirty="0"/>
              <a:t>No permite adquirir un amplio conocimiento del dominio.</a:t>
            </a:r>
          </a:p>
          <a:p>
            <a:pPr marL="806450" lvl="1" indent="-349250" algn="just">
              <a:spcBef>
                <a:spcPts val="0"/>
              </a:spcBef>
              <a:spcAft>
                <a:spcPts val="0"/>
              </a:spcAft>
              <a:buClr>
                <a:srgbClr val="C00000"/>
              </a:buClr>
              <a:buSzPct val="100000"/>
              <a:buFont typeface="Noto Sans Symbols2" panose="020B0502040504020204" pitchFamily="34" charset="0"/>
              <a:buChar char="»"/>
            </a:pPr>
            <a:endParaRPr lang="es-ES" sz="1400" dirty="0">
              <a:latin typeface="Calibri"/>
              <a:ea typeface="Calibri"/>
              <a:cs typeface="Calibri"/>
              <a:sym typeface="Calibri"/>
            </a:endParaRP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No estructuradas (Abiertas)</a:t>
            </a:r>
          </a:p>
          <a:p>
            <a:pPr marL="806450" lvl="1" algn="just">
              <a:lnSpc>
                <a:spcPct val="85000"/>
              </a:lnSpc>
              <a:spcBef>
                <a:spcPts val="450"/>
              </a:spcBef>
              <a:spcAft>
                <a:spcPts val="0"/>
              </a:spcAft>
              <a:buClr>
                <a:srgbClr val="262626"/>
              </a:buClr>
              <a:buSzPts val="2400"/>
            </a:pPr>
            <a:r>
              <a:rPr lang="es-ES" sz="2200" dirty="0"/>
              <a:t>El encuestador lleva a un tema en general.</a:t>
            </a:r>
          </a:p>
          <a:p>
            <a:pPr marL="806450" lvl="1" algn="just">
              <a:lnSpc>
                <a:spcPct val="85000"/>
              </a:lnSpc>
              <a:spcBef>
                <a:spcPts val="450"/>
              </a:spcBef>
              <a:spcAft>
                <a:spcPts val="0"/>
              </a:spcAft>
              <a:buClr>
                <a:srgbClr val="262626"/>
              </a:buClr>
              <a:buSzPts val="2400"/>
            </a:pPr>
            <a:r>
              <a:rPr lang="es-ES" sz="2200" dirty="0"/>
              <a:t>Sin preparación de preguntas específicas.</a:t>
            </a:r>
          </a:p>
          <a:p>
            <a:pPr marL="806450" lvl="1" algn="just">
              <a:lnSpc>
                <a:spcPct val="85000"/>
              </a:lnSpc>
              <a:spcBef>
                <a:spcPts val="450"/>
              </a:spcBef>
              <a:spcAft>
                <a:spcPts val="0"/>
              </a:spcAft>
              <a:buClr>
                <a:srgbClr val="262626"/>
              </a:buClr>
              <a:buSzPts val="2400"/>
            </a:pPr>
            <a:r>
              <a:rPr lang="es-ES" sz="2200" dirty="0"/>
              <a:t>Iniciar con preguntas que no dependen del contexto, para conocer el problema, la gente involucrada, etc.</a:t>
            </a:r>
          </a:p>
          <a:p>
            <a:pPr algn="just">
              <a:spcBef>
                <a:spcPts val="0"/>
              </a:spcBef>
              <a:spcAft>
                <a:spcPts val="0"/>
              </a:spcAft>
              <a:buClr>
                <a:srgbClr val="C00000"/>
              </a:buClr>
              <a:buSzPct val="100000"/>
            </a:pPr>
            <a:endParaRPr lang="es-ES" sz="2800" dirty="0">
              <a:latin typeface="Calibri"/>
              <a:ea typeface="Calibri"/>
              <a:cs typeface="Calibri"/>
              <a:sym typeface="Calibri"/>
            </a:endParaRPr>
          </a:p>
        </p:txBody>
      </p:sp>
    </p:spTree>
    <p:extLst>
      <p:ext uri="{BB962C8B-B14F-4D97-AF65-F5344CB8AC3E}">
        <p14:creationId xmlns:p14="http://schemas.microsoft.com/office/powerpoint/2010/main" val="919652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33747AE8-98AE-909F-E322-869C9C59084F}"/>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DDF7F0C1-FFE4-F03E-BB03-A27F8275A816}"/>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4880B284-BEB5-DF6F-ECC7-461F1E65C03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5114D76-2694-3E5D-423C-7FEB527CF228}"/>
              </a:ext>
            </a:extLst>
          </p:cNvPr>
          <p:cNvSpPr>
            <a:spLocks noGrp="1"/>
          </p:cNvSpPr>
          <p:nvPr>
            <p:ph type="ftr" sz="quarter" idx="11"/>
          </p:nvPr>
        </p:nvSpPr>
        <p:spPr>
          <a:xfrm>
            <a:off x="3701055" y="6444042"/>
            <a:ext cx="4842292" cy="365125"/>
          </a:xfrm>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FEF233EC-736F-FEE9-0B07-1F9233E570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51</a:t>
            </a:fld>
            <a:endParaRPr lang="es-ES"/>
          </a:p>
        </p:txBody>
      </p:sp>
      <p:grpSp>
        <p:nvGrpSpPr>
          <p:cNvPr id="786" name="Google Shape;786;p119">
            <a:extLst>
              <a:ext uri="{FF2B5EF4-FFF2-40B4-BE49-F238E27FC236}">
                <a16:creationId xmlns:a16="http://schemas.microsoft.com/office/drawing/2014/main" id="{18EC6DD4-609D-ADC8-F0A7-CB1BA4B8E1E3}"/>
              </a:ext>
            </a:extLst>
          </p:cNvPr>
          <p:cNvGrpSpPr/>
          <p:nvPr/>
        </p:nvGrpSpPr>
        <p:grpSpPr>
          <a:xfrm>
            <a:off x="931923" y="1675216"/>
            <a:ext cx="8930685" cy="2579233"/>
            <a:chOff x="-623721" y="2112804"/>
            <a:chExt cx="8894780" cy="3350864"/>
          </a:xfrm>
        </p:grpSpPr>
        <p:sp>
          <p:nvSpPr>
            <p:cNvPr id="787" name="Google Shape;787;p119">
              <a:extLst>
                <a:ext uri="{FF2B5EF4-FFF2-40B4-BE49-F238E27FC236}">
                  <a16:creationId xmlns:a16="http://schemas.microsoft.com/office/drawing/2014/main" id="{349AC4E5-809C-A489-E5C1-FF200A87A322}"/>
                </a:ext>
              </a:extLst>
            </p:cNvPr>
            <p:cNvSpPr/>
            <p:nvPr/>
          </p:nvSpPr>
          <p:spPr>
            <a:xfrm>
              <a:off x="2928864" y="2748226"/>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88" name="Google Shape;788;p119">
              <a:extLst>
                <a:ext uri="{FF2B5EF4-FFF2-40B4-BE49-F238E27FC236}">
                  <a16:creationId xmlns:a16="http://schemas.microsoft.com/office/drawing/2014/main" id="{D4284EE0-B571-26FA-FC06-57493A3FD902}"/>
                </a:ext>
              </a:extLst>
            </p:cNvPr>
            <p:cNvSpPr/>
            <p:nvPr/>
          </p:nvSpPr>
          <p:spPr>
            <a:xfrm>
              <a:off x="3755620" y="2729175"/>
              <a:ext cx="1196053" cy="476493"/>
            </a:xfrm>
            <a:prstGeom prst="rect">
              <a:avLst/>
            </a:prstGeom>
            <a:noFill/>
            <a:ln>
              <a:noFill/>
            </a:ln>
          </p:spPr>
          <p:txBody>
            <a:bodyPr spcFirstLastPara="1" wrap="non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Evaluación</a:t>
              </a:r>
              <a:endParaRPr b="0" i="0" u="none" strike="noStrike" cap="none" dirty="0">
                <a:solidFill>
                  <a:srgbClr val="000000"/>
                </a:solidFill>
                <a:latin typeface="+mn-lt"/>
                <a:ea typeface="Arial"/>
                <a:cs typeface="Arial"/>
                <a:sym typeface="Arial"/>
              </a:endParaRPr>
            </a:p>
          </p:txBody>
        </p:sp>
        <p:sp>
          <p:nvSpPr>
            <p:cNvPr id="789" name="Google Shape;789;p119">
              <a:extLst>
                <a:ext uri="{FF2B5EF4-FFF2-40B4-BE49-F238E27FC236}">
                  <a16:creationId xmlns:a16="http://schemas.microsoft.com/office/drawing/2014/main" id="{D670C2D0-7F98-5D97-3701-7EC563FE23D3}"/>
                </a:ext>
              </a:extLst>
            </p:cNvPr>
            <p:cNvSpPr/>
            <p:nvPr/>
          </p:nvSpPr>
          <p:spPr>
            <a:xfrm>
              <a:off x="2928864" y="3328988"/>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90" name="Google Shape;790;p119">
              <a:extLst>
                <a:ext uri="{FF2B5EF4-FFF2-40B4-BE49-F238E27FC236}">
                  <a16:creationId xmlns:a16="http://schemas.microsoft.com/office/drawing/2014/main" id="{E8B9AC18-14A8-6A06-B700-E5EABC0045A6}"/>
                </a:ext>
              </a:extLst>
            </p:cNvPr>
            <p:cNvSpPr/>
            <p:nvPr/>
          </p:nvSpPr>
          <p:spPr>
            <a:xfrm>
              <a:off x="2846766" y="3351370"/>
              <a:ext cx="3090417"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Cantidad de tiempo requerido</a:t>
              </a:r>
              <a:endParaRPr b="0" i="0" u="none" strike="noStrike" cap="none" dirty="0">
                <a:solidFill>
                  <a:srgbClr val="000000"/>
                </a:solidFill>
                <a:latin typeface="+mn-lt"/>
                <a:ea typeface="Arial"/>
                <a:cs typeface="Arial"/>
                <a:sym typeface="Arial"/>
              </a:endParaRPr>
            </a:p>
          </p:txBody>
        </p:sp>
        <p:sp>
          <p:nvSpPr>
            <p:cNvPr id="791" name="Google Shape;791;p119">
              <a:extLst>
                <a:ext uri="{FF2B5EF4-FFF2-40B4-BE49-F238E27FC236}">
                  <a16:creationId xmlns:a16="http://schemas.microsoft.com/office/drawing/2014/main" id="{DBEDE49D-C63E-C2AB-4B24-D17D55D5150F}"/>
                </a:ext>
              </a:extLst>
            </p:cNvPr>
            <p:cNvSpPr/>
            <p:nvPr/>
          </p:nvSpPr>
          <p:spPr>
            <a:xfrm>
              <a:off x="2928864" y="3894488"/>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92" name="Google Shape;792;p119">
              <a:extLst>
                <a:ext uri="{FF2B5EF4-FFF2-40B4-BE49-F238E27FC236}">
                  <a16:creationId xmlns:a16="http://schemas.microsoft.com/office/drawing/2014/main" id="{2917EED8-1639-F91A-66DA-EC8FAF26051C}"/>
                </a:ext>
              </a:extLst>
            </p:cNvPr>
            <p:cNvSpPr/>
            <p:nvPr/>
          </p:nvSpPr>
          <p:spPr>
            <a:xfrm>
              <a:off x="2928864" y="4429366"/>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93" name="Google Shape;793;p119">
              <a:extLst>
                <a:ext uri="{FF2B5EF4-FFF2-40B4-BE49-F238E27FC236}">
                  <a16:creationId xmlns:a16="http://schemas.microsoft.com/office/drawing/2014/main" id="{B66C6C59-DDDF-F5F5-8970-47E057B4550D}"/>
                </a:ext>
              </a:extLst>
            </p:cNvPr>
            <p:cNvSpPr/>
            <p:nvPr/>
          </p:nvSpPr>
          <p:spPr>
            <a:xfrm>
              <a:off x="2965376" y="4433170"/>
              <a:ext cx="2933700"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Permite la espontaneidad</a:t>
              </a:r>
              <a:endParaRPr b="0" i="0" u="none" strike="noStrike" cap="none" dirty="0">
                <a:solidFill>
                  <a:srgbClr val="000000"/>
                </a:solidFill>
                <a:latin typeface="+mn-lt"/>
                <a:ea typeface="Arial"/>
                <a:cs typeface="Arial"/>
                <a:sym typeface="Arial"/>
              </a:endParaRPr>
            </a:p>
          </p:txBody>
        </p:sp>
        <p:sp>
          <p:nvSpPr>
            <p:cNvPr id="794" name="Google Shape;794;p119">
              <a:extLst>
                <a:ext uri="{FF2B5EF4-FFF2-40B4-BE49-F238E27FC236}">
                  <a16:creationId xmlns:a16="http://schemas.microsoft.com/office/drawing/2014/main" id="{BDC992EF-562F-8403-06D1-958555E9E600}"/>
                </a:ext>
              </a:extLst>
            </p:cNvPr>
            <p:cNvSpPr/>
            <p:nvPr/>
          </p:nvSpPr>
          <p:spPr>
            <a:xfrm>
              <a:off x="2928864" y="4975665"/>
              <a:ext cx="2946400" cy="46800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95" name="Google Shape;795;p119">
              <a:extLst>
                <a:ext uri="{FF2B5EF4-FFF2-40B4-BE49-F238E27FC236}">
                  <a16:creationId xmlns:a16="http://schemas.microsoft.com/office/drawing/2014/main" id="{BFE66A09-0B5F-B603-3F9D-51224D571069}"/>
                </a:ext>
              </a:extLst>
            </p:cNvPr>
            <p:cNvSpPr/>
            <p:nvPr/>
          </p:nvSpPr>
          <p:spPr>
            <a:xfrm>
              <a:off x="2799112" y="4964866"/>
              <a:ext cx="3210374"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750" b="1" i="0" u="none" strike="noStrike" cap="none" dirty="0">
                  <a:solidFill>
                    <a:schemeClr val="dk1"/>
                  </a:solidFill>
                  <a:latin typeface="+mn-lt"/>
                  <a:ea typeface="Arial"/>
                  <a:cs typeface="Arial"/>
                  <a:sym typeface="Arial"/>
                </a:rPr>
                <a:t>Permite conocer al entrevistado</a:t>
              </a:r>
              <a:endParaRPr sz="1750" b="0" i="0" u="none" strike="noStrike" cap="none" dirty="0">
                <a:solidFill>
                  <a:srgbClr val="000000"/>
                </a:solidFill>
                <a:latin typeface="+mn-lt"/>
                <a:ea typeface="Arial"/>
                <a:cs typeface="Arial"/>
                <a:sym typeface="Arial"/>
              </a:endParaRPr>
            </a:p>
          </p:txBody>
        </p:sp>
        <p:cxnSp>
          <p:nvCxnSpPr>
            <p:cNvPr id="796" name="Google Shape;796;p119">
              <a:extLst>
                <a:ext uri="{FF2B5EF4-FFF2-40B4-BE49-F238E27FC236}">
                  <a16:creationId xmlns:a16="http://schemas.microsoft.com/office/drawing/2014/main" id="{7EBD26BC-A284-36A6-0296-798A78243851}"/>
                </a:ext>
              </a:extLst>
            </p:cNvPr>
            <p:cNvCxnSpPr/>
            <p:nvPr/>
          </p:nvCxnSpPr>
          <p:spPr>
            <a:xfrm rot="10800000">
              <a:off x="1721119" y="2996865"/>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797" name="Google Shape;797;p119">
              <a:extLst>
                <a:ext uri="{FF2B5EF4-FFF2-40B4-BE49-F238E27FC236}">
                  <a16:creationId xmlns:a16="http://schemas.microsoft.com/office/drawing/2014/main" id="{95BC557D-147C-ADFA-F363-D718E46B11CA}"/>
                </a:ext>
              </a:extLst>
            </p:cNvPr>
            <p:cNvCxnSpPr/>
            <p:nvPr/>
          </p:nvCxnSpPr>
          <p:spPr>
            <a:xfrm rot="10800000">
              <a:off x="1721119" y="3556442"/>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798" name="Google Shape;798;p119">
              <a:extLst>
                <a:ext uri="{FF2B5EF4-FFF2-40B4-BE49-F238E27FC236}">
                  <a16:creationId xmlns:a16="http://schemas.microsoft.com/office/drawing/2014/main" id="{4D842654-4E85-4812-13C1-C7E30D039954}"/>
                </a:ext>
              </a:extLst>
            </p:cNvPr>
            <p:cNvCxnSpPr/>
            <p:nvPr/>
          </p:nvCxnSpPr>
          <p:spPr>
            <a:xfrm rot="10800000">
              <a:off x="1721119" y="4128488"/>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799" name="Google Shape;799;p119">
              <a:extLst>
                <a:ext uri="{FF2B5EF4-FFF2-40B4-BE49-F238E27FC236}">
                  <a16:creationId xmlns:a16="http://schemas.microsoft.com/office/drawing/2014/main" id="{112B03F3-C86B-BEDF-C910-6239FCDEC2FA}"/>
                </a:ext>
              </a:extLst>
            </p:cNvPr>
            <p:cNvCxnSpPr/>
            <p:nvPr/>
          </p:nvCxnSpPr>
          <p:spPr>
            <a:xfrm rot="10800000">
              <a:off x="1733208" y="4663366"/>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800" name="Google Shape;800;p119">
              <a:extLst>
                <a:ext uri="{FF2B5EF4-FFF2-40B4-BE49-F238E27FC236}">
                  <a16:creationId xmlns:a16="http://schemas.microsoft.com/office/drawing/2014/main" id="{EC132C05-D7DF-678F-E800-5A577579A576}"/>
                </a:ext>
              </a:extLst>
            </p:cNvPr>
            <p:cNvCxnSpPr/>
            <p:nvPr/>
          </p:nvCxnSpPr>
          <p:spPr>
            <a:xfrm rot="10800000">
              <a:off x="1721119" y="5200728"/>
              <a:ext cx="1183224" cy="0"/>
            </a:xfrm>
            <a:prstGeom prst="straightConnector1">
              <a:avLst/>
            </a:prstGeom>
            <a:noFill/>
            <a:ln w="12700" cap="flat" cmpd="sng">
              <a:solidFill>
                <a:schemeClr val="dk1"/>
              </a:solidFill>
              <a:prstDash val="solid"/>
              <a:round/>
              <a:headEnd type="none" w="sm" len="sm"/>
              <a:tailEnd type="triangle" w="med" len="med"/>
            </a:ln>
          </p:spPr>
        </p:cxnSp>
        <p:cxnSp>
          <p:nvCxnSpPr>
            <p:cNvPr id="801" name="Google Shape;801;p119">
              <a:extLst>
                <a:ext uri="{FF2B5EF4-FFF2-40B4-BE49-F238E27FC236}">
                  <a16:creationId xmlns:a16="http://schemas.microsoft.com/office/drawing/2014/main" id="{C228601F-DED7-DD6E-6723-EA6BEF878AC1}"/>
                </a:ext>
              </a:extLst>
            </p:cNvPr>
            <p:cNvCxnSpPr/>
            <p:nvPr/>
          </p:nvCxnSpPr>
          <p:spPr>
            <a:xfrm rot="10800000">
              <a:off x="5866790" y="2996865"/>
              <a:ext cx="1183224" cy="0"/>
            </a:xfrm>
            <a:prstGeom prst="straightConnector1">
              <a:avLst/>
            </a:prstGeom>
            <a:noFill/>
            <a:ln w="12700" cap="flat" cmpd="sng">
              <a:solidFill>
                <a:schemeClr val="dk1"/>
              </a:solidFill>
              <a:prstDash val="solid"/>
              <a:round/>
              <a:headEnd type="triangle" w="med" len="med"/>
              <a:tailEnd type="none" w="sm" len="sm"/>
            </a:ln>
          </p:spPr>
        </p:cxnSp>
        <p:cxnSp>
          <p:nvCxnSpPr>
            <p:cNvPr id="802" name="Google Shape;802;p119">
              <a:extLst>
                <a:ext uri="{FF2B5EF4-FFF2-40B4-BE49-F238E27FC236}">
                  <a16:creationId xmlns:a16="http://schemas.microsoft.com/office/drawing/2014/main" id="{FAC65D60-5A57-421E-6A91-D312BED0A487}"/>
                </a:ext>
              </a:extLst>
            </p:cNvPr>
            <p:cNvCxnSpPr/>
            <p:nvPr/>
          </p:nvCxnSpPr>
          <p:spPr>
            <a:xfrm rot="10800000">
              <a:off x="5866790" y="3556442"/>
              <a:ext cx="1183224" cy="0"/>
            </a:xfrm>
            <a:prstGeom prst="straightConnector1">
              <a:avLst/>
            </a:prstGeom>
            <a:noFill/>
            <a:ln w="12700" cap="flat" cmpd="sng">
              <a:solidFill>
                <a:schemeClr val="dk1"/>
              </a:solidFill>
              <a:prstDash val="solid"/>
              <a:round/>
              <a:headEnd type="triangle" w="med" len="med"/>
              <a:tailEnd type="none" w="sm" len="sm"/>
            </a:ln>
          </p:spPr>
        </p:cxnSp>
        <p:cxnSp>
          <p:nvCxnSpPr>
            <p:cNvPr id="803" name="Google Shape;803;p119">
              <a:extLst>
                <a:ext uri="{FF2B5EF4-FFF2-40B4-BE49-F238E27FC236}">
                  <a16:creationId xmlns:a16="http://schemas.microsoft.com/office/drawing/2014/main" id="{066DA643-A5D7-71CA-BF42-4708C81B3E3F}"/>
                </a:ext>
              </a:extLst>
            </p:cNvPr>
            <p:cNvCxnSpPr/>
            <p:nvPr/>
          </p:nvCxnSpPr>
          <p:spPr>
            <a:xfrm rot="10800000">
              <a:off x="5866790" y="4127918"/>
              <a:ext cx="1183224" cy="0"/>
            </a:xfrm>
            <a:prstGeom prst="straightConnector1">
              <a:avLst/>
            </a:prstGeom>
            <a:noFill/>
            <a:ln w="12700" cap="flat" cmpd="sng">
              <a:solidFill>
                <a:schemeClr val="dk1"/>
              </a:solidFill>
              <a:prstDash val="solid"/>
              <a:round/>
              <a:headEnd type="triangle" w="med" len="med"/>
              <a:tailEnd type="none" w="sm" len="sm"/>
            </a:ln>
          </p:spPr>
        </p:cxnSp>
        <p:cxnSp>
          <p:nvCxnSpPr>
            <p:cNvPr id="804" name="Google Shape;804;p119">
              <a:extLst>
                <a:ext uri="{FF2B5EF4-FFF2-40B4-BE49-F238E27FC236}">
                  <a16:creationId xmlns:a16="http://schemas.microsoft.com/office/drawing/2014/main" id="{2CE94BD2-9F71-7183-5B3F-7E7DB87B2184}"/>
                </a:ext>
              </a:extLst>
            </p:cNvPr>
            <p:cNvCxnSpPr/>
            <p:nvPr/>
          </p:nvCxnSpPr>
          <p:spPr>
            <a:xfrm rot="10800000">
              <a:off x="5866790" y="4664318"/>
              <a:ext cx="1183224" cy="0"/>
            </a:xfrm>
            <a:prstGeom prst="straightConnector1">
              <a:avLst/>
            </a:prstGeom>
            <a:noFill/>
            <a:ln w="12700" cap="flat" cmpd="sng">
              <a:solidFill>
                <a:schemeClr val="dk1"/>
              </a:solidFill>
              <a:prstDash val="solid"/>
              <a:round/>
              <a:headEnd type="triangle" w="med" len="med"/>
              <a:tailEnd type="none" w="sm" len="sm"/>
            </a:ln>
          </p:spPr>
        </p:cxnSp>
        <p:cxnSp>
          <p:nvCxnSpPr>
            <p:cNvPr id="805" name="Google Shape;805;p119">
              <a:extLst>
                <a:ext uri="{FF2B5EF4-FFF2-40B4-BE49-F238E27FC236}">
                  <a16:creationId xmlns:a16="http://schemas.microsoft.com/office/drawing/2014/main" id="{8B697B23-A3D4-7901-E794-1BB1BDB46FF5}"/>
                </a:ext>
              </a:extLst>
            </p:cNvPr>
            <p:cNvCxnSpPr/>
            <p:nvPr/>
          </p:nvCxnSpPr>
          <p:spPr>
            <a:xfrm rot="10800000">
              <a:off x="5866790" y="5219388"/>
              <a:ext cx="1183224" cy="0"/>
            </a:xfrm>
            <a:prstGeom prst="straightConnector1">
              <a:avLst/>
            </a:prstGeom>
            <a:noFill/>
            <a:ln w="12700" cap="flat" cmpd="sng">
              <a:solidFill>
                <a:schemeClr val="dk1"/>
              </a:solidFill>
              <a:prstDash val="solid"/>
              <a:round/>
              <a:headEnd type="triangle" w="med" len="med"/>
              <a:tailEnd type="none" w="sm" len="sm"/>
            </a:ln>
          </p:spPr>
        </p:cxnSp>
        <p:sp>
          <p:nvSpPr>
            <p:cNvPr id="806" name="Google Shape;806;p119">
              <a:extLst>
                <a:ext uri="{FF2B5EF4-FFF2-40B4-BE49-F238E27FC236}">
                  <a16:creationId xmlns:a16="http://schemas.microsoft.com/office/drawing/2014/main" id="{8B7C301F-AF3D-3E0C-7B7D-6BE286BF0E62}"/>
                </a:ext>
              </a:extLst>
            </p:cNvPr>
            <p:cNvSpPr/>
            <p:nvPr/>
          </p:nvSpPr>
          <p:spPr>
            <a:xfrm>
              <a:off x="809725" y="2347393"/>
              <a:ext cx="1208665" cy="366768"/>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1" i="0" u="none" strike="noStrike" cap="none" dirty="0">
                  <a:solidFill>
                    <a:schemeClr val="dk1"/>
                  </a:solidFill>
                  <a:latin typeface="+mn-lt"/>
                  <a:ea typeface="Arial"/>
                  <a:cs typeface="Arial"/>
                  <a:sym typeface="Arial"/>
                </a:rPr>
                <a:t>Abiertas</a:t>
              </a:r>
              <a:endParaRPr b="0" i="0" u="none" strike="noStrike" cap="none" dirty="0">
                <a:solidFill>
                  <a:srgbClr val="000000"/>
                </a:solidFill>
                <a:latin typeface="+mn-lt"/>
                <a:ea typeface="Arial"/>
                <a:cs typeface="Arial"/>
                <a:sym typeface="Arial"/>
              </a:endParaRPr>
            </a:p>
          </p:txBody>
        </p:sp>
        <p:sp>
          <p:nvSpPr>
            <p:cNvPr id="807" name="Google Shape;807;p119">
              <a:extLst>
                <a:ext uri="{FF2B5EF4-FFF2-40B4-BE49-F238E27FC236}">
                  <a16:creationId xmlns:a16="http://schemas.microsoft.com/office/drawing/2014/main" id="{7C5D8550-E1AB-3411-65EE-771B391AE760}"/>
                </a:ext>
              </a:extLst>
            </p:cNvPr>
            <p:cNvSpPr/>
            <p:nvPr/>
          </p:nvSpPr>
          <p:spPr>
            <a:xfrm>
              <a:off x="937869" y="2768395"/>
              <a:ext cx="896382"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Difícil</a:t>
              </a:r>
              <a:endParaRPr b="0" i="0" u="none" strike="noStrike" cap="none" dirty="0">
                <a:solidFill>
                  <a:srgbClr val="000000"/>
                </a:solidFill>
                <a:latin typeface="+mn-lt"/>
                <a:ea typeface="Arial"/>
                <a:cs typeface="Arial"/>
                <a:sym typeface="Arial"/>
              </a:endParaRPr>
            </a:p>
          </p:txBody>
        </p:sp>
        <p:sp>
          <p:nvSpPr>
            <p:cNvPr id="808" name="Google Shape;808;p119">
              <a:extLst>
                <a:ext uri="{FF2B5EF4-FFF2-40B4-BE49-F238E27FC236}">
                  <a16:creationId xmlns:a16="http://schemas.microsoft.com/office/drawing/2014/main" id="{CE305149-EAF0-2816-54AA-91DA64184145}"/>
                </a:ext>
              </a:extLst>
            </p:cNvPr>
            <p:cNvSpPr/>
            <p:nvPr/>
          </p:nvSpPr>
          <p:spPr>
            <a:xfrm>
              <a:off x="6901629" y="2370527"/>
              <a:ext cx="1295227" cy="366768"/>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1" i="0" u="none" strike="noStrike" cap="none" dirty="0">
                  <a:solidFill>
                    <a:schemeClr val="dk1"/>
                  </a:solidFill>
                  <a:latin typeface="+mn-lt"/>
                  <a:ea typeface="Arial"/>
                  <a:cs typeface="Arial"/>
                  <a:sym typeface="Arial"/>
                </a:rPr>
                <a:t>Cerradas</a:t>
              </a:r>
              <a:endParaRPr b="0" i="0" u="none" strike="noStrike" cap="none" dirty="0">
                <a:solidFill>
                  <a:srgbClr val="000000"/>
                </a:solidFill>
                <a:latin typeface="+mn-lt"/>
                <a:ea typeface="Arial"/>
                <a:cs typeface="Arial"/>
                <a:sym typeface="Arial"/>
              </a:endParaRPr>
            </a:p>
          </p:txBody>
        </p:sp>
        <p:sp>
          <p:nvSpPr>
            <p:cNvPr id="809" name="Google Shape;809;p119">
              <a:extLst>
                <a:ext uri="{FF2B5EF4-FFF2-40B4-BE49-F238E27FC236}">
                  <a16:creationId xmlns:a16="http://schemas.microsoft.com/office/drawing/2014/main" id="{5360EDE2-8393-E99F-72AC-166E171865FE}"/>
                </a:ext>
              </a:extLst>
            </p:cNvPr>
            <p:cNvSpPr/>
            <p:nvPr/>
          </p:nvSpPr>
          <p:spPr>
            <a:xfrm>
              <a:off x="3021732" y="2112804"/>
              <a:ext cx="2760662" cy="828432"/>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sz="2400" b="1" i="0" u="none" strike="noStrike" cap="none" dirty="0">
                  <a:solidFill>
                    <a:schemeClr val="dk1"/>
                  </a:solidFill>
                  <a:latin typeface="+mn-lt"/>
                  <a:ea typeface="Arial"/>
                  <a:cs typeface="Arial"/>
                  <a:sym typeface="Arial"/>
                </a:rPr>
                <a:t>Tipos de Entrevistas</a:t>
              </a:r>
              <a:endParaRPr sz="2400" b="0" i="0" u="none" strike="noStrike" cap="none" dirty="0">
                <a:solidFill>
                  <a:srgbClr val="000000"/>
                </a:solidFill>
                <a:latin typeface="+mn-lt"/>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400" b="1" i="0" u="none" strike="noStrike" cap="none" dirty="0">
                <a:solidFill>
                  <a:schemeClr val="dk1"/>
                </a:solidFill>
                <a:latin typeface="+mn-lt"/>
                <a:ea typeface="Arial"/>
                <a:cs typeface="Arial"/>
                <a:sym typeface="Arial"/>
              </a:endParaRPr>
            </a:p>
          </p:txBody>
        </p:sp>
        <p:sp>
          <p:nvSpPr>
            <p:cNvPr id="810" name="Google Shape;810;p119">
              <a:extLst>
                <a:ext uri="{FF2B5EF4-FFF2-40B4-BE49-F238E27FC236}">
                  <a16:creationId xmlns:a16="http://schemas.microsoft.com/office/drawing/2014/main" id="{794A1BF4-FCBA-7E4F-B154-DB1457C0E52E}"/>
                </a:ext>
              </a:extLst>
            </p:cNvPr>
            <p:cNvSpPr/>
            <p:nvPr/>
          </p:nvSpPr>
          <p:spPr>
            <a:xfrm>
              <a:off x="937869" y="3342065"/>
              <a:ext cx="896382"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Mucho</a:t>
              </a:r>
              <a:endParaRPr b="0" i="0" u="none" strike="noStrike" cap="none" dirty="0">
                <a:solidFill>
                  <a:srgbClr val="000000"/>
                </a:solidFill>
                <a:latin typeface="+mn-lt"/>
                <a:ea typeface="Arial"/>
                <a:cs typeface="Arial"/>
                <a:sym typeface="Arial"/>
              </a:endParaRPr>
            </a:p>
          </p:txBody>
        </p:sp>
        <p:sp>
          <p:nvSpPr>
            <p:cNvPr id="811" name="Google Shape;811;p119">
              <a:extLst>
                <a:ext uri="{FF2B5EF4-FFF2-40B4-BE49-F238E27FC236}">
                  <a16:creationId xmlns:a16="http://schemas.microsoft.com/office/drawing/2014/main" id="{DFD2DA40-B9FC-67E4-3597-7B7152E8542C}"/>
                </a:ext>
              </a:extLst>
            </p:cNvPr>
            <p:cNvSpPr/>
            <p:nvPr/>
          </p:nvSpPr>
          <p:spPr>
            <a:xfrm>
              <a:off x="161498" y="3882940"/>
              <a:ext cx="1672753"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Muy necesario</a:t>
              </a:r>
              <a:endParaRPr b="0" i="0" u="none" strike="noStrike" cap="none" dirty="0">
                <a:solidFill>
                  <a:srgbClr val="000000"/>
                </a:solidFill>
                <a:latin typeface="+mn-lt"/>
                <a:ea typeface="Arial"/>
                <a:cs typeface="Arial"/>
                <a:sym typeface="Arial"/>
              </a:endParaRPr>
            </a:p>
          </p:txBody>
        </p:sp>
        <p:sp>
          <p:nvSpPr>
            <p:cNvPr id="812" name="Google Shape;812;p119">
              <a:extLst>
                <a:ext uri="{FF2B5EF4-FFF2-40B4-BE49-F238E27FC236}">
                  <a16:creationId xmlns:a16="http://schemas.microsoft.com/office/drawing/2014/main" id="{0064665C-0A42-3A2E-4167-F43B14947583}"/>
                </a:ext>
              </a:extLst>
            </p:cNvPr>
            <p:cNvSpPr/>
            <p:nvPr/>
          </p:nvSpPr>
          <p:spPr>
            <a:xfrm>
              <a:off x="937869" y="4490782"/>
              <a:ext cx="896382"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Mucho</a:t>
              </a:r>
              <a:endParaRPr b="0" i="0" u="none" strike="noStrike" cap="none" dirty="0">
                <a:solidFill>
                  <a:srgbClr val="000000"/>
                </a:solidFill>
                <a:latin typeface="+mn-lt"/>
                <a:ea typeface="Arial"/>
                <a:cs typeface="Arial"/>
                <a:sym typeface="Arial"/>
              </a:endParaRPr>
            </a:p>
          </p:txBody>
        </p:sp>
        <p:sp>
          <p:nvSpPr>
            <p:cNvPr id="813" name="Google Shape;813;p119">
              <a:extLst>
                <a:ext uri="{FF2B5EF4-FFF2-40B4-BE49-F238E27FC236}">
                  <a16:creationId xmlns:a16="http://schemas.microsoft.com/office/drawing/2014/main" id="{7C7C20CD-D96C-1340-A4E0-D9E534CE6A47}"/>
                </a:ext>
              </a:extLst>
            </p:cNvPr>
            <p:cNvSpPr/>
            <p:nvPr/>
          </p:nvSpPr>
          <p:spPr>
            <a:xfrm>
              <a:off x="-623721" y="4952651"/>
              <a:ext cx="2401647"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Muchas oportunidades</a:t>
              </a:r>
              <a:endParaRPr b="0" i="0" u="none" strike="noStrike" cap="none" dirty="0">
                <a:solidFill>
                  <a:srgbClr val="000000"/>
                </a:solidFill>
                <a:latin typeface="+mn-lt"/>
                <a:ea typeface="Arial"/>
                <a:cs typeface="Arial"/>
                <a:sym typeface="Arial"/>
              </a:endParaRPr>
            </a:p>
          </p:txBody>
        </p:sp>
        <p:sp>
          <p:nvSpPr>
            <p:cNvPr id="814" name="Google Shape;814;p119">
              <a:extLst>
                <a:ext uri="{FF2B5EF4-FFF2-40B4-BE49-F238E27FC236}">
                  <a16:creationId xmlns:a16="http://schemas.microsoft.com/office/drawing/2014/main" id="{1533CF7C-25DC-226A-ACB8-99E57882987C}"/>
                </a:ext>
              </a:extLst>
            </p:cNvPr>
            <p:cNvSpPr/>
            <p:nvPr/>
          </p:nvSpPr>
          <p:spPr>
            <a:xfrm>
              <a:off x="7096310" y="2768395"/>
              <a:ext cx="896382"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Fácil</a:t>
              </a:r>
              <a:endParaRPr b="0" i="0" u="none" strike="noStrike" cap="none" dirty="0">
                <a:solidFill>
                  <a:srgbClr val="000000"/>
                </a:solidFill>
                <a:latin typeface="+mn-lt"/>
                <a:ea typeface="Arial"/>
                <a:cs typeface="Arial"/>
                <a:sym typeface="Arial"/>
              </a:endParaRPr>
            </a:p>
          </p:txBody>
        </p:sp>
        <p:sp>
          <p:nvSpPr>
            <p:cNvPr id="815" name="Google Shape;815;p119">
              <a:extLst>
                <a:ext uri="{FF2B5EF4-FFF2-40B4-BE49-F238E27FC236}">
                  <a16:creationId xmlns:a16="http://schemas.microsoft.com/office/drawing/2014/main" id="{6679D510-6277-A95A-6C51-6F7038CC677D}"/>
                </a:ext>
              </a:extLst>
            </p:cNvPr>
            <p:cNvSpPr/>
            <p:nvPr/>
          </p:nvSpPr>
          <p:spPr>
            <a:xfrm>
              <a:off x="7096310" y="3342065"/>
              <a:ext cx="896382"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Poco</a:t>
              </a:r>
              <a:endParaRPr b="0" i="0" u="none" strike="noStrike" cap="none" dirty="0">
                <a:solidFill>
                  <a:srgbClr val="000000"/>
                </a:solidFill>
                <a:latin typeface="+mn-lt"/>
                <a:ea typeface="Arial"/>
                <a:cs typeface="Arial"/>
                <a:sym typeface="Arial"/>
              </a:endParaRPr>
            </a:p>
          </p:txBody>
        </p:sp>
        <p:sp>
          <p:nvSpPr>
            <p:cNvPr id="816" name="Google Shape;816;p119">
              <a:extLst>
                <a:ext uri="{FF2B5EF4-FFF2-40B4-BE49-F238E27FC236}">
                  <a16:creationId xmlns:a16="http://schemas.microsoft.com/office/drawing/2014/main" id="{E4B1953B-4D64-D5E0-5233-F81AE203768B}"/>
                </a:ext>
              </a:extLst>
            </p:cNvPr>
            <p:cNvSpPr/>
            <p:nvPr/>
          </p:nvSpPr>
          <p:spPr>
            <a:xfrm>
              <a:off x="7096309" y="3923209"/>
              <a:ext cx="1054024"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Limitado</a:t>
              </a:r>
              <a:endParaRPr b="0" i="0" u="none" strike="noStrike" cap="none" dirty="0">
                <a:solidFill>
                  <a:srgbClr val="000000"/>
                </a:solidFill>
                <a:latin typeface="+mn-lt"/>
                <a:ea typeface="Arial"/>
                <a:cs typeface="Arial"/>
                <a:sym typeface="Arial"/>
              </a:endParaRPr>
            </a:p>
          </p:txBody>
        </p:sp>
        <p:sp>
          <p:nvSpPr>
            <p:cNvPr id="817" name="Google Shape;817;p119">
              <a:extLst>
                <a:ext uri="{FF2B5EF4-FFF2-40B4-BE49-F238E27FC236}">
                  <a16:creationId xmlns:a16="http://schemas.microsoft.com/office/drawing/2014/main" id="{D83FDCC4-253E-C2D6-33F5-79FA56AF139B}"/>
                </a:ext>
              </a:extLst>
            </p:cNvPr>
            <p:cNvSpPr/>
            <p:nvPr/>
          </p:nvSpPr>
          <p:spPr>
            <a:xfrm>
              <a:off x="7118143" y="4490782"/>
              <a:ext cx="896382"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Poco</a:t>
              </a:r>
              <a:endParaRPr b="0" i="0" u="none" strike="noStrike" cap="none" dirty="0">
                <a:solidFill>
                  <a:srgbClr val="000000"/>
                </a:solidFill>
                <a:latin typeface="+mn-lt"/>
                <a:ea typeface="Arial"/>
                <a:cs typeface="Arial"/>
                <a:sym typeface="Arial"/>
              </a:endParaRPr>
            </a:p>
          </p:txBody>
        </p:sp>
        <p:sp>
          <p:nvSpPr>
            <p:cNvPr id="818" name="Google Shape;818;p119">
              <a:extLst>
                <a:ext uri="{FF2B5EF4-FFF2-40B4-BE49-F238E27FC236}">
                  <a16:creationId xmlns:a16="http://schemas.microsoft.com/office/drawing/2014/main" id="{18122B70-BA08-6FE9-4706-EFAB866F100D}"/>
                </a:ext>
              </a:extLst>
            </p:cNvPr>
            <p:cNvSpPr/>
            <p:nvPr/>
          </p:nvSpPr>
          <p:spPr>
            <a:xfrm>
              <a:off x="7118143" y="4987175"/>
              <a:ext cx="1152916"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Muy poco</a:t>
              </a:r>
              <a:endParaRPr b="0" i="0" u="none" strike="noStrike" cap="none" dirty="0">
                <a:solidFill>
                  <a:srgbClr val="000000"/>
                </a:solidFill>
                <a:latin typeface="+mn-lt"/>
                <a:ea typeface="Arial"/>
                <a:cs typeface="Arial"/>
                <a:sym typeface="Arial"/>
              </a:endParaRPr>
            </a:p>
          </p:txBody>
        </p:sp>
        <p:sp>
          <p:nvSpPr>
            <p:cNvPr id="819" name="Google Shape;819;p119">
              <a:extLst>
                <a:ext uri="{FF2B5EF4-FFF2-40B4-BE49-F238E27FC236}">
                  <a16:creationId xmlns:a16="http://schemas.microsoft.com/office/drawing/2014/main" id="{62729FBA-D07C-211D-9768-C1C3768757FC}"/>
                </a:ext>
              </a:extLst>
            </p:cNvPr>
            <p:cNvSpPr/>
            <p:nvPr/>
          </p:nvSpPr>
          <p:spPr>
            <a:xfrm>
              <a:off x="2965376" y="3898477"/>
              <a:ext cx="2933700" cy="476493"/>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Entrenamiento requerido</a:t>
              </a:r>
              <a:endParaRPr b="0" i="0" u="none" strike="noStrike" cap="none" dirty="0">
                <a:solidFill>
                  <a:srgbClr val="000000"/>
                </a:solidFill>
                <a:latin typeface="+mn-lt"/>
                <a:ea typeface="Arial"/>
                <a:cs typeface="Arial"/>
                <a:sym typeface="Arial"/>
              </a:endParaRPr>
            </a:p>
          </p:txBody>
        </p:sp>
      </p:grpSp>
      <p:sp>
        <p:nvSpPr>
          <p:cNvPr id="5" name="Google Shape;787;p119">
            <a:extLst>
              <a:ext uri="{FF2B5EF4-FFF2-40B4-BE49-F238E27FC236}">
                <a16:creationId xmlns:a16="http://schemas.microsoft.com/office/drawing/2014/main" id="{F83400D0-D21D-47E7-12BD-B27B1352DC81}"/>
              </a:ext>
            </a:extLst>
          </p:cNvPr>
          <p:cNvSpPr/>
          <p:nvPr/>
        </p:nvSpPr>
        <p:spPr>
          <a:xfrm>
            <a:off x="4498849" y="4303374"/>
            <a:ext cx="2958293" cy="36023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6" name="Google Shape;789;p119">
            <a:extLst>
              <a:ext uri="{FF2B5EF4-FFF2-40B4-BE49-F238E27FC236}">
                <a16:creationId xmlns:a16="http://schemas.microsoft.com/office/drawing/2014/main" id="{57C82247-4C35-2F0D-EE84-452133239296}"/>
              </a:ext>
            </a:extLst>
          </p:cNvPr>
          <p:cNvSpPr/>
          <p:nvPr/>
        </p:nvSpPr>
        <p:spPr>
          <a:xfrm>
            <a:off x="4498849" y="4734901"/>
            <a:ext cx="2958293" cy="36023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 name="Google Shape;792;p119">
            <a:extLst>
              <a:ext uri="{FF2B5EF4-FFF2-40B4-BE49-F238E27FC236}">
                <a16:creationId xmlns:a16="http://schemas.microsoft.com/office/drawing/2014/main" id="{425803EC-53E6-82A6-1927-774E69838414}"/>
              </a:ext>
            </a:extLst>
          </p:cNvPr>
          <p:cNvSpPr/>
          <p:nvPr/>
        </p:nvSpPr>
        <p:spPr>
          <a:xfrm>
            <a:off x="4498849" y="5581886"/>
            <a:ext cx="2958293" cy="36023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8" name="Google Shape;795;p119">
            <a:extLst>
              <a:ext uri="{FF2B5EF4-FFF2-40B4-BE49-F238E27FC236}">
                <a16:creationId xmlns:a16="http://schemas.microsoft.com/office/drawing/2014/main" id="{B5948B0F-99C2-5194-5AEC-781454AFD356}"/>
              </a:ext>
            </a:extLst>
          </p:cNvPr>
          <p:cNvSpPr/>
          <p:nvPr/>
        </p:nvSpPr>
        <p:spPr>
          <a:xfrm>
            <a:off x="4396612" y="5981909"/>
            <a:ext cx="3223333"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sz="1750" b="1" i="0" u="none" strike="noStrike" cap="none" dirty="0">
                <a:solidFill>
                  <a:schemeClr val="dk1"/>
                </a:solidFill>
                <a:latin typeface="+mn-lt"/>
                <a:ea typeface="Arial"/>
                <a:cs typeface="Arial"/>
                <a:sym typeface="Arial"/>
              </a:rPr>
              <a:t>Amplitud y profundidad</a:t>
            </a:r>
            <a:endParaRPr sz="1750" b="0" i="0" u="none" strike="noStrike" cap="none" dirty="0">
              <a:solidFill>
                <a:srgbClr val="000000"/>
              </a:solidFill>
              <a:latin typeface="+mn-lt"/>
              <a:ea typeface="Arial"/>
              <a:cs typeface="Arial"/>
              <a:sym typeface="Arial"/>
            </a:endParaRPr>
          </a:p>
        </p:txBody>
      </p:sp>
      <p:cxnSp>
        <p:nvCxnSpPr>
          <p:cNvPr id="9" name="Google Shape;796;p119">
            <a:extLst>
              <a:ext uri="{FF2B5EF4-FFF2-40B4-BE49-F238E27FC236}">
                <a16:creationId xmlns:a16="http://schemas.microsoft.com/office/drawing/2014/main" id="{8F1B529A-2C7A-BF35-7FC6-52A1478D160C}"/>
              </a:ext>
            </a:extLst>
          </p:cNvPr>
          <p:cNvCxnSpPr/>
          <p:nvPr/>
        </p:nvCxnSpPr>
        <p:spPr>
          <a:xfrm rot="10800000">
            <a:off x="3286229" y="4479259"/>
            <a:ext cx="1188000" cy="0"/>
          </a:xfrm>
          <a:prstGeom prst="straightConnector1">
            <a:avLst/>
          </a:prstGeom>
          <a:noFill/>
          <a:ln w="12700" cap="flat" cmpd="sng">
            <a:solidFill>
              <a:schemeClr val="dk1"/>
            </a:solidFill>
            <a:prstDash val="solid"/>
            <a:round/>
            <a:headEnd type="none" w="sm" len="sm"/>
            <a:tailEnd type="triangle" w="med" len="med"/>
          </a:ln>
        </p:spPr>
      </p:cxnSp>
      <p:cxnSp>
        <p:nvCxnSpPr>
          <p:cNvPr id="10" name="Google Shape;797;p119">
            <a:extLst>
              <a:ext uri="{FF2B5EF4-FFF2-40B4-BE49-F238E27FC236}">
                <a16:creationId xmlns:a16="http://schemas.microsoft.com/office/drawing/2014/main" id="{DF4CA44E-17B0-6F70-96CB-18A36E7A342C}"/>
              </a:ext>
            </a:extLst>
          </p:cNvPr>
          <p:cNvCxnSpPr/>
          <p:nvPr/>
        </p:nvCxnSpPr>
        <p:spPr>
          <a:xfrm rot="10800000">
            <a:off x="3286229" y="4909977"/>
            <a:ext cx="1188000" cy="0"/>
          </a:xfrm>
          <a:prstGeom prst="straightConnector1">
            <a:avLst/>
          </a:prstGeom>
          <a:noFill/>
          <a:ln w="12700" cap="flat" cmpd="sng">
            <a:solidFill>
              <a:schemeClr val="dk1"/>
            </a:solidFill>
            <a:prstDash val="solid"/>
            <a:round/>
            <a:headEnd type="none" w="sm" len="sm"/>
            <a:tailEnd type="triangle" w="med" len="med"/>
          </a:ln>
        </p:spPr>
      </p:cxnSp>
      <p:cxnSp>
        <p:nvCxnSpPr>
          <p:cNvPr id="11" name="Google Shape;798;p119">
            <a:extLst>
              <a:ext uri="{FF2B5EF4-FFF2-40B4-BE49-F238E27FC236}">
                <a16:creationId xmlns:a16="http://schemas.microsoft.com/office/drawing/2014/main" id="{EB9B9940-E041-E92D-AA43-E78A3B6F5DD0}"/>
              </a:ext>
            </a:extLst>
          </p:cNvPr>
          <p:cNvCxnSpPr/>
          <p:nvPr/>
        </p:nvCxnSpPr>
        <p:spPr>
          <a:xfrm rot="10800000">
            <a:off x="3286229" y="5350294"/>
            <a:ext cx="1188000" cy="0"/>
          </a:xfrm>
          <a:prstGeom prst="straightConnector1">
            <a:avLst/>
          </a:prstGeom>
          <a:noFill/>
          <a:ln w="12700" cap="flat" cmpd="sng">
            <a:solidFill>
              <a:schemeClr val="dk1"/>
            </a:solidFill>
            <a:prstDash val="solid"/>
            <a:round/>
            <a:headEnd type="none" w="sm" len="sm"/>
            <a:tailEnd type="triangle" w="med" len="med"/>
          </a:ln>
        </p:spPr>
      </p:cxnSp>
      <p:cxnSp>
        <p:nvCxnSpPr>
          <p:cNvPr id="12" name="Google Shape;799;p119">
            <a:extLst>
              <a:ext uri="{FF2B5EF4-FFF2-40B4-BE49-F238E27FC236}">
                <a16:creationId xmlns:a16="http://schemas.microsoft.com/office/drawing/2014/main" id="{98B93C97-96B9-F754-5A85-981CAB268E47}"/>
              </a:ext>
            </a:extLst>
          </p:cNvPr>
          <p:cNvCxnSpPr/>
          <p:nvPr/>
        </p:nvCxnSpPr>
        <p:spPr>
          <a:xfrm rot="10800000">
            <a:off x="3298367" y="5762001"/>
            <a:ext cx="1188000" cy="0"/>
          </a:xfrm>
          <a:prstGeom prst="straightConnector1">
            <a:avLst/>
          </a:prstGeom>
          <a:noFill/>
          <a:ln w="12700" cap="flat" cmpd="sng">
            <a:solidFill>
              <a:schemeClr val="dk1"/>
            </a:solidFill>
            <a:prstDash val="solid"/>
            <a:round/>
            <a:headEnd type="none" w="sm" len="sm"/>
            <a:tailEnd type="triangle" w="med" len="med"/>
          </a:ln>
        </p:spPr>
      </p:cxnSp>
      <p:cxnSp>
        <p:nvCxnSpPr>
          <p:cNvPr id="13" name="Google Shape;800;p119">
            <a:extLst>
              <a:ext uri="{FF2B5EF4-FFF2-40B4-BE49-F238E27FC236}">
                <a16:creationId xmlns:a16="http://schemas.microsoft.com/office/drawing/2014/main" id="{6D045515-2AFF-1E22-D932-6EF0FDB9ACF3}"/>
              </a:ext>
            </a:extLst>
          </p:cNvPr>
          <p:cNvCxnSpPr/>
          <p:nvPr/>
        </p:nvCxnSpPr>
        <p:spPr>
          <a:xfrm rot="10800000">
            <a:off x="3286229" y="6160122"/>
            <a:ext cx="1188000" cy="0"/>
          </a:xfrm>
          <a:prstGeom prst="straightConnector1">
            <a:avLst/>
          </a:prstGeom>
          <a:noFill/>
          <a:ln w="12700" cap="flat" cmpd="sng">
            <a:solidFill>
              <a:schemeClr val="dk1"/>
            </a:solidFill>
            <a:prstDash val="solid"/>
            <a:round/>
            <a:headEnd type="none" w="sm" len="sm"/>
            <a:tailEnd type="triangle" w="med" len="med"/>
          </a:ln>
        </p:spPr>
      </p:cxnSp>
      <p:cxnSp>
        <p:nvCxnSpPr>
          <p:cNvPr id="14" name="Google Shape;801;p119">
            <a:extLst>
              <a:ext uri="{FF2B5EF4-FFF2-40B4-BE49-F238E27FC236}">
                <a16:creationId xmlns:a16="http://schemas.microsoft.com/office/drawing/2014/main" id="{BCCD7DB0-21D8-3AAF-69E9-FF4356BA3EFF}"/>
              </a:ext>
            </a:extLst>
          </p:cNvPr>
          <p:cNvCxnSpPr/>
          <p:nvPr/>
        </p:nvCxnSpPr>
        <p:spPr>
          <a:xfrm rot="10800000">
            <a:off x="7448634" y="4479259"/>
            <a:ext cx="1188000" cy="0"/>
          </a:xfrm>
          <a:prstGeom prst="straightConnector1">
            <a:avLst/>
          </a:prstGeom>
          <a:noFill/>
          <a:ln w="12700" cap="flat" cmpd="sng">
            <a:solidFill>
              <a:schemeClr val="dk1"/>
            </a:solidFill>
            <a:prstDash val="solid"/>
            <a:round/>
            <a:headEnd type="triangle" w="med" len="med"/>
            <a:tailEnd type="none" w="sm" len="sm"/>
          </a:ln>
        </p:spPr>
      </p:cxnSp>
      <p:cxnSp>
        <p:nvCxnSpPr>
          <p:cNvPr id="15" name="Google Shape;802;p119">
            <a:extLst>
              <a:ext uri="{FF2B5EF4-FFF2-40B4-BE49-F238E27FC236}">
                <a16:creationId xmlns:a16="http://schemas.microsoft.com/office/drawing/2014/main" id="{9A6F439E-1860-1531-B3EB-A67D054066DD}"/>
              </a:ext>
            </a:extLst>
          </p:cNvPr>
          <p:cNvCxnSpPr/>
          <p:nvPr/>
        </p:nvCxnSpPr>
        <p:spPr>
          <a:xfrm rot="10800000">
            <a:off x="7448634" y="4909977"/>
            <a:ext cx="1188000" cy="0"/>
          </a:xfrm>
          <a:prstGeom prst="straightConnector1">
            <a:avLst/>
          </a:prstGeom>
          <a:noFill/>
          <a:ln w="12700" cap="flat" cmpd="sng">
            <a:solidFill>
              <a:schemeClr val="dk1"/>
            </a:solidFill>
            <a:prstDash val="solid"/>
            <a:round/>
            <a:headEnd type="triangle" w="med" len="med"/>
            <a:tailEnd type="none" w="sm" len="sm"/>
          </a:ln>
        </p:spPr>
      </p:cxnSp>
      <p:cxnSp>
        <p:nvCxnSpPr>
          <p:cNvPr id="16" name="Google Shape;803;p119">
            <a:extLst>
              <a:ext uri="{FF2B5EF4-FFF2-40B4-BE49-F238E27FC236}">
                <a16:creationId xmlns:a16="http://schemas.microsoft.com/office/drawing/2014/main" id="{8D2DCC3C-1BA4-8EF2-B2BA-1289F8A266C1}"/>
              </a:ext>
            </a:extLst>
          </p:cNvPr>
          <p:cNvCxnSpPr/>
          <p:nvPr/>
        </p:nvCxnSpPr>
        <p:spPr>
          <a:xfrm rot="10800000">
            <a:off x="7448634" y="5349855"/>
            <a:ext cx="1188000" cy="0"/>
          </a:xfrm>
          <a:prstGeom prst="straightConnector1">
            <a:avLst/>
          </a:prstGeom>
          <a:noFill/>
          <a:ln w="12700" cap="flat" cmpd="sng">
            <a:solidFill>
              <a:schemeClr val="dk1"/>
            </a:solidFill>
            <a:prstDash val="solid"/>
            <a:round/>
            <a:headEnd type="triangle" w="med" len="med"/>
            <a:tailEnd type="none" w="sm" len="sm"/>
          </a:ln>
        </p:spPr>
      </p:cxnSp>
      <p:cxnSp>
        <p:nvCxnSpPr>
          <p:cNvPr id="17" name="Google Shape;804;p119">
            <a:extLst>
              <a:ext uri="{FF2B5EF4-FFF2-40B4-BE49-F238E27FC236}">
                <a16:creationId xmlns:a16="http://schemas.microsoft.com/office/drawing/2014/main" id="{A7C92DC3-07CB-5ED6-DEED-01B6405FC9FC}"/>
              </a:ext>
            </a:extLst>
          </p:cNvPr>
          <p:cNvCxnSpPr/>
          <p:nvPr/>
        </p:nvCxnSpPr>
        <p:spPr>
          <a:xfrm rot="10800000">
            <a:off x="7448634" y="5762734"/>
            <a:ext cx="1188000" cy="0"/>
          </a:xfrm>
          <a:prstGeom prst="straightConnector1">
            <a:avLst/>
          </a:prstGeom>
          <a:noFill/>
          <a:ln w="12700" cap="flat" cmpd="sng">
            <a:solidFill>
              <a:schemeClr val="dk1"/>
            </a:solidFill>
            <a:prstDash val="solid"/>
            <a:round/>
            <a:headEnd type="triangle" w="med" len="med"/>
            <a:tailEnd type="none" w="sm" len="sm"/>
          </a:ln>
        </p:spPr>
      </p:cxnSp>
      <p:cxnSp>
        <p:nvCxnSpPr>
          <p:cNvPr id="18" name="Google Shape;805;p119">
            <a:extLst>
              <a:ext uri="{FF2B5EF4-FFF2-40B4-BE49-F238E27FC236}">
                <a16:creationId xmlns:a16="http://schemas.microsoft.com/office/drawing/2014/main" id="{B5DA44BA-AEF6-34FB-6E1C-B9A8F3F6672F}"/>
              </a:ext>
            </a:extLst>
          </p:cNvPr>
          <p:cNvCxnSpPr/>
          <p:nvPr/>
        </p:nvCxnSpPr>
        <p:spPr>
          <a:xfrm rot="10800000">
            <a:off x="7448634" y="6158986"/>
            <a:ext cx="1188000" cy="0"/>
          </a:xfrm>
          <a:prstGeom prst="straightConnector1">
            <a:avLst/>
          </a:prstGeom>
          <a:noFill/>
          <a:ln w="12700" cap="flat" cmpd="sng">
            <a:solidFill>
              <a:schemeClr val="dk1"/>
            </a:solidFill>
            <a:prstDash val="solid"/>
            <a:round/>
            <a:headEnd type="triangle" w="med" len="med"/>
            <a:tailEnd type="none" w="sm" len="sm"/>
          </a:ln>
        </p:spPr>
      </p:cxnSp>
      <p:sp>
        <p:nvSpPr>
          <p:cNvPr id="19" name="Google Shape;807;p119">
            <a:extLst>
              <a:ext uri="{FF2B5EF4-FFF2-40B4-BE49-F238E27FC236}">
                <a16:creationId xmlns:a16="http://schemas.microsoft.com/office/drawing/2014/main" id="{90A02FD3-F858-4F8E-86B1-DF5F64946E3F}"/>
              </a:ext>
            </a:extLst>
          </p:cNvPr>
          <p:cNvSpPr/>
          <p:nvPr/>
        </p:nvSpPr>
        <p:spPr>
          <a:xfrm>
            <a:off x="2499817" y="4303401"/>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Gran</a:t>
            </a:r>
            <a:endParaRPr b="0" i="0" u="none" strike="noStrike" cap="none" dirty="0">
              <a:solidFill>
                <a:srgbClr val="000000"/>
              </a:solidFill>
              <a:latin typeface="+mn-lt"/>
              <a:ea typeface="Arial"/>
              <a:cs typeface="Arial"/>
              <a:sym typeface="Arial"/>
            </a:endParaRPr>
          </a:p>
        </p:txBody>
      </p:sp>
      <p:sp>
        <p:nvSpPr>
          <p:cNvPr id="20" name="Google Shape;810;p119">
            <a:extLst>
              <a:ext uri="{FF2B5EF4-FFF2-40B4-BE49-F238E27FC236}">
                <a16:creationId xmlns:a16="http://schemas.microsoft.com/office/drawing/2014/main" id="{76FDB359-6918-4929-9F9B-F98918C64AB6}"/>
              </a:ext>
            </a:extLst>
          </p:cNvPr>
          <p:cNvSpPr/>
          <p:nvPr/>
        </p:nvSpPr>
        <p:spPr>
          <a:xfrm>
            <a:off x="2499817" y="4744967"/>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Bajo</a:t>
            </a:r>
            <a:endParaRPr b="0" i="0" u="none" strike="noStrike" cap="none" dirty="0">
              <a:solidFill>
                <a:srgbClr val="000000"/>
              </a:solidFill>
              <a:latin typeface="+mn-lt"/>
              <a:ea typeface="Arial"/>
              <a:cs typeface="Arial"/>
              <a:sym typeface="Arial"/>
            </a:endParaRPr>
          </a:p>
        </p:txBody>
      </p:sp>
      <p:sp>
        <p:nvSpPr>
          <p:cNvPr id="21" name="Google Shape;811;p119">
            <a:extLst>
              <a:ext uri="{FF2B5EF4-FFF2-40B4-BE49-F238E27FC236}">
                <a16:creationId xmlns:a16="http://schemas.microsoft.com/office/drawing/2014/main" id="{15A933B3-54B1-2177-C217-24062C7714CF}"/>
              </a:ext>
            </a:extLst>
          </p:cNvPr>
          <p:cNvSpPr/>
          <p:nvPr/>
        </p:nvSpPr>
        <p:spPr>
          <a:xfrm>
            <a:off x="2499817" y="5192286"/>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Baja</a:t>
            </a:r>
            <a:endParaRPr b="0" i="0" u="none" strike="noStrike" cap="none" dirty="0">
              <a:solidFill>
                <a:srgbClr val="000000"/>
              </a:solidFill>
              <a:latin typeface="+mn-lt"/>
              <a:ea typeface="Arial"/>
              <a:cs typeface="Arial"/>
              <a:sym typeface="Arial"/>
            </a:endParaRPr>
          </a:p>
        </p:txBody>
      </p:sp>
      <p:sp>
        <p:nvSpPr>
          <p:cNvPr id="22" name="Google Shape;812;p119">
            <a:extLst>
              <a:ext uri="{FF2B5EF4-FFF2-40B4-BE49-F238E27FC236}">
                <a16:creationId xmlns:a16="http://schemas.microsoft.com/office/drawing/2014/main" id="{D1DA1DE4-D064-0518-814E-7696852DD0B8}"/>
              </a:ext>
            </a:extLst>
          </p:cNvPr>
          <p:cNvSpPr/>
          <p:nvPr/>
        </p:nvSpPr>
        <p:spPr>
          <a:xfrm>
            <a:off x="2499817" y="5629159"/>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Baja</a:t>
            </a:r>
            <a:endParaRPr b="0" i="0" u="none" strike="noStrike" cap="none" dirty="0">
              <a:solidFill>
                <a:srgbClr val="000000"/>
              </a:solidFill>
              <a:latin typeface="+mn-lt"/>
              <a:ea typeface="Arial"/>
              <a:cs typeface="Arial"/>
              <a:sym typeface="Arial"/>
            </a:endParaRPr>
          </a:p>
        </p:txBody>
      </p:sp>
      <p:sp>
        <p:nvSpPr>
          <p:cNvPr id="23" name="Google Shape;813;p119">
            <a:extLst>
              <a:ext uri="{FF2B5EF4-FFF2-40B4-BE49-F238E27FC236}">
                <a16:creationId xmlns:a16="http://schemas.microsoft.com/office/drawing/2014/main" id="{5CFB8272-2223-69B5-B005-78A29FD74CD7}"/>
              </a:ext>
            </a:extLst>
          </p:cNvPr>
          <p:cNvSpPr/>
          <p:nvPr/>
        </p:nvSpPr>
        <p:spPr>
          <a:xfrm>
            <a:off x="2473561" y="5968993"/>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Mucha</a:t>
            </a:r>
            <a:endParaRPr b="0" i="0" u="none" strike="noStrike" cap="none" dirty="0">
              <a:solidFill>
                <a:srgbClr val="000000"/>
              </a:solidFill>
              <a:latin typeface="+mn-lt"/>
              <a:ea typeface="Arial"/>
              <a:cs typeface="Arial"/>
              <a:sym typeface="Arial"/>
            </a:endParaRPr>
          </a:p>
        </p:txBody>
      </p:sp>
      <p:sp>
        <p:nvSpPr>
          <p:cNvPr id="24" name="Google Shape;814;p119">
            <a:extLst>
              <a:ext uri="{FF2B5EF4-FFF2-40B4-BE49-F238E27FC236}">
                <a16:creationId xmlns:a16="http://schemas.microsoft.com/office/drawing/2014/main" id="{CB7EBA5B-33FA-AC09-6208-27C8BE802D2B}"/>
              </a:ext>
            </a:extLst>
          </p:cNvPr>
          <p:cNvSpPr/>
          <p:nvPr/>
        </p:nvSpPr>
        <p:spPr>
          <a:xfrm>
            <a:off x="8683117" y="4303401"/>
            <a:ext cx="1058278"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Reducida</a:t>
            </a:r>
            <a:endParaRPr b="0" i="0" u="none" strike="noStrike" cap="none" dirty="0">
              <a:solidFill>
                <a:srgbClr val="000000"/>
              </a:solidFill>
              <a:latin typeface="+mn-lt"/>
              <a:ea typeface="Arial"/>
              <a:cs typeface="Arial"/>
              <a:sym typeface="Arial"/>
            </a:endParaRPr>
          </a:p>
        </p:txBody>
      </p:sp>
      <p:sp>
        <p:nvSpPr>
          <p:cNvPr id="25" name="Google Shape;815;p119">
            <a:extLst>
              <a:ext uri="{FF2B5EF4-FFF2-40B4-BE49-F238E27FC236}">
                <a16:creationId xmlns:a16="http://schemas.microsoft.com/office/drawing/2014/main" id="{5F47AFD2-7296-D4D3-BE9D-243D858387C3}"/>
              </a:ext>
            </a:extLst>
          </p:cNvPr>
          <p:cNvSpPr/>
          <p:nvPr/>
        </p:nvSpPr>
        <p:spPr>
          <a:xfrm>
            <a:off x="8683117" y="4744967"/>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Alto</a:t>
            </a:r>
            <a:endParaRPr b="0" i="0" u="none" strike="noStrike" cap="none" dirty="0">
              <a:solidFill>
                <a:srgbClr val="000000"/>
              </a:solidFill>
              <a:latin typeface="+mn-lt"/>
              <a:ea typeface="Arial"/>
              <a:cs typeface="Arial"/>
              <a:sym typeface="Arial"/>
            </a:endParaRPr>
          </a:p>
        </p:txBody>
      </p:sp>
      <p:sp>
        <p:nvSpPr>
          <p:cNvPr id="26" name="Google Shape;816;p119">
            <a:extLst>
              <a:ext uri="{FF2B5EF4-FFF2-40B4-BE49-F238E27FC236}">
                <a16:creationId xmlns:a16="http://schemas.microsoft.com/office/drawing/2014/main" id="{23B1EB29-3401-5595-7F11-8A60786565BC}"/>
              </a:ext>
            </a:extLst>
          </p:cNvPr>
          <p:cNvSpPr/>
          <p:nvPr/>
        </p:nvSpPr>
        <p:spPr>
          <a:xfrm>
            <a:off x="8683117" y="5192286"/>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Alta</a:t>
            </a:r>
            <a:endParaRPr b="0" i="0" u="none" strike="noStrike" cap="none" dirty="0">
              <a:solidFill>
                <a:srgbClr val="000000"/>
              </a:solidFill>
              <a:latin typeface="+mn-lt"/>
              <a:ea typeface="Arial"/>
              <a:cs typeface="Arial"/>
              <a:sym typeface="Arial"/>
            </a:endParaRPr>
          </a:p>
        </p:txBody>
      </p:sp>
      <p:sp>
        <p:nvSpPr>
          <p:cNvPr id="27" name="Google Shape;817;p119">
            <a:extLst>
              <a:ext uri="{FF2B5EF4-FFF2-40B4-BE49-F238E27FC236}">
                <a16:creationId xmlns:a16="http://schemas.microsoft.com/office/drawing/2014/main" id="{B9C998E0-39D6-DC38-262E-8FEBCD3AE002}"/>
              </a:ext>
            </a:extLst>
          </p:cNvPr>
          <p:cNvSpPr/>
          <p:nvPr/>
        </p:nvSpPr>
        <p:spPr>
          <a:xfrm>
            <a:off x="8705038" y="5629158"/>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Alta</a:t>
            </a:r>
            <a:endParaRPr b="0" i="0" u="none" strike="noStrike" cap="none" dirty="0">
              <a:solidFill>
                <a:srgbClr val="000000"/>
              </a:solidFill>
              <a:latin typeface="+mn-lt"/>
              <a:ea typeface="Arial"/>
              <a:cs typeface="Arial"/>
              <a:sym typeface="Arial"/>
            </a:endParaRPr>
          </a:p>
        </p:txBody>
      </p:sp>
      <p:sp>
        <p:nvSpPr>
          <p:cNvPr id="28" name="Google Shape;818;p119">
            <a:extLst>
              <a:ext uri="{FF2B5EF4-FFF2-40B4-BE49-F238E27FC236}">
                <a16:creationId xmlns:a16="http://schemas.microsoft.com/office/drawing/2014/main" id="{FE2E6CCD-6BF5-DBAB-AA1C-02D9A903CBA2}"/>
              </a:ext>
            </a:extLst>
          </p:cNvPr>
          <p:cNvSpPr/>
          <p:nvPr/>
        </p:nvSpPr>
        <p:spPr>
          <a:xfrm>
            <a:off x="8705038" y="5995746"/>
            <a:ext cx="900000"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s-ES" b="0" i="0" u="none" strike="noStrike" cap="none" dirty="0">
                <a:solidFill>
                  <a:schemeClr val="dk1"/>
                </a:solidFill>
                <a:latin typeface="+mn-lt"/>
                <a:ea typeface="Arial"/>
                <a:cs typeface="Arial"/>
                <a:sym typeface="Arial"/>
              </a:rPr>
              <a:t>Poca</a:t>
            </a:r>
            <a:endParaRPr b="0" i="0" u="none" strike="noStrike" cap="none" dirty="0">
              <a:solidFill>
                <a:srgbClr val="000000"/>
              </a:solidFill>
              <a:latin typeface="+mn-lt"/>
              <a:ea typeface="Arial"/>
              <a:cs typeface="Arial"/>
              <a:sym typeface="Arial"/>
            </a:endParaRPr>
          </a:p>
        </p:txBody>
      </p:sp>
      <p:sp>
        <p:nvSpPr>
          <p:cNvPr id="29" name="Google Shape;819;p119">
            <a:extLst>
              <a:ext uri="{FF2B5EF4-FFF2-40B4-BE49-F238E27FC236}">
                <a16:creationId xmlns:a16="http://schemas.microsoft.com/office/drawing/2014/main" id="{27609D1E-86AA-B2F0-07C7-878EF8459F43}"/>
              </a:ext>
            </a:extLst>
          </p:cNvPr>
          <p:cNvSpPr/>
          <p:nvPr/>
        </p:nvSpPr>
        <p:spPr>
          <a:xfrm>
            <a:off x="4535508" y="5173249"/>
            <a:ext cx="2945542" cy="366767"/>
          </a:xfrm>
          <a:prstGeom prst="rect">
            <a:avLst/>
          </a:prstGeom>
          <a:noFill/>
          <a:ln>
            <a:noFill/>
          </a:ln>
        </p:spPr>
        <p:txBody>
          <a:bodyPr spcFirstLastPara="1" wrap="squar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Precisión</a:t>
            </a:r>
            <a:endParaRPr b="0" i="0" u="none" strike="noStrike" cap="none" dirty="0">
              <a:solidFill>
                <a:srgbClr val="000000"/>
              </a:solidFill>
              <a:latin typeface="+mn-lt"/>
              <a:ea typeface="Arial"/>
              <a:cs typeface="Arial"/>
              <a:sym typeface="Arial"/>
            </a:endParaRPr>
          </a:p>
        </p:txBody>
      </p:sp>
      <p:sp>
        <p:nvSpPr>
          <p:cNvPr id="31" name="Google Shape;789;p119">
            <a:extLst>
              <a:ext uri="{FF2B5EF4-FFF2-40B4-BE49-F238E27FC236}">
                <a16:creationId xmlns:a16="http://schemas.microsoft.com/office/drawing/2014/main" id="{E3F834C6-85EE-0010-2393-4FD62575C16E}"/>
              </a:ext>
            </a:extLst>
          </p:cNvPr>
          <p:cNvSpPr/>
          <p:nvPr/>
        </p:nvSpPr>
        <p:spPr>
          <a:xfrm>
            <a:off x="4495815" y="5166718"/>
            <a:ext cx="2958293" cy="36023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69" name="Google Shape;792;p119">
            <a:extLst>
              <a:ext uri="{FF2B5EF4-FFF2-40B4-BE49-F238E27FC236}">
                <a16:creationId xmlns:a16="http://schemas.microsoft.com/office/drawing/2014/main" id="{153B37E8-73A9-8C8C-CAD2-3BD20C6CD5AF}"/>
              </a:ext>
            </a:extLst>
          </p:cNvPr>
          <p:cNvSpPr/>
          <p:nvPr/>
        </p:nvSpPr>
        <p:spPr>
          <a:xfrm>
            <a:off x="4496269" y="5982256"/>
            <a:ext cx="2958293" cy="360230"/>
          </a:xfrm>
          <a:prstGeom prst="rect">
            <a:avLst/>
          </a:prstGeom>
          <a:noFill/>
          <a:ln w="25400" cap="flat" cmpd="sng">
            <a:solidFill>
              <a:schemeClr val="accent2">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b="0" i="0" u="none" strike="noStrike" cap="none">
              <a:solidFill>
                <a:schemeClr val="dk1"/>
              </a:solidFill>
              <a:latin typeface="+mn-lt"/>
              <a:ea typeface="Calibri"/>
              <a:cs typeface="Calibri"/>
              <a:sym typeface="Calibri"/>
            </a:endParaRPr>
          </a:p>
        </p:txBody>
      </p:sp>
      <p:sp>
        <p:nvSpPr>
          <p:cNvPr id="772" name="Google Shape;788;p119">
            <a:extLst>
              <a:ext uri="{FF2B5EF4-FFF2-40B4-BE49-F238E27FC236}">
                <a16:creationId xmlns:a16="http://schemas.microsoft.com/office/drawing/2014/main" id="{4659CCA7-327C-ADE5-D4BE-5C7A9889ECFF}"/>
              </a:ext>
            </a:extLst>
          </p:cNvPr>
          <p:cNvSpPr/>
          <p:nvPr/>
        </p:nvSpPr>
        <p:spPr>
          <a:xfrm>
            <a:off x="5293998" y="4300105"/>
            <a:ext cx="1270772" cy="366767"/>
          </a:xfrm>
          <a:prstGeom prst="rect">
            <a:avLst/>
          </a:prstGeom>
          <a:noFill/>
          <a:ln>
            <a:noFill/>
          </a:ln>
        </p:spPr>
        <p:txBody>
          <a:bodyPr spcFirstLastPara="1" wrap="non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Flexibilidad</a:t>
            </a:r>
            <a:endParaRPr b="0" i="0" u="none" strike="noStrike" cap="none" dirty="0">
              <a:solidFill>
                <a:srgbClr val="000000"/>
              </a:solidFill>
              <a:latin typeface="+mn-lt"/>
              <a:ea typeface="Arial"/>
              <a:cs typeface="Arial"/>
              <a:sym typeface="Arial"/>
            </a:endParaRPr>
          </a:p>
        </p:txBody>
      </p:sp>
      <p:sp>
        <p:nvSpPr>
          <p:cNvPr id="774" name="Google Shape;788;p119">
            <a:extLst>
              <a:ext uri="{FF2B5EF4-FFF2-40B4-BE49-F238E27FC236}">
                <a16:creationId xmlns:a16="http://schemas.microsoft.com/office/drawing/2014/main" id="{ECC8F45A-5F28-350F-8B14-311833ACC98A}"/>
              </a:ext>
            </a:extLst>
          </p:cNvPr>
          <p:cNvSpPr/>
          <p:nvPr/>
        </p:nvSpPr>
        <p:spPr>
          <a:xfrm>
            <a:off x="4723716" y="4745013"/>
            <a:ext cx="2411341" cy="366767"/>
          </a:xfrm>
          <a:prstGeom prst="rect">
            <a:avLst/>
          </a:prstGeom>
          <a:noFill/>
          <a:ln>
            <a:noFill/>
          </a:ln>
        </p:spPr>
        <p:txBody>
          <a:bodyPr spcFirstLastPara="1" wrap="non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Control de la entrevista</a:t>
            </a:r>
            <a:endParaRPr b="0" i="0" u="none" strike="noStrike" cap="none" dirty="0">
              <a:solidFill>
                <a:srgbClr val="000000"/>
              </a:solidFill>
              <a:latin typeface="+mn-lt"/>
              <a:ea typeface="Arial"/>
              <a:cs typeface="Arial"/>
              <a:sym typeface="Arial"/>
            </a:endParaRPr>
          </a:p>
        </p:txBody>
      </p:sp>
      <p:sp>
        <p:nvSpPr>
          <p:cNvPr id="776" name="Google Shape;788;p119">
            <a:extLst>
              <a:ext uri="{FF2B5EF4-FFF2-40B4-BE49-F238E27FC236}">
                <a16:creationId xmlns:a16="http://schemas.microsoft.com/office/drawing/2014/main" id="{4FD97DF6-109B-E0CD-B164-FABDCE89B512}"/>
              </a:ext>
            </a:extLst>
          </p:cNvPr>
          <p:cNvSpPr/>
          <p:nvPr/>
        </p:nvSpPr>
        <p:spPr>
          <a:xfrm>
            <a:off x="5255646" y="5568818"/>
            <a:ext cx="1446268" cy="366767"/>
          </a:xfrm>
          <a:prstGeom prst="rect">
            <a:avLst/>
          </a:prstGeom>
          <a:noFill/>
          <a:ln>
            <a:noFill/>
          </a:ln>
        </p:spPr>
        <p:txBody>
          <a:bodyPr spcFirstLastPara="1" wrap="none" lIns="90475" tIns="44450" rIns="90475" bIns="4445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s-ES" b="1" i="0" u="none" strike="noStrike" cap="none" dirty="0">
                <a:solidFill>
                  <a:schemeClr val="dk1"/>
                </a:solidFill>
                <a:latin typeface="+mn-lt"/>
                <a:ea typeface="Arial"/>
                <a:cs typeface="Arial"/>
                <a:sym typeface="Arial"/>
              </a:rPr>
              <a:t>Confiabilidad</a:t>
            </a:r>
            <a:endParaRPr b="0" i="0" u="none" strike="noStrike" cap="none" dirty="0">
              <a:solidFill>
                <a:srgbClr val="000000"/>
              </a:solidFill>
              <a:latin typeface="+mn-lt"/>
              <a:ea typeface="Arial"/>
              <a:cs typeface="Arial"/>
              <a:sym typeface="Arial"/>
            </a:endParaRPr>
          </a:p>
        </p:txBody>
      </p:sp>
    </p:spTree>
    <p:extLst>
      <p:ext uri="{BB962C8B-B14F-4D97-AF65-F5344CB8AC3E}">
        <p14:creationId xmlns:p14="http://schemas.microsoft.com/office/powerpoint/2010/main" val="1482063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CDDEE78-7928-A33D-AB54-472B388B43BD}"/>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9DFDDCD3-C934-97F1-15BB-DE85857FD92D}"/>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3415585D-3A70-62ED-3851-5A575FD5C9F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CB16CC48-06E1-D6C9-09E8-7B6E2B47C518}"/>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29012661-6143-824E-832E-35B6F471CC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52</a:t>
            </a:fld>
            <a:endParaRPr lang="es-ES"/>
          </a:p>
        </p:txBody>
      </p:sp>
      <p:sp>
        <p:nvSpPr>
          <p:cNvPr id="6" name="Google Shape;149;g1f30b4104d4_0_0">
            <a:extLst>
              <a:ext uri="{FF2B5EF4-FFF2-40B4-BE49-F238E27FC236}">
                <a16:creationId xmlns:a16="http://schemas.microsoft.com/office/drawing/2014/main" id="{67E33034-98F7-772B-11E3-F61EA5F431BB}"/>
              </a:ext>
            </a:extLst>
          </p:cNvPr>
          <p:cNvSpPr/>
          <p:nvPr/>
        </p:nvSpPr>
        <p:spPr>
          <a:xfrm>
            <a:off x="1087731" y="1766807"/>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Tipos de preguntas: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Abiertas</a:t>
            </a:r>
          </a:p>
          <a:p>
            <a:pPr marL="806450" lvl="2" algn="just">
              <a:lnSpc>
                <a:spcPct val="85000"/>
              </a:lnSpc>
              <a:spcBef>
                <a:spcPts val="450"/>
              </a:spcBef>
              <a:spcAft>
                <a:spcPts val="0"/>
              </a:spcAft>
              <a:buClr>
                <a:srgbClr val="262626"/>
              </a:buClr>
              <a:buSzPts val="2400"/>
              <a:tabLst>
                <a:tab pos="806450" algn="l"/>
              </a:tabLst>
            </a:pPr>
            <a:r>
              <a:rPr lang="es-ES" sz="2200" dirty="0"/>
              <a:t>Permite al encuestado responder de cualquier manera.</a:t>
            </a:r>
          </a:p>
          <a:p>
            <a:pPr marL="806450" lvl="2" algn="just">
              <a:lnSpc>
                <a:spcPct val="85000"/>
              </a:lnSpc>
              <a:spcBef>
                <a:spcPts val="450"/>
              </a:spcBef>
              <a:spcAft>
                <a:spcPts val="0"/>
              </a:spcAft>
              <a:buClr>
                <a:srgbClr val="262626"/>
              </a:buClr>
              <a:buSzPts val="2400"/>
              <a:tabLst>
                <a:tab pos="806450" algn="l"/>
              </a:tabLst>
            </a:pPr>
            <a:r>
              <a:rPr lang="es-ES" sz="2000" i="1" dirty="0"/>
              <a:t>¿Qué opinión tiene del sistema actual?</a:t>
            </a:r>
          </a:p>
          <a:p>
            <a:pPr marL="806450" lvl="2" algn="just">
              <a:lnSpc>
                <a:spcPct val="85000"/>
              </a:lnSpc>
              <a:spcBef>
                <a:spcPts val="450"/>
              </a:spcBef>
              <a:spcAft>
                <a:spcPts val="0"/>
              </a:spcAft>
              <a:buClr>
                <a:srgbClr val="262626"/>
              </a:buClr>
              <a:buSzPts val="2400"/>
              <a:tabLst>
                <a:tab pos="806450" algn="l"/>
              </a:tabLst>
            </a:pPr>
            <a:r>
              <a:rPr lang="es-ES" sz="2000" i="1" dirty="0"/>
              <a:t>¿Cómo describe su trabajo?</a:t>
            </a:r>
            <a:endParaRPr lang="es-ES" sz="1400" dirty="0">
              <a:latin typeface="Calibri"/>
              <a:ea typeface="Calibri"/>
              <a:cs typeface="Calibri"/>
              <a:sym typeface="Calibri"/>
            </a:endParaRP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Cerradas</a:t>
            </a:r>
          </a:p>
          <a:p>
            <a:pPr marL="806450" lvl="1" algn="just">
              <a:lnSpc>
                <a:spcPct val="85000"/>
              </a:lnSpc>
              <a:spcBef>
                <a:spcPts val="450"/>
              </a:spcBef>
              <a:spcAft>
                <a:spcPts val="0"/>
              </a:spcAft>
              <a:buClr>
                <a:srgbClr val="262626"/>
              </a:buClr>
              <a:buSzPts val="2400"/>
            </a:pPr>
            <a:r>
              <a:rPr lang="es-ES" sz="2200" dirty="0"/>
              <a:t>Las respuestas son directas, cortas o de selección específica.</a:t>
            </a:r>
          </a:p>
          <a:p>
            <a:pPr marL="806450" lvl="1" algn="just">
              <a:lnSpc>
                <a:spcPct val="85000"/>
              </a:lnSpc>
              <a:spcBef>
                <a:spcPts val="450"/>
              </a:spcBef>
              <a:spcAft>
                <a:spcPts val="0"/>
              </a:spcAft>
              <a:buClr>
                <a:srgbClr val="262626"/>
              </a:buClr>
              <a:buSzPts val="2400"/>
            </a:pPr>
            <a:r>
              <a:rPr lang="es-ES" sz="2000" i="1" dirty="0"/>
              <a:t>¿Quién recibe este informe?</a:t>
            </a:r>
          </a:p>
          <a:p>
            <a:pPr marL="806450" lvl="1" algn="just">
              <a:lnSpc>
                <a:spcPct val="85000"/>
              </a:lnSpc>
              <a:spcBef>
                <a:spcPts val="450"/>
              </a:spcBef>
              <a:spcAft>
                <a:spcPts val="0"/>
              </a:spcAft>
              <a:buClr>
                <a:srgbClr val="262626"/>
              </a:buClr>
              <a:buSzPts val="2400"/>
            </a:pPr>
            <a:r>
              <a:rPr lang="es-ES" sz="2000" i="1" dirty="0"/>
              <a:t>¿Cuántas personas utilizan el sistema?</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Sondeo</a:t>
            </a:r>
          </a:p>
          <a:p>
            <a:pPr marL="806450" lvl="1" algn="just">
              <a:lnSpc>
                <a:spcPct val="85000"/>
              </a:lnSpc>
              <a:spcBef>
                <a:spcPts val="450"/>
              </a:spcBef>
              <a:spcAft>
                <a:spcPts val="0"/>
              </a:spcAft>
              <a:buClr>
                <a:srgbClr val="262626"/>
              </a:buClr>
              <a:buSzPts val="2400"/>
            </a:pPr>
            <a:r>
              <a:rPr lang="es-ES" sz="2200" dirty="0"/>
              <a:t>Permite obtener más detalle sobre un tema puntual.</a:t>
            </a:r>
          </a:p>
          <a:p>
            <a:pPr marL="806450" lvl="1" algn="just">
              <a:lnSpc>
                <a:spcPct val="85000"/>
              </a:lnSpc>
              <a:spcBef>
                <a:spcPts val="450"/>
              </a:spcBef>
              <a:spcAft>
                <a:spcPts val="0"/>
              </a:spcAft>
              <a:buClr>
                <a:srgbClr val="262626"/>
              </a:buClr>
              <a:buSzPts val="2400"/>
            </a:pPr>
            <a:r>
              <a:rPr lang="es-ES" sz="2000" i="1" dirty="0"/>
              <a:t>¿Podría dar detalles sobre…?</a:t>
            </a:r>
          </a:p>
          <a:p>
            <a:pPr marL="806450" lvl="1" algn="just">
              <a:lnSpc>
                <a:spcPct val="85000"/>
              </a:lnSpc>
              <a:spcBef>
                <a:spcPts val="450"/>
              </a:spcBef>
              <a:spcAft>
                <a:spcPts val="0"/>
              </a:spcAft>
              <a:buClr>
                <a:srgbClr val="262626"/>
              </a:buClr>
              <a:buSzPts val="2400"/>
            </a:pPr>
            <a:r>
              <a:rPr lang="es-ES" sz="2000" i="1" dirty="0"/>
              <a:t>¿Podría dar un ejemplo de…?</a:t>
            </a:r>
            <a:endParaRPr lang="es-ES" sz="2400" i="1" dirty="0">
              <a:latin typeface="Calibri"/>
              <a:ea typeface="Calibri"/>
              <a:cs typeface="Calibri"/>
              <a:sym typeface="Calibri"/>
            </a:endParaRPr>
          </a:p>
        </p:txBody>
      </p:sp>
      <p:pic>
        <p:nvPicPr>
          <p:cNvPr id="7" name="Google Shape;955;p127" descr="http://www.entrevistadetrabajo.org/wp-content/uploads/2011/09/Las-preguntas-abiertas-en-la-entrevista.jpg">
            <a:extLst>
              <a:ext uri="{FF2B5EF4-FFF2-40B4-BE49-F238E27FC236}">
                <a16:creationId xmlns:a16="http://schemas.microsoft.com/office/drawing/2014/main" id="{C5E0E882-94DE-4922-43CF-410FC1E4EAE0}"/>
              </a:ext>
            </a:extLst>
          </p:cNvPr>
          <p:cNvPicPr preferRelativeResize="0"/>
          <p:nvPr/>
        </p:nvPicPr>
        <p:blipFill rotWithShape="1">
          <a:blip r:embed="rId3"/>
          <a:srcRect/>
          <a:stretch/>
        </p:blipFill>
        <p:spPr>
          <a:xfrm>
            <a:off x="8830404" y="3793571"/>
            <a:ext cx="3084743" cy="2304256"/>
          </a:xfrm>
          <a:prstGeom prst="rect">
            <a:avLst/>
          </a:prstGeom>
        </p:spPr>
      </p:pic>
    </p:spTree>
    <p:extLst>
      <p:ext uri="{BB962C8B-B14F-4D97-AF65-F5344CB8AC3E}">
        <p14:creationId xmlns:p14="http://schemas.microsoft.com/office/powerpoint/2010/main" val="19402722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5321BBA-D0FD-D5CA-FE4C-EEC46339FF32}"/>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F6170E81-3CD4-DF15-B400-F4D1977A3008}"/>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346C1C1C-57AF-2B07-995B-151D143B6CF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8FF4558-BE65-5B39-9C52-320FE01ED8C2}"/>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5FE247FC-E3C8-245E-B632-36FDE2E1CF2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53</a:t>
            </a:fld>
            <a:endParaRPr lang="es-ES"/>
          </a:p>
        </p:txBody>
      </p:sp>
      <p:sp>
        <p:nvSpPr>
          <p:cNvPr id="6" name="Google Shape;149;g1f30b4104d4_0_0">
            <a:extLst>
              <a:ext uri="{FF2B5EF4-FFF2-40B4-BE49-F238E27FC236}">
                <a16:creationId xmlns:a16="http://schemas.microsoft.com/office/drawing/2014/main" id="{75CC58AE-3752-FEC2-BEDA-97F3C3A16783}"/>
              </a:ext>
            </a:extLst>
          </p:cNvPr>
          <p:cNvSpPr/>
          <p:nvPr/>
        </p:nvSpPr>
        <p:spPr>
          <a:xfrm>
            <a:off x="1087731" y="1766807"/>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Tipos de preguntas: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Abiertas</a:t>
            </a:r>
          </a:p>
          <a:p>
            <a:pPr marL="806450" lvl="2" algn="just">
              <a:lnSpc>
                <a:spcPct val="85000"/>
              </a:lnSpc>
              <a:spcBef>
                <a:spcPts val="450"/>
              </a:spcBef>
              <a:spcAft>
                <a:spcPts val="0"/>
              </a:spcAft>
              <a:buClr>
                <a:srgbClr val="262626"/>
              </a:buClr>
              <a:buSzPts val="2400"/>
              <a:tabLst>
                <a:tab pos="806450" algn="l"/>
              </a:tabLst>
            </a:pPr>
            <a:r>
              <a:rPr lang="es-ES" sz="2200" dirty="0">
                <a:latin typeface="Calibri"/>
                <a:ea typeface="Calibri"/>
                <a:cs typeface="Calibri"/>
                <a:sym typeface="Calibri"/>
              </a:rPr>
              <a:t>Ventajas:</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Revelan nueva línea de preguntas.</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Hacen más interesante la entrevista.</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Permiten espontaneidad.</a:t>
            </a:r>
          </a:p>
          <a:p>
            <a:pPr marL="806450" lvl="2" algn="just">
              <a:lnSpc>
                <a:spcPct val="85000"/>
              </a:lnSpc>
              <a:spcBef>
                <a:spcPts val="450"/>
              </a:spcBef>
              <a:spcAft>
                <a:spcPts val="0"/>
              </a:spcAft>
              <a:buClr>
                <a:srgbClr val="262626"/>
              </a:buClr>
              <a:buSzPts val="2400"/>
              <a:tabLst>
                <a:tab pos="806450" algn="l"/>
              </a:tabLst>
            </a:pPr>
            <a:r>
              <a:rPr lang="es-ES" sz="2200" dirty="0">
                <a:latin typeface="Calibri"/>
                <a:ea typeface="Calibri"/>
                <a:cs typeface="Calibri"/>
                <a:sym typeface="Calibri"/>
              </a:rPr>
              <a:t>Desventajas:</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Pueden dar muchos detalles irrelevantes.</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Se puede perder el control de la entrevista.</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Parece que el entrevistador no tiene los objetivos claros.</a:t>
            </a:r>
          </a:p>
          <a:p>
            <a:pPr marL="806450" lvl="2" algn="just">
              <a:lnSpc>
                <a:spcPct val="85000"/>
              </a:lnSpc>
              <a:spcBef>
                <a:spcPts val="450"/>
              </a:spcBef>
              <a:spcAft>
                <a:spcPts val="0"/>
              </a:spcAft>
              <a:buClr>
                <a:srgbClr val="262626"/>
              </a:buClr>
              <a:buSzPts val="2400"/>
              <a:tabLst>
                <a:tab pos="806450" algn="l"/>
              </a:tabLst>
            </a:pPr>
            <a:endParaRPr lang="es-ES" sz="2400" dirty="0">
              <a:latin typeface="Calibri"/>
              <a:ea typeface="Calibri"/>
              <a:cs typeface="Calibri"/>
              <a:sym typeface="Calibri"/>
            </a:endParaRPr>
          </a:p>
        </p:txBody>
      </p:sp>
      <p:pic>
        <p:nvPicPr>
          <p:cNvPr id="8" name="Google Shape;964;p128" descr="https://encrypted-tbn1.gstatic.com/images?q=tbn:ANd9GcQoCW5ox51-A-XiBwJL-A-_bpO_4RM_MPAETYsBasNQ59ID_bIBKA">
            <a:extLst>
              <a:ext uri="{FF2B5EF4-FFF2-40B4-BE49-F238E27FC236}">
                <a16:creationId xmlns:a16="http://schemas.microsoft.com/office/drawing/2014/main" id="{207B5355-B8B2-E172-9B27-18003AD88F23}"/>
              </a:ext>
            </a:extLst>
          </p:cNvPr>
          <p:cNvPicPr preferRelativeResize="0"/>
          <p:nvPr/>
        </p:nvPicPr>
        <p:blipFill rotWithShape="1">
          <a:blip r:embed="rId3">
            <a:alphaModFix/>
          </a:blip>
          <a:srcRect/>
          <a:stretch/>
        </p:blipFill>
        <p:spPr>
          <a:xfrm>
            <a:off x="9708087" y="3837780"/>
            <a:ext cx="1683167" cy="1676400"/>
          </a:xfrm>
          <a:prstGeom prst="rect">
            <a:avLst/>
          </a:prstGeom>
          <a:noFill/>
          <a:ln>
            <a:noFill/>
          </a:ln>
        </p:spPr>
      </p:pic>
    </p:spTree>
    <p:extLst>
      <p:ext uri="{BB962C8B-B14F-4D97-AF65-F5344CB8AC3E}">
        <p14:creationId xmlns:p14="http://schemas.microsoft.com/office/powerpoint/2010/main" val="16259930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9E87F51C-0A4D-5B61-6A36-F2830916070C}"/>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857C6FB0-4FE5-4D21-01EB-F9F6A175CF3B}"/>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C1EB2556-F5EC-C3FE-4EE4-40378BF361E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CE73BAF0-E536-FF60-B954-759B06423AD4}"/>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8636A58F-D8FA-6E12-DCE4-A2C0441473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54</a:t>
            </a:fld>
            <a:endParaRPr lang="es-ES"/>
          </a:p>
        </p:txBody>
      </p:sp>
      <p:sp>
        <p:nvSpPr>
          <p:cNvPr id="6" name="Google Shape;149;g1f30b4104d4_0_0">
            <a:extLst>
              <a:ext uri="{FF2B5EF4-FFF2-40B4-BE49-F238E27FC236}">
                <a16:creationId xmlns:a16="http://schemas.microsoft.com/office/drawing/2014/main" id="{66E6D5C8-0CEB-D8C9-1249-5E54D9535912}"/>
              </a:ext>
            </a:extLst>
          </p:cNvPr>
          <p:cNvSpPr/>
          <p:nvPr/>
        </p:nvSpPr>
        <p:spPr>
          <a:xfrm>
            <a:off x="1087731" y="1766807"/>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Tipos de preguntas:</a:t>
            </a:r>
          </a:p>
          <a:p>
            <a:pPr marL="806450" lvl="1" indent="-349250" algn="just">
              <a:spcBef>
                <a:spcPts val="0"/>
              </a:spcBef>
              <a:spcAft>
                <a:spcPts val="0"/>
              </a:spcAft>
              <a:buClr>
                <a:srgbClr val="C00000"/>
              </a:buClr>
              <a:buSzPct val="100000"/>
              <a:buFont typeface="Noto Sans Symbols2" panose="020B0502040504020204" pitchFamily="34" charset="0"/>
              <a:buChar char="»"/>
            </a:pPr>
            <a:r>
              <a:rPr lang="es-ES" sz="2400" b="1" dirty="0">
                <a:latin typeface="Calibri"/>
                <a:ea typeface="Calibri"/>
                <a:cs typeface="Calibri"/>
                <a:sym typeface="Calibri"/>
              </a:rPr>
              <a:t>Cerradas</a:t>
            </a:r>
          </a:p>
          <a:p>
            <a:pPr marL="806450" lvl="2" algn="just">
              <a:lnSpc>
                <a:spcPct val="85000"/>
              </a:lnSpc>
              <a:spcBef>
                <a:spcPts val="450"/>
              </a:spcBef>
              <a:spcAft>
                <a:spcPts val="0"/>
              </a:spcAft>
              <a:buClr>
                <a:srgbClr val="262626"/>
              </a:buClr>
              <a:buSzPts val="2400"/>
              <a:tabLst>
                <a:tab pos="806450" algn="l"/>
              </a:tabLst>
            </a:pPr>
            <a:r>
              <a:rPr lang="es-ES" sz="2200" dirty="0">
                <a:latin typeface="Calibri"/>
                <a:ea typeface="Calibri"/>
                <a:cs typeface="Calibri"/>
                <a:sym typeface="Calibri"/>
              </a:rPr>
              <a:t>Ventajas:</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Ahorran tiempo.</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Se mantiene más fácil el control de la entrevista.</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Se consiguen datos relevantes.</a:t>
            </a:r>
          </a:p>
          <a:p>
            <a:pPr marL="806450" lvl="2" algn="just">
              <a:lnSpc>
                <a:spcPct val="85000"/>
              </a:lnSpc>
              <a:spcBef>
                <a:spcPts val="450"/>
              </a:spcBef>
              <a:spcAft>
                <a:spcPts val="0"/>
              </a:spcAft>
              <a:buClr>
                <a:srgbClr val="262626"/>
              </a:buClr>
              <a:buSzPts val="2400"/>
              <a:tabLst>
                <a:tab pos="806450" algn="l"/>
              </a:tabLst>
            </a:pPr>
            <a:r>
              <a:rPr lang="es-ES" sz="2200" dirty="0">
                <a:latin typeface="Calibri"/>
                <a:ea typeface="Calibri"/>
                <a:cs typeface="Calibri"/>
                <a:sym typeface="Calibri"/>
              </a:rPr>
              <a:t>Desventajas:</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Pueden aburrir al encuestado.</a:t>
            </a:r>
          </a:p>
          <a:p>
            <a:pPr marL="1149350" lvl="2" indent="-342900" algn="just">
              <a:lnSpc>
                <a:spcPct val="85000"/>
              </a:lnSpc>
              <a:spcBef>
                <a:spcPts val="450"/>
              </a:spcBef>
              <a:spcAft>
                <a:spcPts val="0"/>
              </a:spcAft>
              <a:buClr>
                <a:srgbClr val="262626"/>
              </a:buClr>
              <a:buSzPts val="2400"/>
              <a:buFont typeface="Arial" panose="020B0604020202020204" pitchFamily="34" charset="0"/>
              <a:buChar char="•"/>
              <a:tabLst>
                <a:tab pos="806450" algn="l"/>
              </a:tabLst>
            </a:pPr>
            <a:r>
              <a:rPr lang="es-ES" sz="2200" dirty="0">
                <a:latin typeface="Calibri"/>
                <a:ea typeface="Calibri"/>
                <a:cs typeface="Calibri"/>
                <a:sym typeface="Calibri"/>
              </a:rPr>
              <a:t>No se obtienen detalles.</a:t>
            </a:r>
          </a:p>
          <a:p>
            <a:pPr marL="806450" lvl="2" algn="just">
              <a:lnSpc>
                <a:spcPct val="85000"/>
              </a:lnSpc>
              <a:spcBef>
                <a:spcPts val="450"/>
              </a:spcBef>
              <a:spcAft>
                <a:spcPts val="0"/>
              </a:spcAft>
              <a:buClr>
                <a:srgbClr val="262626"/>
              </a:buClr>
              <a:buSzPts val="2400"/>
              <a:tabLst>
                <a:tab pos="806450" algn="l"/>
              </a:tabLst>
            </a:pPr>
            <a:endParaRPr lang="es-ES" sz="2400" dirty="0">
              <a:latin typeface="Calibri"/>
              <a:ea typeface="Calibri"/>
              <a:cs typeface="Calibri"/>
              <a:sym typeface="Calibri"/>
            </a:endParaRPr>
          </a:p>
        </p:txBody>
      </p:sp>
      <p:pic>
        <p:nvPicPr>
          <p:cNvPr id="7" name="Google Shape;973;p129" descr="https://encrypted-tbn0.gstatic.com/images?q=tbn:ANd9GcSK2vpi9-QwIxz79U4DVLWErw79abJ6tIBlCMMQv_BZgDQvFtFc">
            <a:extLst>
              <a:ext uri="{FF2B5EF4-FFF2-40B4-BE49-F238E27FC236}">
                <a16:creationId xmlns:a16="http://schemas.microsoft.com/office/drawing/2014/main" id="{89217205-99E1-60E7-E752-6DEA72DFAF01}"/>
              </a:ext>
            </a:extLst>
          </p:cNvPr>
          <p:cNvPicPr preferRelativeResize="0"/>
          <p:nvPr/>
        </p:nvPicPr>
        <p:blipFill rotWithShape="1">
          <a:blip r:embed="rId3">
            <a:alphaModFix/>
          </a:blip>
          <a:srcRect/>
          <a:stretch/>
        </p:blipFill>
        <p:spPr>
          <a:xfrm>
            <a:off x="9643144" y="3812650"/>
            <a:ext cx="1912690" cy="1504951"/>
          </a:xfrm>
          <a:prstGeom prst="rect">
            <a:avLst/>
          </a:prstGeom>
          <a:noFill/>
          <a:ln>
            <a:noFill/>
          </a:ln>
        </p:spPr>
      </p:pic>
    </p:spTree>
    <p:extLst>
      <p:ext uri="{BB962C8B-B14F-4D97-AF65-F5344CB8AC3E}">
        <p14:creationId xmlns:p14="http://schemas.microsoft.com/office/powerpoint/2010/main" val="33029686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A09B40F-ADC3-9D69-3696-B242EAC2EACC}"/>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F8220E2D-C8CA-F5D5-D72B-3E542DE0C4F0}"/>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229261D8-C27E-4C14-DCF2-1AD2AAA1943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09112B45-798D-31CB-83AC-8623F798BC18}"/>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48323FA6-21F6-FB6A-B47C-07E4DBF5FF5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55</a:t>
            </a:fld>
            <a:endParaRPr lang="es-ES"/>
          </a:p>
        </p:txBody>
      </p:sp>
      <p:sp>
        <p:nvSpPr>
          <p:cNvPr id="6" name="Google Shape;149;g1f30b4104d4_0_0">
            <a:extLst>
              <a:ext uri="{FF2B5EF4-FFF2-40B4-BE49-F238E27FC236}">
                <a16:creationId xmlns:a16="http://schemas.microsoft.com/office/drawing/2014/main" id="{48CA2978-F50C-82D8-8F28-CA66775D49E3}"/>
              </a:ext>
            </a:extLst>
          </p:cNvPr>
          <p:cNvSpPr/>
          <p:nvPr/>
        </p:nvSpPr>
        <p:spPr>
          <a:xfrm>
            <a:off x="1087731" y="1797803"/>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Organización de una entrevista</a:t>
            </a:r>
          </a:p>
          <a:p>
            <a:pPr marL="806450" lvl="2" algn="just">
              <a:lnSpc>
                <a:spcPct val="85000"/>
              </a:lnSpc>
              <a:spcBef>
                <a:spcPts val="450"/>
              </a:spcBef>
              <a:spcAft>
                <a:spcPts val="0"/>
              </a:spcAft>
              <a:buClr>
                <a:srgbClr val="262626"/>
              </a:buClr>
              <a:buSzPts val="2400"/>
              <a:tabLst>
                <a:tab pos="806450" algn="l"/>
              </a:tabLst>
            </a:pPr>
            <a:endParaRPr lang="es-ES" sz="2400" dirty="0">
              <a:latin typeface="Calibri"/>
              <a:ea typeface="Calibri"/>
              <a:cs typeface="Calibri"/>
              <a:sym typeface="Calibri"/>
            </a:endParaRPr>
          </a:p>
        </p:txBody>
      </p:sp>
      <p:sp>
        <p:nvSpPr>
          <p:cNvPr id="8" name="Google Shape;981;p130">
            <a:extLst>
              <a:ext uri="{FF2B5EF4-FFF2-40B4-BE49-F238E27FC236}">
                <a16:creationId xmlns:a16="http://schemas.microsoft.com/office/drawing/2014/main" id="{E5FDD37F-805D-B9AE-8004-A317F9A77D4E}"/>
              </a:ext>
            </a:extLst>
          </p:cNvPr>
          <p:cNvSpPr/>
          <p:nvPr/>
        </p:nvSpPr>
        <p:spPr>
          <a:xfrm>
            <a:off x="2138727" y="3164672"/>
            <a:ext cx="1445973" cy="936104"/>
          </a:xfrm>
          <a:prstGeom prst="triangle">
            <a:avLst>
              <a:gd name="adj" fmla="val 50000"/>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 name="Google Shape;981;p130">
            <a:extLst>
              <a:ext uri="{FF2B5EF4-FFF2-40B4-BE49-F238E27FC236}">
                <a16:creationId xmlns:a16="http://schemas.microsoft.com/office/drawing/2014/main" id="{C4EA8D4A-6449-8593-EC5A-FE272E16837A}"/>
              </a:ext>
            </a:extLst>
          </p:cNvPr>
          <p:cNvSpPr/>
          <p:nvPr/>
        </p:nvSpPr>
        <p:spPr>
          <a:xfrm flipV="1">
            <a:off x="5198370" y="3164672"/>
            <a:ext cx="1445973" cy="936104"/>
          </a:xfrm>
          <a:prstGeom prst="triangle">
            <a:avLst>
              <a:gd name="adj" fmla="val 50000"/>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 name="Google Shape;981;p130">
            <a:extLst>
              <a:ext uri="{FF2B5EF4-FFF2-40B4-BE49-F238E27FC236}">
                <a16:creationId xmlns:a16="http://schemas.microsoft.com/office/drawing/2014/main" id="{6A5B8255-6128-23D6-D989-D246DDC8312E}"/>
              </a:ext>
            </a:extLst>
          </p:cNvPr>
          <p:cNvSpPr/>
          <p:nvPr/>
        </p:nvSpPr>
        <p:spPr>
          <a:xfrm>
            <a:off x="8495232" y="2696620"/>
            <a:ext cx="1445973" cy="936104"/>
          </a:xfrm>
          <a:prstGeom prst="triangle">
            <a:avLst>
              <a:gd name="adj" fmla="val 50000"/>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981;p130">
            <a:extLst>
              <a:ext uri="{FF2B5EF4-FFF2-40B4-BE49-F238E27FC236}">
                <a16:creationId xmlns:a16="http://schemas.microsoft.com/office/drawing/2014/main" id="{F51D981F-B85F-6B34-D154-0C41311FD4F1}"/>
              </a:ext>
            </a:extLst>
          </p:cNvPr>
          <p:cNvSpPr/>
          <p:nvPr/>
        </p:nvSpPr>
        <p:spPr>
          <a:xfrm flipV="1">
            <a:off x="8495232" y="3620245"/>
            <a:ext cx="1445973" cy="936104"/>
          </a:xfrm>
          <a:prstGeom prst="triangle">
            <a:avLst>
              <a:gd name="adj" fmla="val 50000"/>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 name="CuadroTexto 14">
            <a:extLst>
              <a:ext uri="{FF2B5EF4-FFF2-40B4-BE49-F238E27FC236}">
                <a16:creationId xmlns:a16="http://schemas.microsoft.com/office/drawing/2014/main" id="{41C03C1D-3F02-9F25-E213-674CC120B633}"/>
              </a:ext>
            </a:extLst>
          </p:cNvPr>
          <p:cNvSpPr txBox="1"/>
          <p:nvPr/>
        </p:nvSpPr>
        <p:spPr>
          <a:xfrm>
            <a:off x="2252668" y="4917933"/>
            <a:ext cx="1218090" cy="646331"/>
          </a:xfrm>
          <a:prstGeom prst="rect">
            <a:avLst/>
          </a:prstGeom>
          <a:noFill/>
        </p:spPr>
        <p:txBody>
          <a:bodyPr wrap="none" rtlCol="0">
            <a:spAutoFit/>
          </a:bodyPr>
          <a:lstStyle/>
          <a:p>
            <a:pPr algn="ctr"/>
            <a:r>
              <a:rPr lang="es-ES" b="1" dirty="0"/>
              <a:t>Piramidal </a:t>
            </a:r>
          </a:p>
          <a:p>
            <a:pPr algn="ctr"/>
            <a:r>
              <a:rPr lang="es-ES" b="1" dirty="0"/>
              <a:t>(inductivo)</a:t>
            </a:r>
          </a:p>
        </p:txBody>
      </p:sp>
      <p:sp>
        <p:nvSpPr>
          <p:cNvPr id="17" name="CuadroTexto 16">
            <a:extLst>
              <a:ext uri="{FF2B5EF4-FFF2-40B4-BE49-F238E27FC236}">
                <a16:creationId xmlns:a16="http://schemas.microsoft.com/office/drawing/2014/main" id="{C75F6E43-CA75-1CB2-13CD-78B901EB1B3E}"/>
              </a:ext>
            </a:extLst>
          </p:cNvPr>
          <p:cNvSpPr txBox="1"/>
          <p:nvPr/>
        </p:nvSpPr>
        <p:spPr>
          <a:xfrm>
            <a:off x="5282655" y="4917932"/>
            <a:ext cx="1277401" cy="646331"/>
          </a:xfrm>
          <a:prstGeom prst="rect">
            <a:avLst/>
          </a:prstGeom>
          <a:noFill/>
        </p:spPr>
        <p:txBody>
          <a:bodyPr wrap="none" rtlCol="0">
            <a:spAutoFit/>
          </a:bodyPr>
          <a:lstStyle/>
          <a:p>
            <a:pPr algn="ctr"/>
            <a:r>
              <a:rPr lang="es-ES" b="1" dirty="0"/>
              <a:t>Embudo </a:t>
            </a:r>
          </a:p>
          <a:p>
            <a:pPr algn="ctr"/>
            <a:r>
              <a:rPr lang="es-ES" b="1" dirty="0"/>
              <a:t>(deductivo)</a:t>
            </a:r>
          </a:p>
        </p:txBody>
      </p:sp>
      <p:sp>
        <p:nvSpPr>
          <p:cNvPr id="19" name="CuadroTexto 18">
            <a:extLst>
              <a:ext uri="{FF2B5EF4-FFF2-40B4-BE49-F238E27FC236}">
                <a16:creationId xmlns:a16="http://schemas.microsoft.com/office/drawing/2014/main" id="{3985ADD2-B6FE-5700-82CB-E33F4F892301}"/>
              </a:ext>
            </a:extLst>
          </p:cNvPr>
          <p:cNvSpPr txBox="1"/>
          <p:nvPr/>
        </p:nvSpPr>
        <p:spPr>
          <a:xfrm>
            <a:off x="8299282" y="4918305"/>
            <a:ext cx="1837875" cy="923330"/>
          </a:xfrm>
          <a:prstGeom prst="rect">
            <a:avLst/>
          </a:prstGeom>
          <a:noFill/>
        </p:spPr>
        <p:txBody>
          <a:bodyPr wrap="none" rtlCol="0">
            <a:spAutoFit/>
          </a:bodyPr>
          <a:lstStyle/>
          <a:p>
            <a:pPr algn="ctr"/>
            <a:r>
              <a:rPr lang="es-ES" b="1" dirty="0"/>
              <a:t>Diamante</a:t>
            </a:r>
          </a:p>
          <a:p>
            <a:pPr algn="ctr"/>
            <a:r>
              <a:rPr lang="es-ES" b="1" dirty="0"/>
              <a:t>(combinación</a:t>
            </a:r>
          </a:p>
          <a:p>
            <a:pPr algn="ctr"/>
            <a:r>
              <a:rPr lang="es-ES" b="1" dirty="0"/>
              <a:t>de las anteriores)</a:t>
            </a:r>
          </a:p>
        </p:txBody>
      </p:sp>
    </p:spTree>
    <p:extLst>
      <p:ext uri="{BB962C8B-B14F-4D97-AF65-F5344CB8AC3E}">
        <p14:creationId xmlns:p14="http://schemas.microsoft.com/office/powerpoint/2010/main" val="26151828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5" grpId="0"/>
      <p:bldP spid="17" grpId="0"/>
      <p:bldP spid="1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F8992E83-6578-4B1C-10F5-709A89B10A5D}"/>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D5001438-1FEE-FE23-5180-6E8063325C06}"/>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C82A5AE8-76A1-6EA4-01F3-0D3F29E5BB2D}"/>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4F887B83-F57F-73F5-8238-3750EE8DC56F}"/>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54AEF2E8-A93C-EF93-2C57-C6D48C6A0F5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56</a:t>
            </a:fld>
            <a:endParaRPr lang="es-ES"/>
          </a:p>
        </p:txBody>
      </p:sp>
      <p:sp>
        <p:nvSpPr>
          <p:cNvPr id="6" name="Google Shape;149;g1f30b4104d4_0_0">
            <a:extLst>
              <a:ext uri="{FF2B5EF4-FFF2-40B4-BE49-F238E27FC236}">
                <a16:creationId xmlns:a16="http://schemas.microsoft.com/office/drawing/2014/main" id="{F412B8B7-9E3C-AC50-DB7D-2A8E15787AF7}"/>
              </a:ext>
            </a:extLst>
          </p:cNvPr>
          <p:cNvSpPr/>
          <p:nvPr/>
        </p:nvSpPr>
        <p:spPr>
          <a:xfrm>
            <a:off x="1087731" y="1797803"/>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Organización de una entrevista</a:t>
            </a:r>
          </a:p>
          <a:p>
            <a:pPr marL="806450" lvl="2" algn="just">
              <a:lnSpc>
                <a:spcPct val="85000"/>
              </a:lnSpc>
              <a:spcBef>
                <a:spcPts val="450"/>
              </a:spcBef>
              <a:spcAft>
                <a:spcPts val="0"/>
              </a:spcAft>
              <a:buClr>
                <a:srgbClr val="262626"/>
              </a:buClr>
              <a:buSzPts val="2400"/>
              <a:tabLst>
                <a:tab pos="806450" algn="l"/>
              </a:tabLst>
            </a:pPr>
            <a:endParaRPr lang="es-ES" sz="2400" dirty="0">
              <a:latin typeface="Calibri"/>
              <a:ea typeface="Calibri"/>
              <a:cs typeface="Calibri"/>
              <a:sym typeface="Calibri"/>
            </a:endParaRPr>
          </a:p>
        </p:txBody>
      </p:sp>
      <p:sp>
        <p:nvSpPr>
          <p:cNvPr id="8" name="Google Shape;981;p130">
            <a:extLst>
              <a:ext uri="{FF2B5EF4-FFF2-40B4-BE49-F238E27FC236}">
                <a16:creationId xmlns:a16="http://schemas.microsoft.com/office/drawing/2014/main" id="{A6F7075E-5F0C-9C52-3DFE-A73A73E43D8F}"/>
              </a:ext>
            </a:extLst>
          </p:cNvPr>
          <p:cNvSpPr/>
          <p:nvPr/>
        </p:nvSpPr>
        <p:spPr>
          <a:xfrm>
            <a:off x="2138727" y="3164672"/>
            <a:ext cx="1445973" cy="936104"/>
          </a:xfrm>
          <a:prstGeom prst="triangle">
            <a:avLst>
              <a:gd name="adj" fmla="val 50000"/>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 name="CuadroTexto 14">
            <a:extLst>
              <a:ext uri="{FF2B5EF4-FFF2-40B4-BE49-F238E27FC236}">
                <a16:creationId xmlns:a16="http://schemas.microsoft.com/office/drawing/2014/main" id="{D4F8060E-7E29-CEF2-4D24-58AFA3E1781B}"/>
              </a:ext>
            </a:extLst>
          </p:cNvPr>
          <p:cNvSpPr txBox="1"/>
          <p:nvPr/>
        </p:nvSpPr>
        <p:spPr>
          <a:xfrm>
            <a:off x="2252668" y="4917933"/>
            <a:ext cx="1218090" cy="646331"/>
          </a:xfrm>
          <a:prstGeom prst="rect">
            <a:avLst/>
          </a:prstGeom>
          <a:noFill/>
        </p:spPr>
        <p:txBody>
          <a:bodyPr wrap="none" rtlCol="0">
            <a:spAutoFit/>
          </a:bodyPr>
          <a:lstStyle/>
          <a:p>
            <a:pPr algn="ctr"/>
            <a:r>
              <a:rPr lang="es-ES" b="1" dirty="0"/>
              <a:t>Piramidal </a:t>
            </a:r>
          </a:p>
          <a:p>
            <a:pPr algn="ctr"/>
            <a:r>
              <a:rPr lang="es-ES" b="1" dirty="0"/>
              <a:t>(inductivo)</a:t>
            </a:r>
          </a:p>
        </p:txBody>
      </p:sp>
      <p:sp>
        <p:nvSpPr>
          <p:cNvPr id="7" name="Google Shape;995;p131">
            <a:extLst>
              <a:ext uri="{FF2B5EF4-FFF2-40B4-BE49-F238E27FC236}">
                <a16:creationId xmlns:a16="http://schemas.microsoft.com/office/drawing/2014/main" id="{91FB6919-0E07-9E4F-DC9F-7DF7B072C20E}"/>
              </a:ext>
            </a:extLst>
          </p:cNvPr>
          <p:cNvSpPr/>
          <p:nvPr/>
        </p:nvSpPr>
        <p:spPr>
          <a:xfrm>
            <a:off x="4172449" y="2971671"/>
            <a:ext cx="463247" cy="1732284"/>
          </a:xfrm>
          <a:prstGeom prst="downArrow">
            <a:avLst>
              <a:gd name="adj1" fmla="val 50000"/>
              <a:gd name="adj2" fmla="val 50000"/>
            </a:avLst>
          </a:prstGeom>
          <a:ln>
            <a:headEnd type="none" w="sm" len="sm"/>
            <a:tailEnd type="none" w="sm" len="sm"/>
          </a:ln>
        </p:spPr>
        <p:style>
          <a:lnRef idx="1">
            <a:schemeClr val="accent2"/>
          </a:lnRef>
          <a:fillRef idx="3">
            <a:schemeClr val="accent2"/>
          </a:fillRef>
          <a:effectRef idx="2">
            <a:schemeClr val="accent2"/>
          </a:effectRef>
          <a:fontRef idx="minor">
            <a:schemeClr val="lt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 name="CuadroTexto 8">
            <a:extLst>
              <a:ext uri="{FF2B5EF4-FFF2-40B4-BE49-F238E27FC236}">
                <a16:creationId xmlns:a16="http://schemas.microsoft.com/office/drawing/2014/main" id="{3909F5B3-1064-6539-C04B-BD3BEF76A078}"/>
              </a:ext>
            </a:extLst>
          </p:cNvPr>
          <p:cNvSpPr txBox="1"/>
          <p:nvPr/>
        </p:nvSpPr>
        <p:spPr>
          <a:xfrm>
            <a:off x="4635696" y="2851688"/>
            <a:ext cx="1975349" cy="369332"/>
          </a:xfrm>
          <a:prstGeom prst="rect">
            <a:avLst/>
          </a:prstGeom>
          <a:noFill/>
        </p:spPr>
        <p:txBody>
          <a:bodyPr wrap="none" rtlCol="0">
            <a:spAutoFit/>
          </a:bodyPr>
          <a:lstStyle/>
          <a:p>
            <a:r>
              <a:rPr lang="es-ES" dirty="0"/>
              <a:t>Preguntas cerradas</a:t>
            </a:r>
          </a:p>
        </p:txBody>
      </p:sp>
      <p:sp>
        <p:nvSpPr>
          <p:cNvPr id="13" name="CuadroTexto 12">
            <a:extLst>
              <a:ext uri="{FF2B5EF4-FFF2-40B4-BE49-F238E27FC236}">
                <a16:creationId xmlns:a16="http://schemas.microsoft.com/office/drawing/2014/main" id="{387CD6EE-7833-18FA-9803-871AF44102D9}"/>
              </a:ext>
            </a:extLst>
          </p:cNvPr>
          <p:cNvSpPr txBox="1"/>
          <p:nvPr/>
        </p:nvSpPr>
        <p:spPr>
          <a:xfrm>
            <a:off x="4635695" y="4394888"/>
            <a:ext cx="1929182" cy="369332"/>
          </a:xfrm>
          <a:prstGeom prst="rect">
            <a:avLst/>
          </a:prstGeom>
          <a:noFill/>
        </p:spPr>
        <p:txBody>
          <a:bodyPr wrap="none" rtlCol="0">
            <a:spAutoFit/>
          </a:bodyPr>
          <a:lstStyle/>
          <a:p>
            <a:r>
              <a:rPr lang="es-ES" dirty="0"/>
              <a:t>Preguntas abiertas</a:t>
            </a:r>
          </a:p>
        </p:txBody>
      </p:sp>
    </p:spTree>
    <p:extLst>
      <p:ext uri="{BB962C8B-B14F-4D97-AF65-F5344CB8AC3E}">
        <p14:creationId xmlns:p14="http://schemas.microsoft.com/office/powerpoint/2010/main" val="30188418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1AD65F75-AE8C-BAD5-B56E-8629CB3B33A6}"/>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FF4BB0E7-3986-B006-4CB3-B40B016F03CE}"/>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B0EBDBF6-B4B9-0285-397E-655668E95353}"/>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F1263430-1078-7FAE-4A83-5E45D104E658}"/>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0EC93F88-797D-5A6A-42D1-DB93AE4C4AF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57</a:t>
            </a:fld>
            <a:endParaRPr lang="es-ES"/>
          </a:p>
        </p:txBody>
      </p:sp>
      <p:sp>
        <p:nvSpPr>
          <p:cNvPr id="6" name="Google Shape;149;g1f30b4104d4_0_0">
            <a:extLst>
              <a:ext uri="{FF2B5EF4-FFF2-40B4-BE49-F238E27FC236}">
                <a16:creationId xmlns:a16="http://schemas.microsoft.com/office/drawing/2014/main" id="{29B4839B-35F5-C13B-F035-ADA5E9C43BC5}"/>
              </a:ext>
            </a:extLst>
          </p:cNvPr>
          <p:cNvSpPr/>
          <p:nvPr/>
        </p:nvSpPr>
        <p:spPr>
          <a:xfrm>
            <a:off x="1087731" y="1797803"/>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Organización de una entrevista</a:t>
            </a:r>
          </a:p>
          <a:p>
            <a:pPr marL="806450" lvl="2" algn="just">
              <a:lnSpc>
                <a:spcPct val="85000"/>
              </a:lnSpc>
              <a:spcBef>
                <a:spcPts val="450"/>
              </a:spcBef>
              <a:spcAft>
                <a:spcPts val="0"/>
              </a:spcAft>
              <a:buClr>
                <a:srgbClr val="262626"/>
              </a:buClr>
              <a:buSzPts val="2400"/>
              <a:tabLst>
                <a:tab pos="806450" algn="l"/>
              </a:tabLst>
            </a:pPr>
            <a:endParaRPr lang="es-ES" sz="2400" dirty="0">
              <a:latin typeface="Calibri"/>
              <a:ea typeface="Calibri"/>
              <a:cs typeface="Calibri"/>
              <a:sym typeface="Calibri"/>
            </a:endParaRPr>
          </a:p>
        </p:txBody>
      </p:sp>
      <p:sp>
        <p:nvSpPr>
          <p:cNvPr id="10" name="Google Shape;981;p130">
            <a:extLst>
              <a:ext uri="{FF2B5EF4-FFF2-40B4-BE49-F238E27FC236}">
                <a16:creationId xmlns:a16="http://schemas.microsoft.com/office/drawing/2014/main" id="{281968F7-9CBB-40FE-69A8-38699C6AAD34}"/>
              </a:ext>
            </a:extLst>
          </p:cNvPr>
          <p:cNvSpPr/>
          <p:nvPr/>
        </p:nvSpPr>
        <p:spPr>
          <a:xfrm flipV="1">
            <a:off x="5198370" y="3164672"/>
            <a:ext cx="1445973" cy="936104"/>
          </a:xfrm>
          <a:prstGeom prst="triangle">
            <a:avLst>
              <a:gd name="adj" fmla="val 50000"/>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 name="CuadroTexto 16">
            <a:extLst>
              <a:ext uri="{FF2B5EF4-FFF2-40B4-BE49-F238E27FC236}">
                <a16:creationId xmlns:a16="http://schemas.microsoft.com/office/drawing/2014/main" id="{96416AF6-B5D9-1396-2369-1E5378519437}"/>
              </a:ext>
            </a:extLst>
          </p:cNvPr>
          <p:cNvSpPr txBox="1"/>
          <p:nvPr/>
        </p:nvSpPr>
        <p:spPr>
          <a:xfrm>
            <a:off x="5282655" y="4917932"/>
            <a:ext cx="1277401" cy="646331"/>
          </a:xfrm>
          <a:prstGeom prst="rect">
            <a:avLst/>
          </a:prstGeom>
          <a:noFill/>
        </p:spPr>
        <p:txBody>
          <a:bodyPr wrap="none" rtlCol="0">
            <a:spAutoFit/>
          </a:bodyPr>
          <a:lstStyle/>
          <a:p>
            <a:pPr algn="ctr"/>
            <a:r>
              <a:rPr lang="es-ES" b="1" dirty="0"/>
              <a:t>Embudo </a:t>
            </a:r>
          </a:p>
          <a:p>
            <a:pPr algn="ctr"/>
            <a:r>
              <a:rPr lang="es-ES" b="1" dirty="0"/>
              <a:t>(deductivo)</a:t>
            </a:r>
          </a:p>
        </p:txBody>
      </p:sp>
      <p:sp>
        <p:nvSpPr>
          <p:cNvPr id="7" name="Google Shape;995;p131">
            <a:extLst>
              <a:ext uri="{FF2B5EF4-FFF2-40B4-BE49-F238E27FC236}">
                <a16:creationId xmlns:a16="http://schemas.microsoft.com/office/drawing/2014/main" id="{F43E3064-E6C5-F6C6-F81C-82C585069BF8}"/>
              </a:ext>
            </a:extLst>
          </p:cNvPr>
          <p:cNvSpPr/>
          <p:nvPr/>
        </p:nvSpPr>
        <p:spPr>
          <a:xfrm>
            <a:off x="7214607" y="2878681"/>
            <a:ext cx="463247" cy="1732284"/>
          </a:xfrm>
          <a:prstGeom prst="downArrow">
            <a:avLst>
              <a:gd name="adj1" fmla="val 50000"/>
              <a:gd name="adj2" fmla="val 50000"/>
            </a:avLst>
          </a:prstGeom>
          <a:ln>
            <a:headEnd type="none" w="sm" len="sm"/>
            <a:tailEnd type="none" w="sm" len="sm"/>
          </a:ln>
        </p:spPr>
        <p:style>
          <a:lnRef idx="1">
            <a:schemeClr val="accent2"/>
          </a:lnRef>
          <a:fillRef idx="3">
            <a:schemeClr val="accent2"/>
          </a:fillRef>
          <a:effectRef idx="2">
            <a:schemeClr val="accent2"/>
          </a:effectRef>
          <a:fontRef idx="minor">
            <a:schemeClr val="lt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CuadroTexto 10">
            <a:extLst>
              <a:ext uri="{FF2B5EF4-FFF2-40B4-BE49-F238E27FC236}">
                <a16:creationId xmlns:a16="http://schemas.microsoft.com/office/drawing/2014/main" id="{3734FFEC-722C-0F68-79A1-CE60135D27F6}"/>
              </a:ext>
            </a:extLst>
          </p:cNvPr>
          <p:cNvSpPr txBox="1"/>
          <p:nvPr/>
        </p:nvSpPr>
        <p:spPr>
          <a:xfrm>
            <a:off x="7677854" y="2758698"/>
            <a:ext cx="1929182" cy="369332"/>
          </a:xfrm>
          <a:prstGeom prst="rect">
            <a:avLst/>
          </a:prstGeom>
          <a:noFill/>
        </p:spPr>
        <p:txBody>
          <a:bodyPr wrap="none" rtlCol="0">
            <a:spAutoFit/>
          </a:bodyPr>
          <a:lstStyle/>
          <a:p>
            <a:r>
              <a:rPr lang="es-ES" dirty="0"/>
              <a:t>Preguntas abiertas</a:t>
            </a:r>
          </a:p>
        </p:txBody>
      </p:sp>
      <p:sp>
        <p:nvSpPr>
          <p:cNvPr id="16" name="CuadroTexto 15">
            <a:extLst>
              <a:ext uri="{FF2B5EF4-FFF2-40B4-BE49-F238E27FC236}">
                <a16:creationId xmlns:a16="http://schemas.microsoft.com/office/drawing/2014/main" id="{89845605-5B45-8FD9-569F-0B23FC506AB8}"/>
              </a:ext>
            </a:extLst>
          </p:cNvPr>
          <p:cNvSpPr txBox="1"/>
          <p:nvPr/>
        </p:nvSpPr>
        <p:spPr>
          <a:xfrm>
            <a:off x="7677853" y="4301898"/>
            <a:ext cx="1975349" cy="369332"/>
          </a:xfrm>
          <a:prstGeom prst="rect">
            <a:avLst/>
          </a:prstGeom>
          <a:noFill/>
        </p:spPr>
        <p:txBody>
          <a:bodyPr wrap="none" rtlCol="0">
            <a:spAutoFit/>
          </a:bodyPr>
          <a:lstStyle/>
          <a:p>
            <a:r>
              <a:rPr lang="es-ES" dirty="0"/>
              <a:t>Preguntas cerradas</a:t>
            </a:r>
          </a:p>
        </p:txBody>
      </p:sp>
    </p:spTree>
    <p:extLst>
      <p:ext uri="{BB962C8B-B14F-4D97-AF65-F5344CB8AC3E}">
        <p14:creationId xmlns:p14="http://schemas.microsoft.com/office/powerpoint/2010/main" val="35575703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4E67176B-28C3-3B60-A3DE-CA7CA24530C7}"/>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D19BE09D-1461-B6F9-C60B-D5A232F05D05}"/>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29882D31-DC3B-B167-FB41-C563FFEBA42F}"/>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B2F395AD-C7F6-3A95-5990-24F0778B3EE6}"/>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5E6C912A-1878-D4E7-7865-09C457ED4C3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58</a:t>
            </a:fld>
            <a:endParaRPr lang="es-ES"/>
          </a:p>
        </p:txBody>
      </p:sp>
      <p:sp>
        <p:nvSpPr>
          <p:cNvPr id="6" name="Google Shape;149;g1f30b4104d4_0_0">
            <a:extLst>
              <a:ext uri="{FF2B5EF4-FFF2-40B4-BE49-F238E27FC236}">
                <a16:creationId xmlns:a16="http://schemas.microsoft.com/office/drawing/2014/main" id="{A3FEAF87-6EDF-C554-AD9C-B674657C3994}"/>
              </a:ext>
            </a:extLst>
          </p:cNvPr>
          <p:cNvSpPr/>
          <p:nvPr/>
        </p:nvSpPr>
        <p:spPr>
          <a:xfrm>
            <a:off x="1087731" y="1797803"/>
            <a:ext cx="10062229" cy="4478414"/>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Organización de una entrevista</a:t>
            </a:r>
          </a:p>
          <a:p>
            <a:pPr marL="806450" lvl="2" algn="just">
              <a:lnSpc>
                <a:spcPct val="85000"/>
              </a:lnSpc>
              <a:spcBef>
                <a:spcPts val="450"/>
              </a:spcBef>
              <a:spcAft>
                <a:spcPts val="0"/>
              </a:spcAft>
              <a:buClr>
                <a:srgbClr val="262626"/>
              </a:buClr>
              <a:buSzPts val="2400"/>
              <a:tabLst>
                <a:tab pos="806450" algn="l"/>
              </a:tabLst>
            </a:pPr>
            <a:endParaRPr lang="es-ES" sz="2400" dirty="0">
              <a:latin typeface="Calibri"/>
              <a:ea typeface="Calibri"/>
              <a:cs typeface="Calibri"/>
              <a:sym typeface="Calibri"/>
            </a:endParaRPr>
          </a:p>
        </p:txBody>
      </p:sp>
      <p:sp>
        <p:nvSpPr>
          <p:cNvPr id="12" name="Google Shape;981;p130">
            <a:extLst>
              <a:ext uri="{FF2B5EF4-FFF2-40B4-BE49-F238E27FC236}">
                <a16:creationId xmlns:a16="http://schemas.microsoft.com/office/drawing/2014/main" id="{5FEA716F-CF76-083B-84A9-F38C88063034}"/>
              </a:ext>
            </a:extLst>
          </p:cNvPr>
          <p:cNvSpPr/>
          <p:nvPr/>
        </p:nvSpPr>
        <p:spPr>
          <a:xfrm>
            <a:off x="8495232" y="2696620"/>
            <a:ext cx="1445973" cy="936104"/>
          </a:xfrm>
          <a:prstGeom prst="triangle">
            <a:avLst>
              <a:gd name="adj" fmla="val 50000"/>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 name="CuadroTexto 18">
            <a:extLst>
              <a:ext uri="{FF2B5EF4-FFF2-40B4-BE49-F238E27FC236}">
                <a16:creationId xmlns:a16="http://schemas.microsoft.com/office/drawing/2014/main" id="{68C18C7D-1FC7-1846-9D32-E2114D526F33}"/>
              </a:ext>
            </a:extLst>
          </p:cNvPr>
          <p:cNvSpPr txBox="1"/>
          <p:nvPr/>
        </p:nvSpPr>
        <p:spPr>
          <a:xfrm>
            <a:off x="8299282" y="4918305"/>
            <a:ext cx="1837875" cy="923330"/>
          </a:xfrm>
          <a:prstGeom prst="rect">
            <a:avLst/>
          </a:prstGeom>
          <a:noFill/>
        </p:spPr>
        <p:txBody>
          <a:bodyPr wrap="none" rtlCol="0">
            <a:spAutoFit/>
          </a:bodyPr>
          <a:lstStyle/>
          <a:p>
            <a:pPr algn="ctr"/>
            <a:r>
              <a:rPr lang="es-ES" b="1" dirty="0"/>
              <a:t>Diamante</a:t>
            </a:r>
          </a:p>
          <a:p>
            <a:pPr algn="ctr"/>
            <a:r>
              <a:rPr lang="es-ES" b="1" dirty="0"/>
              <a:t>(combinación</a:t>
            </a:r>
          </a:p>
          <a:p>
            <a:pPr algn="ctr"/>
            <a:r>
              <a:rPr lang="es-ES" b="1" dirty="0"/>
              <a:t>de las anteriores)</a:t>
            </a:r>
          </a:p>
        </p:txBody>
      </p:sp>
      <p:sp>
        <p:nvSpPr>
          <p:cNvPr id="11" name="CuadroTexto 10">
            <a:extLst>
              <a:ext uri="{FF2B5EF4-FFF2-40B4-BE49-F238E27FC236}">
                <a16:creationId xmlns:a16="http://schemas.microsoft.com/office/drawing/2014/main" id="{D11F18DB-9F88-D34D-1B6D-CAD21821C0F2}"/>
              </a:ext>
            </a:extLst>
          </p:cNvPr>
          <p:cNvSpPr txBox="1"/>
          <p:nvPr/>
        </p:nvSpPr>
        <p:spPr>
          <a:xfrm>
            <a:off x="5357295" y="3429000"/>
            <a:ext cx="1929182" cy="369332"/>
          </a:xfrm>
          <a:prstGeom prst="rect">
            <a:avLst/>
          </a:prstGeom>
          <a:noFill/>
        </p:spPr>
        <p:txBody>
          <a:bodyPr wrap="none" rtlCol="0">
            <a:spAutoFit/>
          </a:bodyPr>
          <a:lstStyle/>
          <a:p>
            <a:r>
              <a:rPr lang="es-ES" dirty="0"/>
              <a:t>Preguntas abiertas</a:t>
            </a:r>
          </a:p>
        </p:txBody>
      </p:sp>
      <p:sp>
        <p:nvSpPr>
          <p:cNvPr id="16" name="CuadroTexto 15">
            <a:extLst>
              <a:ext uri="{FF2B5EF4-FFF2-40B4-BE49-F238E27FC236}">
                <a16:creationId xmlns:a16="http://schemas.microsoft.com/office/drawing/2014/main" id="{D962CB46-49CD-DF5E-FFA3-DEC9229E044A}"/>
              </a:ext>
            </a:extLst>
          </p:cNvPr>
          <p:cNvSpPr txBox="1"/>
          <p:nvPr/>
        </p:nvSpPr>
        <p:spPr>
          <a:xfrm>
            <a:off x="5311128" y="4394888"/>
            <a:ext cx="1975349" cy="369332"/>
          </a:xfrm>
          <a:prstGeom prst="rect">
            <a:avLst/>
          </a:prstGeom>
          <a:noFill/>
        </p:spPr>
        <p:txBody>
          <a:bodyPr wrap="none" rtlCol="0">
            <a:spAutoFit/>
          </a:bodyPr>
          <a:lstStyle/>
          <a:p>
            <a:r>
              <a:rPr lang="es-ES" dirty="0"/>
              <a:t>Preguntas cerradas</a:t>
            </a:r>
          </a:p>
        </p:txBody>
      </p:sp>
      <p:sp>
        <p:nvSpPr>
          <p:cNvPr id="20" name="CuadroTexto 19">
            <a:extLst>
              <a:ext uri="{FF2B5EF4-FFF2-40B4-BE49-F238E27FC236}">
                <a16:creationId xmlns:a16="http://schemas.microsoft.com/office/drawing/2014/main" id="{AAD54EFA-013C-1F5A-0158-BB371CC87909}"/>
              </a:ext>
            </a:extLst>
          </p:cNvPr>
          <p:cNvSpPr txBox="1"/>
          <p:nvPr/>
        </p:nvSpPr>
        <p:spPr>
          <a:xfrm>
            <a:off x="5311127" y="2542348"/>
            <a:ext cx="1975349" cy="369332"/>
          </a:xfrm>
          <a:prstGeom prst="rect">
            <a:avLst/>
          </a:prstGeom>
          <a:noFill/>
        </p:spPr>
        <p:txBody>
          <a:bodyPr wrap="none" rtlCol="0">
            <a:spAutoFit/>
          </a:bodyPr>
          <a:lstStyle/>
          <a:p>
            <a:r>
              <a:rPr lang="es-ES" dirty="0"/>
              <a:t>Preguntas cerradas</a:t>
            </a:r>
          </a:p>
        </p:txBody>
      </p:sp>
      <p:sp>
        <p:nvSpPr>
          <p:cNvPr id="22" name="Google Shape;995;p131">
            <a:extLst>
              <a:ext uri="{FF2B5EF4-FFF2-40B4-BE49-F238E27FC236}">
                <a16:creationId xmlns:a16="http://schemas.microsoft.com/office/drawing/2014/main" id="{E49F9625-C2FA-C4DF-3C7B-72BBFDE1A449}"/>
              </a:ext>
            </a:extLst>
          </p:cNvPr>
          <p:cNvSpPr/>
          <p:nvPr/>
        </p:nvSpPr>
        <p:spPr>
          <a:xfrm>
            <a:off x="7299585" y="3798332"/>
            <a:ext cx="463247" cy="936105"/>
          </a:xfrm>
          <a:prstGeom prst="downArrow">
            <a:avLst>
              <a:gd name="adj1" fmla="val 50000"/>
              <a:gd name="adj2" fmla="val 50000"/>
            </a:avLst>
          </a:prstGeom>
          <a:ln>
            <a:headEnd type="none" w="sm" len="sm"/>
            <a:tailEnd type="none" w="sm" len="sm"/>
          </a:ln>
        </p:spPr>
        <p:style>
          <a:lnRef idx="1">
            <a:schemeClr val="accent2"/>
          </a:lnRef>
          <a:fillRef idx="3">
            <a:schemeClr val="accent2"/>
          </a:fillRef>
          <a:effectRef idx="2">
            <a:schemeClr val="accent2"/>
          </a:effectRef>
          <a:fontRef idx="minor">
            <a:schemeClr val="lt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995;p131">
            <a:extLst>
              <a:ext uri="{FF2B5EF4-FFF2-40B4-BE49-F238E27FC236}">
                <a16:creationId xmlns:a16="http://schemas.microsoft.com/office/drawing/2014/main" id="{38414333-C49A-9393-CA85-2C6D8D843EBD}"/>
              </a:ext>
            </a:extLst>
          </p:cNvPr>
          <p:cNvSpPr/>
          <p:nvPr/>
        </p:nvSpPr>
        <p:spPr>
          <a:xfrm>
            <a:off x="7299585" y="2696619"/>
            <a:ext cx="463247" cy="936105"/>
          </a:xfrm>
          <a:prstGeom prst="downArrow">
            <a:avLst>
              <a:gd name="adj1" fmla="val 50000"/>
              <a:gd name="adj2" fmla="val 50000"/>
            </a:avLst>
          </a:prstGeom>
          <a:ln>
            <a:headEnd type="none" w="sm" len="sm"/>
            <a:tailEnd type="none" w="sm" len="sm"/>
          </a:ln>
        </p:spPr>
        <p:style>
          <a:lnRef idx="1">
            <a:schemeClr val="accent2"/>
          </a:lnRef>
          <a:fillRef idx="3">
            <a:schemeClr val="accent2"/>
          </a:fillRef>
          <a:effectRef idx="2">
            <a:schemeClr val="accent2"/>
          </a:effectRef>
          <a:fontRef idx="minor">
            <a:schemeClr val="lt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 name="Google Shape;981;p130">
            <a:extLst>
              <a:ext uri="{FF2B5EF4-FFF2-40B4-BE49-F238E27FC236}">
                <a16:creationId xmlns:a16="http://schemas.microsoft.com/office/drawing/2014/main" id="{111C4FD6-36CC-FA98-61A7-3353518793A8}"/>
              </a:ext>
            </a:extLst>
          </p:cNvPr>
          <p:cNvSpPr/>
          <p:nvPr/>
        </p:nvSpPr>
        <p:spPr>
          <a:xfrm flipV="1">
            <a:off x="8495232" y="3620245"/>
            <a:ext cx="1445973" cy="936104"/>
          </a:xfrm>
          <a:prstGeom prst="triangle">
            <a:avLst>
              <a:gd name="adj" fmla="val 50000"/>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403975914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99417999-2B75-C9B4-F9D6-AC6CBF3F8FD0}"/>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27FF609F-8FB7-780A-634F-C0EA5B561ED6}"/>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F132B1C4-DF29-9511-15DE-5835643CAE1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C346A508-163F-96BD-B2CE-09DC1165FBB4}"/>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1D3EC4AC-56D1-86FD-F110-3A348ACDEDB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59</a:t>
            </a:fld>
            <a:endParaRPr lang="es-ES"/>
          </a:p>
        </p:txBody>
      </p:sp>
      <p:sp>
        <p:nvSpPr>
          <p:cNvPr id="6" name="Google Shape;149;g1f30b4104d4_0_0">
            <a:extLst>
              <a:ext uri="{FF2B5EF4-FFF2-40B4-BE49-F238E27FC236}">
                <a16:creationId xmlns:a16="http://schemas.microsoft.com/office/drawing/2014/main" id="{0FDC8985-A5DB-517F-D896-FCC40C708532}"/>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Tipo de información obtenida</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Opiniones</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Expresiones sobre lo que las personas prefieren	</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Objetivos</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Propósitos, metas y necesidades a resolver</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Procedimientos informales</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Acciones prácticas que no aparecen en los manuales</a:t>
            </a:r>
          </a:p>
          <a:p>
            <a:pPr marL="914400" lvl="1" indent="-457200" algn="just">
              <a:spcBef>
                <a:spcPts val="0"/>
              </a:spcBef>
              <a:spcAft>
                <a:spcPts val="60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Sentimientos</a:t>
            </a:r>
          </a:p>
          <a:p>
            <a:pPr marL="898525" lvl="1" algn="just">
              <a:spcBef>
                <a:spcPts val="0"/>
              </a:spcBef>
              <a:spcAft>
                <a:spcPts val="600"/>
              </a:spcAft>
              <a:buClr>
                <a:srgbClr val="C00000"/>
              </a:buClr>
              <a:buSzPct val="100000"/>
            </a:pPr>
            <a:r>
              <a:rPr lang="es-ES" sz="2200" i="1" dirty="0">
                <a:latin typeface="Calibri"/>
                <a:ea typeface="Calibri"/>
                <a:cs typeface="Calibri"/>
                <a:sym typeface="Calibri"/>
              </a:rPr>
              <a:t>Estados de ánimo, frustraciones y niveles de satisfacción</a:t>
            </a:r>
          </a:p>
        </p:txBody>
      </p:sp>
    </p:spTree>
    <p:extLst>
      <p:ext uri="{BB962C8B-B14F-4D97-AF65-F5344CB8AC3E}">
        <p14:creationId xmlns:p14="http://schemas.microsoft.com/office/powerpoint/2010/main" val="25316257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51DD20CB-E183-2A2C-804C-CC0EF6DBA40E}"/>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72B60D93-C913-AB1A-D1D8-01FBD092D135}"/>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774CA431-B0FB-06F2-ECED-F25B6BA31447}"/>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8210D020-650F-C336-79DB-B9B5220B26C7}"/>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34013897-EAA2-04B7-810D-048EC03887D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60</a:t>
            </a:fld>
            <a:endParaRPr lang="es-ES"/>
          </a:p>
        </p:txBody>
      </p:sp>
      <p:sp>
        <p:nvSpPr>
          <p:cNvPr id="6" name="Google Shape;149;g1f30b4104d4_0_0">
            <a:extLst>
              <a:ext uri="{FF2B5EF4-FFF2-40B4-BE49-F238E27FC236}">
                <a16:creationId xmlns:a16="http://schemas.microsoft.com/office/drawing/2014/main" id="{45525A4E-2B10-8980-30A2-C2F39230C658}"/>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Preparación previa (</a:t>
            </a:r>
            <a:r>
              <a:rPr lang="es-ES" sz="2800" i="1" dirty="0">
                <a:latin typeface="Calibri"/>
                <a:ea typeface="Calibri"/>
                <a:cs typeface="Calibri"/>
                <a:sym typeface="Calibri"/>
              </a:rPr>
              <a:t>Kendall y Kendall</a:t>
            </a:r>
            <a:r>
              <a:rPr lang="es-ES" sz="2800" dirty="0">
                <a:latin typeface="Calibri"/>
                <a:ea typeface="Calibri"/>
                <a:cs typeface="Calibri"/>
                <a:sym typeface="Calibri"/>
              </a:rPr>
              <a:t>)</a:t>
            </a:r>
          </a:p>
          <a:p>
            <a:pPr marL="914400" lvl="1" indent="-457200" algn="just">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Leer los antecedentes</a:t>
            </a:r>
          </a:p>
          <a:p>
            <a:pPr marL="1069975" lvl="1" algn="just">
              <a:spcBef>
                <a:spcPts val="0"/>
              </a:spcBef>
              <a:spcAft>
                <a:spcPts val="300"/>
              </a:spcAft>
              <a:buClr>
                <a:srgbClr val="C00000"/>
              </a:buClr>
              <a:buSzPct val="100000"/>
            </a:pPr>
            <a:r>
              <a:rPr lang="es-ES" sz="2200" dirty="0">
                <a:latin typeface="Calibri"/>
                <a:ea typeface="Calibri"/>
                <a:cs typeface="Calibri"/>
                <a:sym typeface="Calibri"/>
              </a:rPr>
              <a:t>Poner atención en el lenguaje. </a:t>
            </a:r>
          </a:p>
          <a:p>
            <a:pPr marL="1069975" lvl="1" algn="just">
              <a:spcBef>
                <a:spcPts val="0"/>
              </a:spcBef>
              <a:spcAft>
                <a:spcPts val="300"/>
              </a:spcAft>
              <a:buClr>
                <a:srgbClr val="C00000"/>
              </a:buClr>
              <a:buSzPct val="100000"/>
            </a:pPr>
            <a:r>
              <a:rPr lang="es-ES" sz="2200" dirty="0">
                <a:latin typeface="Calibri"/>
                <a:ea typeface="Calibri"/>
                <a:cs typeface="Calibri"/>
                <a:sym typeface="Calibri"/>
              </a:rPr>
              <a:t>Buscar un vocabulario en común. Imprescindible para poder entender al entrevistado.</a:t>
            </a:r>
            <a:r>
              <a:rPr lang="es-ES" sz="2200" i="1" dirty="0">
                <a:latin typeface="Calibri"/>
                <a:ea typeface="Calibri"/>
                <a:cs typeface="Calibri"/>
                <a:sym typeface="Calibri"/>
              </a:rPr>
              <a:t>	</a:t>
            </a:r>
          </a:p>
          <a:p>
            <a:pPr marL="914400" lvl="1" indent="-457200" algn="just">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Establecer los objetivos de la entrevista</a:t>
            </a:r>
          </a:p>
          <a:p>
            <a:pPr marL="1069975" lvl="1" algn="just">
              <a:spcBef>
                <a:spcPts val="0"/>
              </a:spcBef>
              <a:spcAft>
                <a:spcPts val="300"/>
              </a:spcAft>
              <a:buClr>
                <a:srgbClr val="C00000"/>
              </a:buClr>
              <a:buSzPct val="100000"/>
            </a:pPr>
            <a:r>
              <a:rPr lang="es-ES" sz="2200" dirty="0">
                <a:latin typeface="Calibri"/>
                <a:ea typeface="Calibri"/>
                <a:cs typeface="Calibri"/>
                <a:sym typeface="Calibri"/>
              </a:rPr>
              <a:t>Usando los antecedentes. </a:t>
            </a:r>
          </a:p>
          <a:p>
            <a:pPr marL="1069975" lvl="1" algn="just">
              <a:spcBef>
                <a:spcPts val="0"/>
              </a:spcBef>
              <a:spcAft>
                <a:spcPts val="300"/>
              </a:spcAft>
              <a:buClr>
                <a:srgbClr val="C00000"/>
              </a:buClr>
              <a:buSzPct val="100000"/>
            </a:pPr>
            <a:r>
              <a:rPr lang="es-ES" sz="2200" dirty="0">
                <a:latin typeface="Calibri"/>
                <a:ea typeface="Calibri"/>
                <a:cs typeface="Calibri"/>
                <a:sym typeface="Calibri"/>
              </a:rPr>
              <a:t>Los directivos suelen proporcionar una visión general, mientras que los futuros usuarios una más detallada.</a:t>
            </a:r>
          </a:p>
        </p:txBody>
      </p:sp>
      <p:sp>
        <p:nvSpPr>
          <p:cNvPr id="7" name="CuadroTexto 6">
            <a:extLst>
              <a:ext uri="{FF2B5EF4-FFF2-40B4-BE49-F238E27FC236}">
                <a16:creationId xmlns:a16="http://schemas.microsoft.com/office/drawing/2014/main" id="{76886B8A-0DF0-46D0-F61D-720F6DE46464}"/>
              </a:ext>
            </a:extLst>
          </p:cNvPr>
          <p:cNvSpPr txBox="1"/>
          <p:nvPr/>
        </p:nvSpPr>
        <p:spPr>
          <a:xfrm>
            <a:off x="5542905" y="6076950"/>
            <a:ext cx="6698308" cy="275430"/>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Kendall y Kendall, Análisis y diseño de Sistemas, Capítulo 4, Pearson Prentice Hall 2005</a:t>
            </a:r>
          </a:p>
        </p:txBody>
      </p:sp>
    </p:spTree>
    <p:extLst>
      <p:ext uri="{BB962C8B-B14F-4D97-AF65-F5344CB8AC3E}">
        <p14:creationId xmlns:p14="http://schemas.microsoft.com/office/powerpoint/2010/main" val="3457452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B0118037-E2BE-A461-B9D3-3670B73F6075}"/>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5974E192-D5B2-FFCC-B6F8-BF6543DC5FC2}"/>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2936E60E-13F1-1EA3-87DC-C1132AEE5F62}"/>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AD7BF4F2-5686-6E8E-6F34-E676FA80ABBA}"/>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61AA2FE4-89BC-5669-0245-88B2AC6BE43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61</a:t>
            </a:fld>
            <a:endParaRPr lang="es-ES"/>
          </a:p>
        </p:txBody>
      </p:sp>
      <p:sp>
        <p:nvSpPr>
          <p:cNvPr id="6" name="Google Shape;149;g1f30b4104d4_0_0">
            <a:extLst>
              <a:ext uri="{FF2B5EF4-FFF2-40B4-BE49-F238E27FC236}">
                <a16:creationId xmlns:a16="http://schemas.microsoft.com/office/drawing/2014/main" id="{EE57CCD8-4897-F331-832C-CA0ED8FC969C}"/>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Preparación previa (</a:t>
            </a:r>
            <a:r>
              <a:rPr lang="es-ES" sz="2800" i="1" dirty="0">
                <a:latin typeface="Calibri"/>
                <a:ea typeface="Calibri"/>
                <a:cs typeface="Calibri"/>
                <a:sym typeface="Calibri"/>
              </a:rPr>
              <a:t>Kendall y Kendall</a:t>
            </a:r>
            <a:r>
              <a:rPr lang="es-ES" sz="2800" dirty="0">
                <a:latin typeface="Calibri"/>
                <a:ea typeface="Calibri"/>
                <a:cs typeface="Calibri"/>
                <a:sym typeface="Calibri"/>
              </a:rPr>
              <a:t>)</a:t>
            </a:r>
          </a:p>
          <a:p>
            <a:pPr marL="914400" lvl="1" indent="-457200" algn="just">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Seleccionar los entrevistados</a:t>
            </a:r>
          </a:p>
          <a:p>
            <a:pPr marL="1069975" lvl="1" algn="just">
              <a:spcBef>
                <a:spcPts val="0"/>
              </a:spcBef>
              <a:spcAft>
                <a:spcPts val="300"/>
              </a:spcAft>
              <a:buClr>
                <a:srgbClr val="C00000"/>
              </a:buClr>
              <a:buSzPct val="100000"/>
            </a:pPr>
            <a:r>
              <a:rPr lang="es-ES" sz="2200" dirty="0">
                <a:latin typeface="Calibri"/>
                <a:ea typeface="Calibri"/>
                <a:cs typeface="Calibri"/>
                <a:sym typeface="Calibri"/>
              </a:rPr>
              <a:t>Se debe minimizar el número de entrevistas.</a:t>
            </a:r>
          </a:p>
          <a:p>
            <a:pPr marL="1069975" lvl="1" algn="just">
              <a:spcBef>
                <a:spcPts val="0"/>
              </a:spcBef>
              <a:spcAft>
                <a:spcPts val="300"/>
              </a:spcAft>
              <a:buClr>
                <a:srgbClr val="C00000"/>
              </a:buClr>
              <a:buSzPct val="100000"/>
            </a:pPr>
            <a:r>
              <a:rPr lang="es-ES" sz="2200" dirty="0">
                <a:latin typeface="Calibri"/>
                <a:ea typeface="Calibri"/>
                <a:cs typeface="Calibri"/>
                <a:sym typeface="Calibri"/>
              </a:rPr>
              <a:t>Los entrevistados deben conocer con antelación el objetivo de la entrevista y las preguntas que se le van a hacer.</a:t>
            </a:r>
            <a:r>
              <a:rPr lang="es-ES" sz="2200" i="1" dirty="0">
                <a:latin typeface="Calibri"/>
                <a:ea typeface="Calibri"/>
                <a:cs typeface="Calibri"/>
                <a:sym typeface="Calibri"/>
              </a:rPr>
              <a:t>	</a:t>
            </a:r>
          </a:p>
          <a:p>
            <a:pPr marL="914400" lvl="1" indent="-457200" algn="just">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Planificación de la entrevista y preparación del entrevistado</a:t>
            </a:r>
          </a:p>
          <a:p>
            <a:pPr marL="1069975" lvl="1" algn="just">
              <a:spcBef>
                <a:spcPts val="0"/>
              </a:spcBef>
              <a:spcAft>
                <a:spcPts val="300"/>
              </a:spcAft>
              <a:buClr>
                <a:srgbClr val="C00000"/>
              </a:buClr>
              <a:buSzPct val="100000"/>
            </a:pPr>
            <a:r>
              <a:rPr lang="es-ES" sz="2200" dirty="0"/>
              <a:t>Establecer fecha, hora, lugar y duración de cada entrevista de acuerdo con el entrevistado</a:t>
            </a:r>
            <a:r>
              <a:rPr lang="es-ES" sz="2200" dirty="0">
                <a:latin typeface="Calibri"/>
                <a:ea typeface="Calibri"/>
                <a:cs typeface="Calibri"/>
                <a:sym typeface="Calibri"/>
              </a:rPr>
              <a:t>.</a:t>
            </a:r>
          </a:p>
          <a:p>
            <a:pPr marL="898525" lvl="1" indent="-449263" algn="just">
              <a:spcBef>
                <a:spcPts val="0"/>
              </a:spcBef>
              <a:spcAft>
                <a:spcPts val="30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Selección del tipo de preguntas a usar y su estructura</a:t>
            </a:r>
            <a:endParaRPr lang="es-ES" sz="2200" dirty="0">
              <a:latin typeface="Calibri"/>
              <a:ea typeface="Calibri"/>
              <a:cs typeface="Calibri"/>
              <a:sym typeface="Calibri"/>
            </a:endParaRPr>
          </a:p>
        </p:txBody>
      </p:sp>
      <p:sp>
        <p:nvSpPr>
          <p:cNvPr id="7" name="CuadroTexto 6">
            <a:extLst>
              <a:ext uri="{FF2B5EF4-FFF2-40B4-BE49-F238E27FC236}">
                <a16:creationId xmlns:a16="http://schemas.microsoft.com/office/drawing/2014/main" id="{35B95D92-833E-33FE-9535-35C19C5D76DC}"/>
              </a:ext>
            </a:extLst>
          </p:cNvPr>
          <p:cNvSpPr txBox="1"/>
          <p:nvPr/>
        </p:nvSpPr>
        <p:spPr>
          <a:xfrm>
            <a:off x="5542905" y="6076950"/>
            <a:ext cx="6698308" cy="275430"/>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Kendall y Kendall, Análisis y diseño de Sistemas, Capítulo 4, Pearson Prentice Hall 2005</a:t>
            </a:r>
          </a:p>
        </p:txBody>
      </p:sp>
    </p:spTree>
    <p:extLst>
      <p:ext uri="{BB962C8B-B14F-4D97-AF65-F5344CB8AC3E}">
        <p14:creationId xmlns:p14="http://schemas.microsoft.com/office/powerpoint/2010/main" val="12988123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5A6ACB4E-3DF5-2B5D-E36C-0E2013EE6868}"/>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76409579-CC84-BFDE-599B-76389F023FBC}"/>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1050D9DE-DA12-4C61-58AB-A7ABE7CEA9EB}"/>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7C48C557-D8D4-E053-2C1A-B459CDAB7159}"/>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2DB03ADC-F8DD-C53D-EC2E-21F56700BCC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62</a:t>
            </a:fld>
            <a:endParaRPr lang="es-ES"/>
          </a:p>
        </p:txBody>
      </p:sp>
      <p:sp>
        <p:nvSpPr>
          <p:cNvPr id="6" name="Google Shape;149;g1f30b4104d4_0_0">
            <a:extLst>
              <a:ext uri="{FF2B5EF4-FFF2-40B4-BE49-F238E27FC236}">
                <a16:creationId xmlns:a16="http://schemas.microsoft.com/office/drawing/2014/main" id="{B282440A-3BFE-1B3F-23D0-48EE5B6DE282}"/>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Conducción de la entrevista (</a:t>
            </a:r>
            <a:r>
              <a:rPr lang="es-ES" sz="2800" i="1" dirty="0">
                <a:latin typeface="Calibri"/>
                <a:ea typeface="Calibri"/>
                <a:cs typeface="Calibri"/>
                <a:sym typeface="Calibri"/>
              </a:rPr>
              <a:t>Whitten-Bentley</a:t>
            </a:r>
            <a:r>
              <a:rPr lang="es-ES" sz="2800" dirty="0">
                <a:latin typeface="Calibri"/>
                <a:ea typeface="Calibri"/>
                <a:cs typeface="Calibri"/>
                <a:sym typeface="Calibri"/>
              </a:rPr>
              <a:t>)</a:t>
            </a:r>
          </a:p>
          <a:p>
            <a:pPr marL="914400" lvl="1" indent="-457200" algn="just">
              <a:spcBef>
                <a:spcPts val="0"/>
              </a:spcBef>
              <a:spcAft>
                <a:spcPts val="15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Selección del entrevistado</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Según el requerimiento a analizar</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Conocer sus fortalezas, prejuicios y motivaciones</a:t>
            </a:r>
          </a:p>
          <a:p>
            <a:pPr marL="1255713" lvl="1" algn="just">
              <a:spcBef>
                <a:spcPts val="0"/>
              </a:spcBef>
              <a:spcAft>
                <a:spcPts val="150"/>
              </a:spcAft>
              <a:buClr>
                <a:srgbClr val="C00000"/>
              </a:buClr>
              <a:buSzPct val="100000"/>
            </a:pPr>
            <a:r>
              <a:rPr lang="es-ES" sz="2000" i="1" dirty="0">
                <a:latin typeface="Calibri"/>
                <a:ea typeface="Calibri"/>
                <a:cs typeface="Calibri"/>
                <a:sym typeface="Calibri"/>
              </a:rPr>
              <a:t>Armar la entrevista en base a las características de la persona</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Hacer una cita (no llegar sin avisar)</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Respetar el horario de trabajo</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Establecer la duración de la entrevista</a:t>
            </a:r>
          </a:p>
          <a:p>
            <a:pPr marL="1255713" lvl="1" algn="just">
              <a:spcBef>
                <a:spcPts val="0"/>
              </a:spcBef>
              <a:spcAft>
                <a:spcPts val="150"/>
              </a:spcAft>
              <a:buClr>
                <a:srgbClr val="C00000"/>
              </a:buClr>
              <a:buSzPct val="100000"/>
            </a:pPr>
            <a:r>
              <a:rPr lang="es-ES" sz="2000" i="1" dirty="0">
                <a:latin typeface="Calibri"/>
                <a:ea typeface="Calibri"/>
                <a:cs typeface="Calibri"/>
                <a:sym typeface="Calibri"/>
              </a:rPr>
              <a:t>Cuanto mayor es el cargo del entrevistado menor tiempo se debe utilizar</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Obtener el permiso del supervisor o jefe </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La entrevista es personal y debe realizarse en un lugar privado</a:t>
            </a:r>
          </a:p>
        </p:txBody>
      </p:sp>
      <p:sp>
        <p:nvSpPr>
          <p:cNvPr id="7" name="CuadroTexto 6">
            <a:extLst>
              <a:ext uri="{FF2B5EF4-FFF2-40B4-BE49-F238E27FC236}">
                <a16:creationId xmlns:a16="http://schemas.microsoft.com/office/drawing/2014/main" id="{519519F4-D2C3-E169-0473-5E5AF315ECBB}"/>
              </a:ext>
            </a:extLst>
          </p:cNvPr>
          <p:cNvSpPr txBox="1"/>
          <p:nvPr/>
        </p:nvSpPr>
        <p:spPr>
          <a:xfrm>
            <a:off x="5393410" y="6076950"/>
            <a:ext cx="6847803" cy="277064"/>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Whitten-Bentley, Análisis de Sistemas Diseño y Métodos, Capítulo 5, Mc Graw Hill 2008</a:t>
            </a:r>
          </a:p>
        </p:txBody>
      </p:sp>
    </p:spTree>
    <p:extLst>
      <p:ext uri="{BB962C8B-B14F-4D97-AF65-F5344CB8AC3E}">
        <p14:creationId xmlns:p14="http://schemas.microsoft.com/office/powerpoint/2010/main" val="413796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1501957E-2DB9-3DA5-C7F0-ED8B8CE78164}"/>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B35F0D64-6277-F0DE-741C-B8004518D9C1}"/>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61A775A7-1235-178D-1EAB-1FD784AC5AD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C9027DBA-9B68-130B-D6BA-FD1FCDEDD378}"/>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F70F45FA-26BF-DD2A-F834-43840D03F09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63</a:t>
            </a:fld>
            <a:endParaRPr lang="es-ES"/>
          </a:p>
        </p:txBody>
      </p:sp>
      <p:sp>
        <p:nvSpPr>
          <p:cNvPr id="6" name="Google Shape;149;g1f30b4104d4_0_0">
            <a:extLst>
              <a:ext uri="{FF2B5EF4-FFF2-40B4-BE49-F238E27FC236}">
                <a16:creationId xmlns:a16="http://schemas.microsoft.com/office/drawing/2014/main" id="{D194586E-5221-8B15-014C-E5ED9E9CBC25}"/>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600"/>
              </a:spcAft>
              <a:buClr>
                <a:srgbClr val="C00000"/>
              </a:buClr>
              <a:buSzPct val="100000"/>
              <a:buFont typeface="Noto Sans Symbols"/>
              <a:buChar char="❖"/>
            </a:pPr>
            <a:r>
              <a:rPr lang="es-ES" sz="2800" dirty="0">
                <a:latin typeface="Calibri"/>
                <a:ea typeface="Calibri"/>
                <a:cs typeface="Calibri"/>
                <a:sym typeface="Calibri"/>
              </a:rPr>
              <a:t>Conducción de la entrevista (</a:t>
            </a:r>
            <a:r>
              <a:rPr lang="es-ES" sz="2800" i="1" dirty="0">
                <a:latin typeface="Calibri"/>
                <a:ea typeface="Calibri"/>
                <a:cs typeface="Calibri"/>
                <a:sym typeface="Calibri"/>
              </a:rPr>
              <a:t>Whitten-Bentley</a:t>
            </a:r>
            <a:r>
              <a:rPr lang="es-ES" sz="2800" dirty="0">
                <a:latin typeface="Calibri"/>
                <a:ea typeface="Calibri"/>
                <a:cs typeface="Calibri"/>
                <a:sym typeface="Calibri"/>
              </a:rPr>
              <a:t>)</a:t>
            </a:r>
          </a:p>
          <a:p>
            <a:pPr marL="914400" lvl="1" indent="-457200" algn="just">
              <a:spcBef>
                <a:spcPts val="0"/>
              </a:spcBef>
              <a:spcAft>
                <a:spcPts val="15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Preparación de la entrevista</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Informar al entrevistado el tema a tratar antes de la reunión </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Definir un “</a:t>
            </a:r>
            <a:r>
              <a:rPr lang="es-ES" sz="2200" dirty="0" err="1">
                <a:latin typeface="Calibri"/>
                <a:ea typeface="Calibri"/>
                <a:cs typeface="Calibri"/>
                <a:sym typeface="Calibri"/>
              </a:rPr>
              <a:t>Guión</a:t>
            </a:r>
            <a:r>
              <a:rPr lang="es-ES" sz="2200" dirty="0">
                <a:latin typeface="Calibri"/>
                <a:ea typeface="Calibri"/>
                <a:cs typeface="Calibri"/>
                <a:sym typeface="Calibri"/>
              </a:rPr>
              <a:t> de Entrevista”</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Se deben evitar preguntas sesgadas o con intención, amenazantes o críticas</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Usar lenguaje claro y conciso</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No incluir opinión como parte de la pregunta</a:t>
            </a:r>
          </a:p>
          <a:p>
            <a:pPr marL="1069975" lvl="1" algn="just">
              <a:spcBef>
                <a:spcPts val="0"/>
              </a:spcBef>
              <a:spcAft>
                <a:spcPts val="150"/>
              </a:spcAft>
              <a:buClr>
                <a:srgbClr val="C00000"/>
              </a:buClr>
              <a:buSzPct val="100000"/>
            </a:pPr>
            <a:r>
              <a:rPr lang="es-ES" sz="2200" dirty="0">
                <a:latin typeface="Calibri"/>
                <a:ea typeface="Calibri"/>
                <a:cs typeface="Calibri"/>
                <a:sym typeface="Calibri"/>
              </a:rPr>
              <a:t>Evitar realizar preguntas largas y complejas </a:t>
            </a:r>
          </a:p>
        </p:txBody>
      </p:sp>
      <p:sp>
        <p:nvSpPr>
          <p:cNvPr id="7" name="CuadroTexto 6">
            <a:extLst>
              <a:ext uri="{FF2B5EF4-FFF2-40B4-BE49-F238E27FC236}">
                <a16:creationId xmlns:a16="http://schemas.microsoft.com/office/drawing/2014/main" id="{64EE833C-C373-579D-85AA-4946C04E4575}"/>
              </a:ext>
            </a:extLst>
          </p:cNvPr>
          <p:cNvSpPr txBox="1"/>
          <p:nvPr/>
        </p:nvSpPr>
        <p:spPr>
          <a:xfrm>
            <a:off x="5393410" y="6076950"/>
            <a:ext cx="6847803" cy="277064"/>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Whitten-Bentley, Análisis de Sistemas Diseño y Métodos, Capítulo 5, Mc Graw Hill 2008</a:t>
            </a:r>
          </a:p>
        </p:txBody>
      </p:sp>
      <p:pic>
        <p:nvPicPr>
          <p:cNvPr id="8" name="Google Shape;1057;p137" descr="http://www.rosabonilla.com/blog/wp-content/uploads/2013/04/537588-300x242.gif">
            <a:extLst>
              <a:ext uri="{FF2B5EF4-FFF2-40B4-BE49-F238E27FC236}">
                <a16:creationId xmlns:a16="http://schemas.microsoft.com/office/drawing/2014/main" id="{6B7D9B2E-CE13-17F6-C550-A207DBAA0658}"/>
              </a:ext>
            </a:extLst>
          </p:cNvPr>
          <p:cNvPicPr preferRelativeResize="0"/>
          <p:nvPr/>
        </p:nvPicPr>
        <p:blipFill rotWithShape="1">
          <a:blip r:embed="rId3">
            <a:alphaModFix/>
          </a:blip>
          <a:srcRect/>
          <a:stretch/>
        </p:blipFill>
        <p:spPr>
          <a:xfrm>
            <a:off x="9036416" y="4060726"/>
            <a:ext cx="2558048" cy="2016224"/>
          </a:xfrm>
          <a:prstGeom prst="rect">
            <a:avLst/>
          </a:prstGeom>
          <a:noFill/>
          <a:ln>
            <a:noFill/>
          </a:ln>
        </p:spPr>
      </p:pic>
      <p:sp>
        <p:nvSpPr>
          <p:cNvPr id="9" name="Elipse 8">
            <a:extLst>
              <a:ext uri="{FF2B5EF4-FFF2-40B4-BE49-F238E27FC236}">
                <a16:creationId xmlns:a16="http://schemas.microsoft.com/office/drawing/2014/main" id="{1853037A-D119-7F10-6B4F-048D265DF4CF}"/>
              </a:ext>
            </a:extLst>
          </p:cNvPr>
          <p:cNvSpPr/>
          <p:nvPr/>
        </p:nvSpPr>
        <p:spPr>
          <a:xfrm>
            <a:off x="3301139" y="3208149"/>
            <a:ext cx="2819467" cy="414579"/>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0948174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2DCF52B8-DF5D-27B0-DAC9-7079E35F3E61}"/>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902230A5-39FD-2C60-6D3C-22DEC7713DFE}"/>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70057675-9E5F-B01F-8C06-8313C086EFC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E87BE73-10D9-7E25-E24D-72421F128B23}"/>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1E61783B-507C-C67E-4E91-3B63C50FDAC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64</a:t>
            </a:fld>
            <a:endParaRPr lang="es-ES"/>
          </a:p>
        </p:txBody>
      </p:sp>
      <p:sp>
        <p:nvSpPr>
          <p:cNvPr id="7" name="CuadroTexto 6">
            <a:extLst>
              <a:ext uri="{FF2B5EF4-FFF2-40B4-BE49-F238E27FC236}">
                <a16:creationId xmlns:a16="http://schemas.microsoft.com/office/drawing/2014/main" id="{1A8DBC20-3F78-37EE-081E-975881196BEC}"/>
              </a:ext>
            </a:extLst>
          </p:cNvPr>
          <p:cNvSpPr txBox="1"/>
          <p:nvPr/>
        </p:nvSpPr>
        <p:spPr>
          <a:xfrm>
            <a:off x="5393410" y="6076950"/>
            <a:ext cx="6847803" cy="277064"/>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Whitten-Bentley, Análisis de Sistemas Diseño y Métodos, Capítulo 5, Mc Graw Hill 2008</a:t>
            </a:r>
          </a:p>
        </p:txBody>
      </p:sp>
      <p:pic>
        <p:nvPicPr>
          <p:cNvPr id="10" name="Google Shape;1064;p138">
            <a:extLst>
              <a:ext uri="{FF2B5EF4-FFF2-40B4-BE49-F238E27FC236}">
                <a16:creationId xmlns:a16="http://schemas.microsoft.com/office/drawing/2014/main" id="{49D058C0-5916-2AF9-3652-763166B0719E}"/>
              </a:ext>
            </a:extLst>
          </p:cNvPr>
          <p:cNvPicPr preferRelativeResize="0"/>
          <p:nvPr/>
        </p:nvPicPr>
        <p:blipFill rotWithShape="1">
          <a:blip r:embed="rId3">
            <a:alphaModFix/>
          </a:blip>
          <a:srcRect r="3896"/>
          <a:stretch>
            <a:fillRect/>
          </a:stretch>
        </p:blipFill>
        <p:spPr>
          <a:xfrm>
            <a:off x="319528" y="33336"/>
            <a:ext cx="5695382" cy="5929202"/>
          </a:xfrm>
          <a:prstGeom prst="rect">
            <a:avLst/>
          </a:prstGeom>
          <a:noFill/>
          <a:ln>
            <a:noFill/>
          </a:ln>
        </p:spPr>
      </p:pic>
      <p:pic>
        <p:nvPicPr>
          <p:cNvPr id="12" name="Google Shape;1071;g1e58aeebf75_0_1">
            <a:extLst>
              <a:ext uri="{FF2B5EF4-FFF2-40B4-BE49-F238E27FC236}">
                <a16:creationId xmlns:a16="http://schemas.microsoft.com/office/drawing/2014/main" id="{79144B40-C60C-24AA-709F-ED45C1713163}"/>
              </a:ext>
            </a:extLst>
          </p:cNvPr>
          <p:cNvPicPr preferRelativeResize="0"/>
          <p:nvPr/>
        </p:nvPicPr>
        <p:blipFill rotWithShape="1">
          <a:blip r:embed="rId4">
            <a:alphaModFix/>
          </a:blip>
          <a:srcRect t="1918" r="5714" b="4047"/>
          <a:stretch>
            <a:fillRect/>
          </a:stretch>
        </p:blipFill>
        <p:spPr>
          <a:xfrm>
            <a:off x="5664876" y="895462"/>
            <a:ext cx="5369917" cy="5165990"/>
          </a:xfrm>
          <a:prstGeom prst="rect">
            <a:avLst/>
          </a:prstGeom>
          <a:noFill/>
          <a:ln>
            <a:noFill/>
          </a:ln>
        </p:spPr>
      </p:pic>
    </p:spTree>
    <p:extLst>
      <p:ext uri="{BB962C8B-B14F-4D97-AF65-F5344CB8AC3E}">
        <p14:creationId xmlns:p14="http://schemas.microsoft.com/office/powerpoint/2010/main" val="2013924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9261FD17-9072-1537-26DC-5A83013E1C89}"/>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E8CCCDF9-E3DF-D257-9379-35EEE8F55DD7}"/>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97842880-6B51-2274-2D38-4DF5A0B1241C}"/>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E0454BF-5AA3-4B58-77C2-27D183583CE5}"/>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3A1F66DF-D606-12B1-82EF-EB30595F3ED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65</a:t>
            </a:fld>
            <a:endParaRPr lang="es-ES"/>
          </a:p>
        </p:txBody>
      </p:sp>
      <p:sp>
        <p:nvSpPr>
          <p:cNvPr id="6" name="Google Shape;149;g1f30b4104d4_0_0">
            <a:extLst>
              <a:ext uri="{FF2B5EF4-FFF2-40B4-BE49-F238E27FC236}">
                <a16:creationId xmlns:a16="http://schemas.microsoft.com/office/drawing/2014/main" id="{DFD5CA57-E9AD-F1B9-3268-698FC0728D45}"/>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Conducción de la entrevista (</a:t>
            </a:r>
            <a:r>
              <a:rPr lang="es-ES" sz="2800" i="1" dirty="0">
                <a:latin typeface="Calibri"/>
                <a:ea typeface="Calibri"/>
                <a:cs typeface="Calibri"/>
                <a:sym typeface="Calibri"/>
              </a:rPr>
              <a:t>Whitten-Bentley</a:t>
            </a:r>
            <a:r>
              <a:rPr lang="es-ES" sz="2800" dirty="0">
                <a:latin typeface="Calibri"/>
                <a:ea typeface="Calibri"/>
                <a:cs typeface="Calibri"/>
                <a:sym typeface="Calibri"/>
              </a:rPr>
              <a:t>)</a:t>
            </a:r>
          </a:p>
          <a:p>
            <a:pPr marL="914400" lvl="1" indent="-457200" algn="just">
              <a:spcBef>
                <a:spcPts val="0"/>
              </a:spcBef>
              <a:spcAft>
                <a:spcPts val="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Durante la entrevista</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Respete el horario y los tiempos definidos</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Si es en una sala de reunión llegue antes para asegurar las condiciones de la misma</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Inicie la entrevista saludando, presentándose y agradeciendo la atención</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Mencione el propósito de la misma y la duración </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Escuche con atención y observe al entrevistado, tome nota de las respuestas verbales y no verbales </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Concluya la entrevista expresando su agradecimiento</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Haga una breve conclusión de la entrevista para ganar la confianza del entrevistado</a:t>
            </a:r>
          </a:p>
        </p:txBody>
      </p:sp>
      <p:sp>
        <p:nvSpPr>
          <p:cNvPr id="7" name="CuadroTexto 6">
            <a:extLst>
              <a:ext uri="{FF2B5EF4-FFF2-40B4-BE49-F238E27FC236}">
                <a16:creationId xmlns:a16="http://schemas.microsoft.com/office/drawing/2014/main" id="{D9B3E591-0460-20A8-8F5F-F10B647735B7}"/>
              </a:ext>
            </a:extLst>
          </p:cNvPr>
          <p:cNvSpPr txBox="1"/>
          <p:nvPr/>
        </p:nvSpPr>
        <p:spPr>
          <a:xfrm>
            <a:off x="5393410" y="6076950"/>
            <a:ext cx="6847803" cy="277064"/>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Whitten-Bentley, Análisis de Sistemas Diseño y Métodos, Capítulo 5, Mc Graw Hill 2008</a:t>
            </a:r>
          </a:p>
        </p:txBody>
      </p:sp>
    </p:spTree>
    <p:extLst>
      <p:ext uri="{BB962C8B-B14F-4D97-AF65-F5344CB8AC3E}">
        <p14:creationId xmlns:p14="http://schemas.microsoft.com/office/powerpoint/2010/main" val="2199641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E42CB436-9D0A-8A9A-B1DC-43CF135E5D08}"/>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3D877138-FCA8-560D-0C14-7372DB7AB4C5}"/>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DC5D7891-44B1-0C34-8DB5-5F006A7FB311}"/>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5103059F-E571-B435-E64D-634261FDE8D7}"/>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8E5E580A-9C3E-7C89-D015-55EDBE31556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66</a:t>
            </a:fld>
            <a:endParaRPr lang="es-ES"/>
          </a:p>
        </p:txBody>
      </p:sp>
      <p:sp>
        <p:nvSpPr>
          <p:cNvPr id="6" name="Google Shape;149;g1f30b4104d4_0_0">
            <a:extLst>
              <a:ext uri="{FF2B5EF4-FFF2-40B4-BE49-F238E27FC236}">
                <a16:creationId xmlns:a16="http://schemas.microsoft.com/office/drawing/2014/main" id="{B245FC0E-3959-FEF6-5755-60ED710E9435}"/>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Conducción de la entrevista (</a:t>
            </a:r>
            <a:r>
              <a:rPr lang="es-ES" sz="2800" i="1" dirty="0">
                <a:latin typeface="Calibri"/>
                <a:ea typeface="Calibri"/>
                <a:cs typeface="Calibri"/>
                <a:sym typeface="Calibri"/>
              </a:rPr>
              <a:t>Whitten-Bentley</a:t>
            </a:r>
            <a:r>
              <a:rPr lang="es-ES" sz="2800" dirty="0">
                <a:latin typeface="Calibri"/>
                <a:ea typeface="Calibri"/>
                <a:cs typeface="Calibri"/>
                <a:sym typeface="Calibri"/>
              </a:rPr>
              <a:t>)</a:t>
            </a:r>
          </a:p>
          <a:p>
            <a:pPr marL="914400" lvl="1" indent="-457200" algn="just">
              <a:spcBef>
                <a:spcPts val="0"/>
              </a:spcBef>
              <a:spcAft>
                <a:spcPts val="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Debe</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Vestirse adecuadamente</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Ser cortés</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Escuchar cuidadosamente</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Mantener el control</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Observar los gestos </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Ser paciente</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Mantener al entrevistado en calma</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Mantener el autocontrol</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Terminar a tiempo</a:t>
            </a:r>
          </a:p>
        </p:txBody>
      </p:sp>
      <p:sp>
        <p:nvSpPr>
          <p:cNvPr id="7" name="CuadroTexto 6">
            <a:extLst>
              <a:ext uri="{FF2B5EF4-FFF2-40B4-BE49-F238E27FC236}">
                <a16:creationId xmlns:a16="http://schemas.microsoft.com/office/drawing/2014/main" id="{CCEA389F-7548-7044-7150-33474E5C609F}"/>
              </a:ext>
            </a:extLst>
          </p:cNvPr>
          <p:cNvSpPr txBox="1"/>
          <p:nvPr/>
        </p:nvSpPr>
        <p:spPr>
          <a:xfrm>
            <a:off x="5393410" y="6076950"/>
            <a:ext cx="6847803" cy="277064"/>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Whitten-Bentley, Análisis de Sistemas Diseño y Métodos, Capítulo 5, Mc Graw Hill 2008</a:t>
            </a:r>
          </a:p>
        </p:txBody>
      </p:sp>
      <p:sp>
        <p:nvSpPr>
          <p:cNvPr id="5" name="CuadroTexto 4">
            <a:extLst>
              <a:ext uri="{FF2B5EF4-FFF2-40B4-BE49-F238E27FC236}">
                <a16:creationId xmlns:a16="http://schemas.microsoft.com/office/drawing/2014/main" id="{3F0D9F19-97C4-0618-764B-1122C98D623B}"/>
              </a:ext>
            </a:extLst>
          </p:cNvPr>
          <p:cNvSpPr txBox="1"/>
          <p:nvPr/>
        </p:nvSpPr>
        <p:spPr>
          <a:xfrm>
            <a:off x="5671154" y="2320053"/>
            <a:ext cx="5896585" cy="3816429"/>
          </a:xfrm>
          <a:prstGeom prst="rect">
            <a:avLst/>
          </a:prstGeom>
          <a:noFill/>
        </p:spPr>
        <p:txBody>
          <a:bodyPr wrap="square" rtlCol="0">
            <a:spAutoFit/>
          </a:bodyPr>
          <a:lstStyle/>
          <a:p>
            <a:pPr marL="914400" lvl="1" indent="-457200" algn="just">
              <a:spcBef>
                <a:spcPts val="0"/>
              </a:spcBef>
              <a:spcAft>
                <a:spcPts val="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Evite</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Suponer que una respuesta no lleva a ningún lado</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Revelar pistas </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Usar jerga</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Revelar sesgos personales</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Hablar en lugar de escuchar</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Suponer cualquier cosa acerca del tema o del entrevistado</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Usar grabadores (debilidad al escuchar)</a:t>
            </a:r>
          </a:p>
          <a:p>
            <a:endParaRPr lang="es-ES" dirty="0"/>
          </a:p>
        </p:txBody>
      </p:sp>
    </p:spTree>
    <p:extLst>
      <p:ext uri="{BB962C8B-B14F-4D97-AF65-F5344CB8AC3E}">
        <p14:creationId xmlns:p14="http://schemas.microsoft.com/office/powerpoint/2010/main" val="40091736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8279FDA8-5253-5DAA-EAA5-5F645B2BA31D}"/>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CFFB4B41-9492-598E-AB9D-56521BF409E3}"/>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CE05CF8E-C83D-74C4-9CFA-E254F43B5D78}"/>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93D678FF-172B-5326-2B3A-3CCA0C27CB6B}"/>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AFAA0392-B213-1466-A5AB-4515CA15E18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67</a:t>
            </a:fld>
            <a:endParaRPr lang="es-ES"/>
          </a:p>
        </p:txBody>
      </p:sp>
      <p:sp>
        <p:nvSpPr>
          <p:cNvPr id="6" name="Google Shape;149;g1f30b4104d4_0_0">
            <a:extLst>
              <a:ext uri="{FF2B5EF4-FFF2-40B4-BE49-F238E27FC236}">
                <a16:creationId xmlns:a16="http://schemas.microsoft.com/office/drawing/2014/main" id="{13313EF9-1AE7-7CDA-A692-7E998EC392F5}"/>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Conducción de la entrevista (</a:t>
            </a:r>
            <a:r>
              <a:rPr lang="es-ES" sz="2800" i="1" dirty="0">
                <a:latin typeface="Calibri"/>
                <a:ea typeface="Calibri"/>
                <a:cs typeface="Calibri"/>
                <a:sym typeface="Calibri"/>
              </a:rPr>
              <a:t>Whitten-Bentley</a:t>
            </a:r>
            <a:r>
              <a:rPr lang="es-ES" sz="2800" dirty="0">
                <a:latin typeface="Calibri"/>
                <a:ea typeface="Calibri"/>
                <a:cs typeface="Calibri"/>
                <a:sym typeface="Calibri"/>
              </a:rPr>
              <a:t>)</a:t>
            </a:r>
          </a:p>
          <a:p>
            <a:pPr marL="914400" lvl="1" indent="-457200" algn="just">
              <a:spcBef>
                <a:spcPts val="0"/>
              </a:spcBef>
              <a:spcAft>
                <a:spcPts val="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Seguimiento de la entrevista</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Enviar al entrevistado un resumen de la entrevista, permitiendo aclarar cualquier cosa que no se haya entendido durante la entrevista</a:t>
            </a:r>
          </a:p>
          <a:p>
            <a:pPr marL="914400" lvl="1" indent="-457200" algn="just">
              <a:spcBef>
                <a:spcPts val="600"/>
              </a:spcBef>
              <a:spcAft>
                <a:spcPts val="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Cómo escuchar</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Saber escuchar es la parte más importante del proceso de una entrevista</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Se debe diferenciar entre oír y escuchar</a:t>
            </a:r>
          </a:p>
        </p:txBody>
      </p:sp>
      <p:sp>
        <p:nvSpPr>
          <p:cNvPr id="7" name="CuadroTexto 6">
            <a:extLst>
              <a:ext uri="{FF2B5EF4-FFF2-40B4-BE49-F238E27FC236}">
                <a16:creationId xmlns:a16="http://schemas.microsoft.com/office/drawing/2014/main" id="{88905DC8-84F1-3B23-63DD-3E437C1092C9}"/>
              </a:ext>
            </a:extLst>
          </p:cNvPr>
          <p:cNvSpPr txBox="1"/>
          <p:nvPr/>
        </p:nvSpPr>
        <p:spPr>
          <a:xfrm>
            <a:off x="5393410" y="6076950"/>
            <a:ext cx="6847803" cy="277064"/>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Whitten-Bentley, Análisis de Sistemas Diseño y Métodos, Capítulo 5, Mc Graw Hill 2008</a:t>
            </a:r>
          </a:p>
        </p:txBody>
      </p:sp>
      <p:pic>
        <p:nvPicPr>
          <p:cNvPr id="8" name="Google Shape;1100;p141" descr="Desarrollo de la auditoría. Realizar entrevistas (2/2)">
            <a:extLst>
              <a:ext uri="{FF2B5EF4-FFF2-40B4-BE49-F238E27FC236}">
                <a16:creationId xmlns:a16="http://schemas.microsoft.com/office/drawing/2014/main" id="{B600FC1C-8DB7-3B2A-E2FC-171C313C294C}"/>
              </a:ext>
            </a:extLst>
          </p:cNvPr>
          <p:cNvPicPr preferRelativeResize="0"/>
          <p:nvPr/>
        </p:nvPicPr>
        <p:blipFill rotWithShape="1">
          <a:blip r:embed="rId3"/>
          <a:srcRect/>
          <a:stretch/>
        </p:blipFill>
        <p:spPr>
          <a:xfrm>
            <a:off x="9941205" y="4293030"/>
            <a:ext cx="1450049" cy="1783920"/>
          </a:xfrm>
          <a:prstGeom prst="rect">
            <a:avLst/>
          </a:prstGeom>
        </p:spPr>
      </p:pic>
    </p:spTree>
    <p:extLst>
      <p:ext uri="{BB962C8B-B14F-4D97-AF65-F5344CB8AC3E}">
        <p14:creationId xmlns:p14="http://schemas.microsoft.com/office/powerpoint/2010/main" val="11696130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08778013-616C-2176-24A1-B22B71D42C7D}"/>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FE64426A-97CE-0214-23D5-2003CC7927D4}"/>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29FA8885-1D84-FDCE-2F8D-78D83C1E9530}"/>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E546229-AD11-119F-2FF4-F89D77B0A076}"/>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156D85F4-9E8B-3603-9584-C94D95A5E4A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68</a:t>
            </a:fld>
            <a:endParaRPr lang="es-ES"/>
          </a:p>
        </p:txBody>
      </p:sp>
      <p:sp>
        <p:nvSpPr>
          <p:cNvPr id="6" name="Google Shape;149;g1f30b4104d4_0_0">
            <a:extLst>
              <a:ext uri="{FF2B5EF4-FFF2-40B4-BE49-F238E27FC236}">
                <a16:creationId xmlns:a16="http://schemas.microsoft.com/office/drawing/2014/main" id="{CAC56B9D-1361-150E-43AE-6BAF8FB11EE3}"/>
              </a:ext>
            </a:extLst>
          </p:cNvPr>
          <p:cNvSpPr/>
          <p:nvPr/>
        </p:nvSpPr>
        <p:spPr>
          <a:xfrm>
            <a:off x="1087731" y="1766807"/>
            <a:ext cx="10170042" cy="4881966"/>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400" dirty="0">
                <a:latin typeface="Calibri"/>
                <a:ea typeface="Calibri"/>
                <a:cs typeface="Calibri"/>
                <a:sym typeface="Calibri"/>
              </a:rPr>
              <a:t>Conducción de la entrevista (</a:t>
            </a:r>
            <a:r>
              <a:rPr lang="es-ES" sz="2400" i="1" dirty="0">
                <a:latin typeface="Calibri"/>
                <a:ea typeface="Calibri"/>
                <a:cs typeface="Calibri"/>
                <a:sym typeface="Calibri"/>
              </a:rPr>
              <a:t>Whitten-Bentley</a:t>
            </a:r>
            <a:r>
              <a:rPr lang="es-ES" sz="2400" dirty="0">
                <a:latin typeface="Calibri"/>
                <a:ea typeface="Calibri"/>
                <a:cs typeface="Calibri"/>
                <a:sym typeface="Calibri"/>
              </a:rPr>
              <a:t>)</a:t>
            </a:r>
          </a:p>
          <a:p>
            <a:pPr marL="914400" lvl="1" indent="-457200" algn="just">
              <a:spcBef>
                <a:spcPts val="0"/>
              </a:spcBef>
              <a:spcAft>
                <a:spcPts val="0"/>
              </a:spcAft>
              <a:buClr>
                <a:srgbClr val="C00000"/>
              </a:buClr>
              <a:buSzPct val="100000"/>
              <a:buFont typeface="Noto Sans Symbols2" panose="020B0502040504020204" pitchFamily="34" charset="0"/>
              <a:buChar char="»"/>
            </a:pPr>
            <a:r>
              <a:rPr lang="es-ES" sz="2400" dirty="0">
                <a:latin typeface="Calibri"/>
                <a:ea typeface="Calibri"/>
                <a:cs typeface="Calibri"/>
                <a:sym typeface="Calibri"/>
              </a:rPr>
              <a:t>Cómo escuchar</a:t>
            </a:r>
          </a:p>
          <a:p>
            <a:pPr marL="1069975" lvl="1" algn="just">
              <a:spcBef>
                <a:spcPts val="0"/>
              </a:spcBef>
              <a:spcAft>
                <a:spcPts val="0"/>
              </a:spcAft>
              <a:buClr>
                <a:srgbClr val="C00000"/>
              </a:buClr>
              <a:buSzPct val="100000"/>
            </a:pPr>
            <a:r>
              <a:rPr lang="es-ES" sz="2000" dirty="0">
                <a:latin typeface="Calibri"/>
                <a:ea typeface="Calibri"/>
                <a:cs typeface="Calibri"/>
                <a:sym typeface="Calibri"/>
              </a:rPr>
              <a:t>Llegue con actitud positiva</a:t>
            </a:r>
          </a:p>
          <a:p>
            <a:pPr marL="1255713" lvl="1" algn="just">
              <a:spcBef>
                <a:spcPts val="0"/>
              </a:spcBef>
              <a:spcAft>
                <a:spcPts val="0"/>
              </a:spcAft>
              <a:buClr>
                <a:srgbClr val="C00000"/>
              </a:buClr>
              <a:buSzPct val="100000"/>
            </a:pPr>
            <a:r>
              <a:rPr lang="es-ES" i="1" dirty="0">
                <a:latin typeface="Calibri"/>
                <a:ea typeface="Calibri"/>
                <a:cs typeface="Calibri"/>
                <a:sym typeface="Calibri"/>
              </a:rPr>
              <a:t>Mejora el canal de comunicación </a:t>
            </a:r>
          </a:p>
          <a:p>
            <a:pPr marL="1069975" lvl="1" algn="just">
              <a:spcBef>
                <a:spcPts val="0"/>
              </a:spcBef>
              <a:spcAft>
                <a:spcPts val="0"/>
              </a:spcAft>
              <a:buClr>
                <a:srgbClr val="C00000"/>
              </a:buClr>
              <a:buSzPct val="100000"/>
            </a:pPr>
            <a:r>
              <a:rPr lang="es-ES" sz="2000" dirty="0">
                <a:latin typeface="Calibri"/>
                <a:ea typeface="Calibri"/>
                <a:cs typeface="Calibri"/>
                <a:sym typeface="Calibri"/>
              </a:rPr>
              <a:t>Haga que la otra persona se tranquilice</a:t>
            </a:r>
          </a:p>
          <a:p>
            <a:pPr marL="1255713" lvl="1" algn="just">
              <a:spcBef>
                <a:spcPts val="0"/>
              </a:spcBef>
              <a:spcAft>
                <a:spcPts val="0"/>
              </a:spcAft>
              <a:buClr>
                <a:srgbClr val="C00000"/>
              </a:buClr>
              <a:buSzPct val="100000"/>
            </a:pPr>
            <a:r>
              <a:rPr lang="es-ES" i="1" dirty="0">
                <a:latin typeface="Calibri"/>
                <a:ea typeface="Calibri"/>
                <a:cs typeface="Calibri"/>
                <a:sym typeface="Calibri"/>
              </a:rPr>
              <a:t>Romper el hielo con cuestiones cotidianas</a:t>
            </a:r>
          </a:p>
          <a:p>
            <a:pPr marL="1069975" lvl="1" algn="just">
              <a:spcBef>
                <a:spcPts val="0"/>
              </a:spcBef>
              <a:spcAft>
                <a:spcPts val="0"/>
              </a:spcAft>
              <a:buClr>
                <a:srgbClr val="C00000"/>
              </a:buClr>
              <a:buSzPct val="100000"/>
            </a:pPr>
            <a:r>
              <a:rPr lang="es-ES" sz="2000" dirty="0">
                <a:latin typeface="Calibri"/>
                <a:ea typeface="Calibri"/>
                <a:cs typeface="Calibri"/>
                <a:sym typeface="Calibri"/>
              </a:rPr>
              <a:t>Haga ver que está escuchando lo que dice</a:t>
            </a:r>
          </a:p>
          <a:p>
            <a:pPr marL="1255713" lvl="1" algn="just">
              <a:spcBef>
                <a:spcPts val="0"/>
              </a:spcBef>
              <a:spcAft>
                <a:spcPts val="0"/>
              </a:spcAft>
              <a:buClr>
                <a:srgbClr val="C00000"/>
              </a:buClr>
              <a:buSzPct val="100000"/>
            </a:pPr>
            <a:r>
              <a:rPr lang="es-ES" i="1" dirty="0">
                <a:latin typeface="Calibri"/>
                <a:ea typeface="Calibri"/>
                <a:cs typeface="Calibri"/>
                <a:sym typeface="Calibri"/>
              </a:rPr>
              <a:t>Mantener el contacto visual, asentir con la cabeza, emitir comentarios</a:t>
            </a:r>
          </a:p>
          <a:p>
            <a:pPr marL="1069975" lvl="1" algn="just">
              <a:spcBef>
                <a:spcPts val="0"/>
              </a:spcBef>
              <a:spcAft>
                <a:spcPts val="0"/>
              </a:spcAft>
              <a:buClr>
                <a:srgbClr val="C00000"/>
              </a:buClr>
              <a:buSzPct val="100000"/>
            </a:pPr>
            <a:r>
              <a:rPr lang="es-ES" sz="2000" dirty="0">
                <a:latin typeface="Calibri"/>
                <a:ea typeface="Calibri"/>
                <a:cs typeface="Calibri"/>
                <a:sym typeface="Calibri"/>
              </a:rPr>
              <a:t>Haga preguntas sobre lo que dice</a:t>
            </a:r>
          </a:p>
          <a:p>
            <a:pPr marL="1255713" lvl="1" algn="just">
              <a:spcBef>
                <a:spcPts val="0"/>
              </a:spcBef>
              <a:spcAft>
                <a:spcPts val="0"/>
              </a:spcAft>
              <a:buClr>
                <a:srgbClr val="C00000"/>
              </a:buClr>
              <a:buSzPct val="100000"/>
            </a:pPr>
            <a:r>
              <a:rPr lang="es-ES" i="1" dirty="0">
                <a:latin typeface="Calibri"/>
                <a:ea typeface="Calibri"/>
                <a:cs typeface="Calibri"/>
                <a:sym typeface="Calibri"/>
              </a:rPr>
              <a:t>El entrevistado siente que le presta atención y puede ampliar su respuesta</a:t>
            </a:r>
            <a:endParaRPr lang="es-ES" sz="2000" i="1" dirty="0">
              <a:latin typeface="Calibri"/>
              <a:ea typeface="Calibri"/>
              <a:cs typeface="Calibri"/>
              <a:sym typeface="Calibri"/>
            </a:endParaRPr>
          </a:p>
          <a:p>
            <a:pPr marL="1069975" lvl="1" algn="just">
              <a:spcBef>
                <a:spcPts val="0"/>
              </a:spcBef>
              <a:spcAft>
                <a:spcPts val="0"/>
              </a:spcAft>
              <a:buClr>
                <a:srgbClr val="C00000"/>
              </a:buClr>
              <a:buSzPct val="100000"/>
            </a:pPr>
            <a:r>
              <a:rPr lang="es-ES" sz="2000" dirty="0">
                <a:latin typeface="Calibri"/>
                <a:ea typeface="Calibri"/>
                <a:cs typeface="Calibri"/>
                <a:sym typeface="Calibri"/>
              </a:rPr>
              <a:t>No haga suposiciones</a:t>
            </a:r>
          </a:p>
          <a:p>
            <a:pPr marL="1255713" lvl="1" algn="just">
              <a:spcBef>
                <a:spcPts val="0"/>
              </a:spcBef>
              <a:spcAft>
                <a:spcPts val="0"/>
              </a:spcAft>
              <a:buClr>
                <a:srgbClr val="C00000"/>
              </a:buClr>
              <a:buSzPct val="100000"/>
            </a:pPr>
            <a:r>
              <a:rPr lang="es-ES" i="1" dirty="0">
                <a:latin typeface="Calibri"/>
                <a:ea typeface="Calibri"/>
                <a:cs typeface="Calibri"/>
                <a:sym typeface="Calibri"/>
              </a:rPr>
              <a:t>Escuche todo lo que el entrevistado tiene que explicar</a:t>
            </a:r>
          </a:p>
          <a:p>
            <a:pPr marL="1069975" lvl="1" algn="just">
              <a:spcBef>
                <a:spcPts val="0"/>
              </a:spcBef>
              <a:spcAft>
                <a:spcPts val="0"/>
              </a:spcAft>
              <a:buClr>
                <a:srgbClr val="C00000"/>
              </a:buClr>
              <a:buSzPct val="100000"/>
            </a:pPr>
            <a:r>
              <a:rPr lang="es-ES" sz="2000" dirty="0">
                <a:latin typeface="Calibri"/>
                <a:ea typeface="Calibri"/>
                <a:cs typeface="Calibri"/>
                <a:sym typeface="Calibri"/>
              </a:rPr>
              <a:t>Tome nota</a:t>
            </a:r>
          </a:p>
          <a:p>
            <a:pPr marL="1255713" lvl="1" algn="just">
              <a:spcBef>
                <a:spcPts val="0"/>
              </a:spcBef>
              <a:spcAft>
                <a:spcPts val="0"/>
              </a:spcAft>
              <a:buClr>
                <a:srgbClr val="C00000"/>
              </a:buClr>
              <a:buSzPct val="100000"/>
            </a:pPr>
            <a:r>
              <a:rPr lang="es-ES" i="1" dirty="0">
                <a:latin typeface="Calibri"/>
                <a:ea typeface="Calibri"/>
                <a:cs typeface="Calibri"/>
                <a:sym typeface="Calibri"/>
              </a:rPr>
              <a:t>El entrevistado percibe que está siendo escuchado</a:t>
            </a:r>
          </a:p>
        </p:txBody>
      </p:sp>
      <p:sp>
        <p:nvSpPr>
          <p:cNvPr id="7" name="CuadroTexto 6">
            <a:extLst>
              <a:ext uri="{FF2B5EF4-FFF2-40B4-BE49-F238E27FC236}">
                <a16:creationId xmlns:a16="http://schemas.microsoft.com/office/drawing/2014/main" id="{B12A2B88-906A-2B70-5AFE-7B8A4DF148EB}"/>
              </a:ext>
            </a:extLst>
          </p:cNvPr>
          <p:cNvSpPr txBox="1"/>
          <p:nvPr/>
        </p:nvSpPr>
        <p:spPr>
          <a:xfrm>
            <a:off x="5393410" y="6076950"/>
            <a:ext cx="6847803" cy="277064"/>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Whitten-Bentley, Análisis de Sistemas Diseño y Métodos, Capítulo 5, Mc Graw Hill 2008</a:t>
            </a:r>
          </a:p>
        </p:txBody>
      </p:sp>
    </p:spTree>
    <p:extLst>
      <p:ext uri="{BB962C8B-B14F-4D97-AF65-F5344CB8AC3E}">
        <p14:creationId xmlns:p14="http://schemas.microsoft.com/office/powerpoint/2010/main" val="3308190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46">
          <a:extLst>
            <a:ext uri="{FF2B5EF4-FFF2-40B4-BE49-F238E27FC236}">
              <a16:creationId xmlns:a16="http://schemas.microsoft.com/office/drawing/2014/main" id="{257761BE-257C-B45F-948D-49DD725C07F9}"/>
            </a:ext>
          </a:extLst>
        </p:cNvPr>
        <p:cNvGrpSpPr/>
        <p:nvPr/>
      </p:nvGrpSpPr>
      <p:grpSpPr>
        <a:xfrm>
          <a:off x="0" y="0"/>
          <a:ext cx="0" cy="0"/>
          <a:chOff x="0" y="0"/>
          <a:chExt cx="0" cy="0"/>
        </a:xfrm>
      </p:grpSpPr>
      <p:sp>
        <p:nvSpPr>
          <p:cNvPr id="147" name="Google Shape;147;g1f30b4104d4_0_0">
            <a:extLst>
              <a:ext uri="{FF2B5EF4-FFF2-40B4-BE49-F238E27FC236}">
                <a16:creationId xmlns:a16="http://schemas.microsoft.com/office/drawing/2014/main" id="{DB5CC59F-4937-9BB5-8112-A535E3CC333F}"/>
              </a:ext>
            </a:extLst>
          </p:cNvPr>
          <p:cNvSpPr txBox="1">
            <a:spLocks noGrp="1"/>
          </p:cNvSpPr>
          <p:nvPr>
            <p:ph type="title"/>
          </p:nvPr>
        </p:nvSpPr>
        <p:spPr>
          <a:xfrm>
            <a:off x="1091253" y="1131376"/>
            <a:ext cx="10300001" cy="635431"/>
          </a:xfrm>
          <a:prstGeom prst="rect">
            <a:avLst/>
          </a:prstGeom>
          <a:noFill/>
          <a:ln>
            <a:noFill/>
          </a:ln>
        </p:spPr>
        <p:txBody>
          <a:bodyPr spcFirstLastPara="1" vert="horz" wrap="square" lIns="71982" tIns="35982" rIns="71982" bIns="35982" rtlCol="0" anchor="t" anchorCtr="0">
            <a:normAutofit/>
          </a:bodyPr>
          <a:lstStyle/>
          <a:p>
            <a:pPr>
              <a:lnSpc>
                <a:spcPct val="84000"/>
              </a:lnSpc>
              <a:spcBef>
                <a:spcPts val="0"/>
              </a:spcBef>
              <a:spcAft>
                <a:spcPts val="0"/>
              </a:spcAft>
              <a:buClr>
                <a:schemeClr val="dk1"/>
              </a:buClr>
              <a:buSzPts val="6827"/>
            </a:pPr>
            <a:r>
              <a:rPr lang="es-ES" sz="4400" dirty="0">
                <a:solidFill>
                  <a:schemeClr val="dk1"/>
                </a:solidFill>
                <a:latin typeface="Calibri"/>
                <a:ea typeface="Calibri"/>
                <a:cs typeface="Calibri"/>
                <a:sym typeface="Calibri"/>
              </a:rPr>
              <a:t>Métodos interactivos - Entrevistas</a:t>
            </a:r>
            <a:endParaRPr sz="4400" dirty="0">
              <a:solidFill>
                <a:schemeClr val="dk1"/>
              </a:solidFill>
              <a:latin typeface="Calibri"/>
              <a:ea typeface="Calibri"/>
              <a:cs typeface="Calibri"/>
              <a:sym typeface="Calibri"/>
            </a:endParaRPr>
          </a:p>
        </p:txBody>
      </p:sp>
      <p:sp>
        <p:nvSpPr>
          <p:cNvPr id="2" name="Marcador de fecha 1">
            <a:extLst>
              <a:ext uri="{FF2B5EF4-FFF2-40B4-BE49-F238E27FC236}">
                <a16:creationId xmlns:a16="http://schemas.microsoft.com/office/drawing/2014/main" id="{513DE303-0C35-16AA-4DD5-5DFEAFC66CC4}"/>
              </a:ext>
            </a:extLst>
          </p:cNvPr>
          <p:cNvSpPr>
            <a:spLocks noGrp="1"/>
          </p:cNvSpPr>
          <p:nvPr>
            <p:ph type="dt" sz="half" idx="10"/>
          </p:nvPr>
        </p:nvSpPr>
        <p:spPr/>
        <p:txBody>
          <a:bodyPr/>
          <a:lstStyle/>
          <a:p>
            <a:r>
              <a:rPr lang="es-ES"/>
              <a:t>2026</a:t>
            </a:r>
          </a:p>
        </p:txBody>
      </p:sp>
      <p:sp>
        <p:nvSpPr>
          <p:cNvPr id="3" name="Marcador de pie de página 2">
            <a:extLst>
              <a:ext uri="{FF2B5EF4-FFF2-40B4-BE49-F238E27FC236}">
                <a16:creationId xmlns:a16="http://schemas.microsoft.com/office/drawing/2014/main" id="{EAB19B02-67C0-B3B1-D4B0-6101911FE25E}"/>
              </a:ext>
            </a:extLst>
          </p:cNvPr>
          <p:cNvSpPr>
            <a:spLocks noGrp="1"/>
          </p:cNvSpPr>
          <p:nvPr>
            <p:ph type="ftr" sz="quarter" idx="11"/>
          </p:nvPr>
        </p:nvSpPr>
        <p:spPr/>
        <p:txBody>
          <a:bodyPr/>
          <a:lstStyle/>
          <a:p>
            <a:r>
              <a:rPr lang="es-ES"/>
              <a:t>INGENIERÍA DE SOFTWARE I</a:t>
            </a:r>
          </a:p>
        </p:txBody>
      </p:sp>
      <p:sp>
        <p:nvSpPr>
          <p:cNvPr id="4" name="Marcador de número de diapositiva 3">
            <a:extLst>
              <a:ext uri="{FF2B5EF4-FFF2-40B4-BE49-F238E27FC236}">
                <a16:creationId xmlns:a16="http://schemas.microsoft.com/office/drawing/2014/main" id="{65D5F204-CA5F-F110-3385-A439C9F1116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69</a:t>
            </a:fld>
            <a:endParaRPr lang="es-ES"/>
          </a:p>
        </p:txBody>
      </p:sp>
      <p:sp>
        <p:nvSpPr>
          <p:cNvPr id="6" name="Google Shape;149;g1f30b4104d4_0_0">
            <a:extLst>
              <a:ext uri="{FF2B5EF4-FFF2-40B4-BE49-F238E27FC236}">
                <a16:creationId xmlns:a16="http://schemas.microsoft.com/office/drawing/2014/main" id="{C31FC09C-C7AB-71C2-C455-6DA37123BFBC}"/>
              </a:ext>
            </a:extLst>
          </p:cNvPr>
          <p:cNvSpPr/>
          <p:nvPr/>
        </p:nvSpPr>
        <p:spPr>
          <a:xfrm>
            <a:off x="1087731" y="1906291"/>
            <a:ext cx="10170042" cy="4338929"/>
          </a:xfrm>
          <a:prstGeom prst="rect">
            <a:avLst/>
          </a:prstGeom>
          <a:noFill/>
          <a:ln>
            <a:noFill/>
          </a:ln>
        </p:spPr>
        <p:txBody>
          <a:bodyPr spcFirstLastPara="1" wrap="square" lIns="90000" tIns="45000" rIns="90000" bIns="45000" anchor="t" anchorCtr="0">
            <a:noAutofit/>
          </a:bodyPr>
          <a:lstStyle/>
          <a:p>
            <a:pPr marL="449263" indent="-449263" algn="just">
              <a:spcBef>
                <a:spcPts val="0"/>
              </a:spcBef>
              <a:spcAft>
                <a:spcPts val="0"/>
              </a:spcAft>
              <a:buClr>
                <a:srgbClr val="C00000"/>
              </a:buClr>
              <a:buSzPct val="100000"/>
              <a:buFont typeface="Noto Sans Symbols"/>
              <a:buChar char="❖"/>
            </a:pPr>
            <a:r>
              <a:rPr lang="es-ES" sz="2800" dirty="0">
                <a:latin typeface="Calibri"/>
                <a:ea typeface="Calibri"/>
                <a:cs typeface="Calibri"/>
                <a:sym typeface="Calibri"/>
              </a:rPr>
              <a:t>Conducción de la entrevista (</a:t>
            </a:r>
            <a:r>
              <a:rPr lang="es-ES" sz="2800" i="1" dirty="0">
                <a:latin typeface="Calibri"/>
                <a:ea typeface="Calibri"/>
                <a:cs typeface="Calibri"/>
                <a:sym typeface="Calibri"/>
              </a:rPr>
              <a:t>Whitten-Bentley</a:t>
            </a:r>
            <a:r>
              <a:rPr lang="es-ES" sz="2800" dirty="0">
                <a:latin typeface="Calibri"/>
                <a:ea typeface="Calibri"/>
                <a:cs typeface="Calibri"/>
                <a:sym typeface="Calibri"/>
              </a:rPr>
              <a:t>)</a:t>
            </a:r>
          </a:p>
          <a:p>
            <a:pPr marL="914400" lvl="1" indent="-457200" algn="just">
              <a:spcBef>
                <a:spcPts val="0"/>
              </a:spcBef>
              <a:spcAft>
                <a:spcPts val="0"/>
              </a:spcAft>
              <a:buClr>
                <a:srgbClr val="C00000"/>
              </a:buClr>
              <a:buSzPct val="100000"/>
              <a:buFont typeface="Noto Sans Symbols2" panose="020B0502040504020204" pitchFamily="34" charset="0"/>
              <a:buChar char="»"/>
            </a:pPr>
            <a:r>
              <a:rPr lang="es-ES" sz="2600" dirty="0">
                <a:latin typeface="Calibri"/>
                <a:ea typeface="Calibri"/>
                <a:cs typeface="Calibri"/>
                <a:sym typeface="Calibri"/>
              </a:rPr>
              <a:t>El lenguaje corporal</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Información no verbal que comunicamos</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La mayor parte de la información se expresa a través de las expresiones corporales </a:t>
            </a:r>
          </a:p>
          <a:p>
            <a:pPr marL="1069975" lvl="1" algn="just">
              <a:spcBef>
                <a:spcPts val="0"/>
              </a:spcBef>
              <a:spcAft>
                <a:spcPts val="0"/>
              </a:spcAft>
              <a:buClr>
                <a:srgbClr val="C00000"/>
              </a:buClr>
              <a:buSzPct val="100000"/>
            </a:pPr>
            <a:r>
              <a:rPr lang="es-ES" sz="2200" dirty="0">
                <a:latin typeface="Calibri"/>
                <a:ea typeface="Calibri"/>
                <a:cs typeface="Calibri"/>
                <a:sym typeface="Calibri"/>
              </a:rPr>
              <a:t>Las más importantes son:</a:t>
            </a:r>
          </a:p>
          <a:p>
            <a:pPr marL="1412875" lvl="1" indent="-342900" algn="just">
              <a:spcBef>
                <a:spcPts val="0"/>
              </a:spcBef>
              <a:spcAft>
                <a:spcPts val="0"/>
              </a:spcAft>
              <a:buSzPct val="100000"/>
              <a:buFont typeface="Arial" panose="020B0604020202020204" pitchFamily="34" charset="0"/>
              <a:buChar char="•"/>
            </a:pPr>
            <a:r>
              <a:rPr lang="es-ES" sz="2200" dirty="0">
                <a:latin typeface="Calibri"/>
                <a:ea typeface="Calibri"/>
                <a:cs typeface="Calibri"/>
                <a:sym typeface="Calibri"/>
              </a:rPr>
              <a:t>Expresiones faciales</a:t>
            </a:r>
          </a:p>
          <a:p>
            <a:pPr marL="1412875" lvl="1" indent="-342900" algn="just">
              <a:spcBef>
                <a:spcPts val="0"/>
              </a:spcBef>
              <a:spcAft>
                <a:spcPts val="0"/>
              </a:spcAft>
              <a:buSzPct val="100000"/>
              <a:buFont typeface="Arial" panose="020B0604020202020204" pitchFamily="34" charset="0"/>
              <a:buChar char="•"/>
            </a:pPr>
            <a:r>
              <a:rPr lang="es-ES" sz="2200" dirty="0">
                <a:latin typeface="Calibri"/>
                <a:ea typeface="Calibri"/>
                <a:cs typeface="Calibri"/>
                <a:sym typeface="Calibri"/>
              </a:rPr>
              <a:t>Contacto visual</a:t>
            </a:r>
          </a:p>
          <a:p>
            <a:pPr marL="1412875" lvl="1" indent="-342900" algn="just">
              <a:spcBef>
                <a:spcPts val="0"/>
              </a:spcBef>
              <a:spcAft>
                <a:spcPts val="0"/>
              </a:spcAft>
              <a:buSzPct val="100000"/>
              <a:buFont typeface="Arial" panose="020B0604020202020204" pitchFamily="34" charset="0"/>
              <a:buChar char="•"/>
            </a:pPr>
            <a:r>
              <a:rPr lang="es-ES" sz="2200" dirty="0">
                <a:latin typeface="Calibri"/>
                <a:ea typeface="Calibri"/>
                <a:cs typeface="Calibri"/>
                <a:sym typeface="Calibri"/>
              </a:rPr>
              <a:t>Postura</a:t>
            </a:r>
          </a:p>
        </p:txBody>
      </p:sp>
      <p:sp>
        <p:nvSpPr>
          <p:cNvPr id="7" name="CuadroTexto 6">
            <a:extLst>
              <a:ext uri="{FF2B5EF4-FFF2-40B4-BE49-F238E27FC236}">
                <a16:creationId xmlns:a16="http://schemas.microsoft.com/office/drawing/2014/main" id="{A4303F8F-122D-4A11-9D74-801688C6ED03}"/>
              </a:ext>
            </a:extLst>
          </p:cNvPr>
          <p:cNvSpPr txBox="1"/>
          <p:nvPr/>
        </p:nvSpPr>
        <p:spPr>
          <a:xfrm>
            <a:off x="5393410" y="6076950"/>
            <a:ext cx="6847803" cy="277064"/>
          </a:xfrm>
          <a:prstGeom prst="rect">
            <a:avLst/>
          </a:prstGeom>
          <a:noFill/>
        </p:spPr>
        <p:txBody>
          <a:bodyPr wrap="square">
            <a:spAutoFit/>
          </a:bodyPr>
          <a:lstStyle/>
          <a:p>
            <a:pPr marL="260604" lvl="1" indent="-257175" algn="l" rtl="0">
              <a:lnSpc>
                <a:spcPct val="85000"/>
              </a:lnSpc>
              <a:spcBef>
                <a:spcPts val="450"/>
              </a:spcBef>
              <a:spcAft>
                <a:spcPts val="0"/>
              </a:spcAft>
              <a:buClr>
                <a:srgbClr val="262626"/>
              </a:buClr>
              <a:buSzPts val="2400"/>
              <a:buChar char=" "/>
            </a:pPr>
            <a:r>
              <a:rPr lang="es-ES" sz="1400" dirty="0"/>
              <a:t>Whitten-Bentley, Análisis de Sistemas Diseño y Métodos, Capítulo 5, Mc Graw Hill 2008</a:t>
            </a:r>
          </a:p>
        </p:txBody>
      </p:sp>
      <p:pic>
        <p:nvPicPr>
          <p:cNvPr id="9" name="Google Shape;1119;p143" descr="http://www.primerempleo.com/images/8259.gif">
            <a:extLst>
              <a:ext uri="{FF2B5EF4-FFF2-40B4-BE49-F238E27FC236}">
                <a16:creationId xmlns:a16="http://schemas.microsoft.com/office/drawing/2014/main" id="{3C9FFE67-B92A-E805-B676-151CC3932AF6}"/>
              </a:ext>
            </a:extLst>
          </p:cNvPr>
          <p:cNvPicPr preferRelativeResize="0"/>
          <p:nvPr/>
        </p:nvPicPr>
        <p:blipFill rotWithShape="1">
          <a:blip r:embed="rId3">
            <a:alphaModFix/>
          </a:blip>
          <a:srcRect/>
          <a:stretch/>
        </p:blipFill>
        <p:spPr>
          <a:xfrm>
            <a:off x="8433191" y="4149081"/>
            <a:ext cx="2958063" cy="1610519"/>
          </a:xfrm>
          <a:prstGeom prst="rect">
            <a:avLst/>
          </a:prstGeom>
          <a:noFill/>
          <a:ln>
            <a:noFill/>
          </a:ln>
        </p:spPr>
      </p:pic>
    </p:spTree>
    <p:extLst>
      <p:ext uri="{BB962C8B-B14F-4D97-AF65-F5344CB8AC3E}">
        <p14:creationId xmlns:p14="http://schemas.microsoft.com/office/powerpoint/2010/main" val="33105404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Retrospección">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2026 Clase 1_Comunicacion_SRS.pptx" id="{F39401A9-85DB-4349-A76B-94D95506DA4C}" vid="{1FC3EF6D-30C9-4320-8FF3-A71339F5A8A3}"/>
    </a:ext>
  </a:ext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2026 Ingenieria de software 2</Template>
  <TotalTime>348</TotalTime>
  <Words>4554</Words>
  <Application>Microsoft Office PowerPoint</Application>
  <PresentationFormat>Personalizado</PresentationFormat>
  <Paragraphs>872</Paragraphs>
  <Slides>69</Slides>
  <Notes>69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69</vt:i4>
      </vt:variant>
    </vt:vector>
  </HeadingPairs>
  <TitlesOfParts>
    <vt:vector size="77" baseType="lpstr">
      <vt:lpstr>Arial</vt:lpstr>
      <vt:lpstr>Calibri</vt:lpstr>
      <vt:lpstr>Courier New</vt:lpstr>
      <vt:lpstr>Libre Franklin</vt:lpstr>
      <vt:lpstr>Noto Sans Symbols</vt:lpstr>
      <vt:lpstr>Noto Sans Symbols2</vt:lpstr>
      <vt:lpstr>Wingdings</vt:lpstr>
      <vt:lpstr>Retrospección</vt:lpstr>
      <vt:lpstr>Ingeniería de Software I</vt:lpstr>
      <vt:lpstr>Ingeniería de Software I </vt:lpstr>
      <vt:lpstr>Horarios</vt:lpstr>
      <vt:lpstr>Acceso a Moodle MFI</vt:lpstr>
      <vt:lpstr>Aprobación de cursada</vt:lpstr>
      <vt:lpstr>Aprobación final de la materia</vt:lpstr>
      <vt:lpstr>Contenidos genéricos del curso</vt:lpstr>
      <vt:lpstr>Bibliografía de la materia</vt:lpstr>
      <vt:lpstr>Conceptos de Ingeniería de Software</vt:lpstr>
      <vt:lpstr>Software - Definición</vt:lpstr>
      <vt:lpstr>Software - Características</vt:lpstr>
      <vt:lpstr>Software - Características</vt:lpstr>
      <vt:lpstr>Tipos de producto de Software</vt:lpstr>
      <vt:lpstr>Tipos de producto de SW – Software Libre</vt:lpstr>
      <vt:lpstr>Clasificación del Software</vt:lpstr>
      <vt:lpstr>Software - Retos</vt:lpstr>
      <vt:lpstr>Software - Retos</vt:lpstr>
      <vt:lpstr>Ingeniería de Software </vt:lpstr>
      <vt:lpstr>Ingeniería de Software </vt:lpstr>
      <vt:lpstr>Ingeniería de Software </vt:lpstr>
      <vt:lpstr>Participantes en el desarrollo de Software </vt:lpstr>
      <vt:lpstr>Un poco de historia sobre la IS</vt:lpstr>
      <vt:lpstr>Un poco de historia sobre la IS</vt:lpstr>
      <vt:lpstr>Características de un Ingeniero/a de SW</vt:lpstr>
      <vt:lpstr>Responsabilidad profesional y ética</vt:lpstr>
      <vt:lpstr>Responsabilidad profesional y ética</vt:lpstr>
      <vt:lpstr>Técnicas de comunicación</vt:lpstr>
      <vt:lpstr>El problema de la comunicación</vt:lpstr>
      <vt:lpstr>¿Qué vemos?</vt:lpstr>
      <vt:lpstr>La comunicación</vt:lpstr>
      <vt:lpstr>Requerimientos</vt:lpstr>
      <vt:lpstr>Stakeholder</vt:lpstr>
      <vt:lpstr>Fuentes de Requerimientos</vt:lpstr>
      <vt:lpstr>Puntos de vista</vt:lpstr>
      <vt:lpstr>Puntos de vista</vt:lpstr>
      <vt:lpstr>Elicitación de Requerimientos</vt:lpstr>
      <vt:lpstr>Elicitación de Requerimientos</vt:lpstr>
      <vt:lpstr>Problemas de comunicación</vt:lpstr>
      <vt:lpstr>Problemas de comunicación</vt:lpstr>
      <vt:lpstr>Técnicas de Elicitación</vt:lpstr>
      <vt:lpstr>Métodos interactivos</vt:lpstr>
      <vt:lpstr>Métodos interactivos - Cuestionarios</vt:lpstr>
      <vt:lpstr>Métodos interactivos - Cuestionarios</vt:lpstr>
      <vt:lpstr>Métodos interactivos - Cuestionarios</vt:lpstr>
      <vt:lpstr>Métodos interactivos - Cuestionarios</vt:lpstr>
      <vt:lpstr>Métodos interactivos - Cuestionarios</vt:lpstr>
      <vt:lpstr>Métodos interactivos - Cuestionarios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lpstr>Métodos interactivos - Entrevistas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Ariel</dc:creator>
  <cp:lastModifiedBy>Rocio Muñoz</cp:lastModifiedBy>
  <cp:revision>71</cp:revision>
  <dcterms:created xsi:type="dcterms:W3CDTF">2011-08-01T13:16:26Z</dcterms:created>
  <dcterms:modified xsi:type="dcterms:W3CDTF">2026-08-17T22:03:00Z</dcterms:modified>
</cp:coreProperties>
</file>