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Lst>
  <p:sldSz cx="12192000" cy="6858000"/>
  <p:notesSz cx="9144000" cy="6858000"/>
  <p:embeddedFontLst>
    <p:embeddedFont>
      <p:font typeface="Gill Sans" panose="020B0604020202020204" charset="0"/>
      <p:regular r:id="rId46"/>
      <p:bold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j0vc9hc3uFVRcKDn/zuwM8N7zIL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396"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56"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25:notes"/>
          <p:cNvSpPr>
            <a:spLocks noGrp="1" noRot="1" noChangeAspect="1"/>
          </p:cNvSpPr>
          <p:nvPr>
            <p:ph type="sldImg" idx="2"/>
          </p:nvPr>
        </p:nvSpPr>
        <p:spPr>
          <a:xfrm>
            <a:off x="107950" y="741363"/>
            <a:ext cx="65817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12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24" name="Google Shape;124;p125: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s-ES"/>
              <a:t>1</a:t>
            </a:fld>
            <a:endParaRPr/>
          </a:p>
        </p:txBody>
      </p:sp>
      <p:sp>
        <p:nvSpPr>
          <p:cNvPr id="125" name="Google Shape;125;p125: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SzPts val="1400"/>
              <a:buNone/>
            </a:pPr>
            <a:endParaRPr>
              <a:solidFill>
                <a:srgbClr val="000000"/>
              </a:solidFill>
            </a:endParaRPr>
          </a:p>
        </p:txBody>
      </p:sp>
      <p:sp>
        <p:nvSpPr>
          <p:cNvPr id="126" name="Google Shape;126;p125: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r>
              <a:rPr lang="es-ES">
                <a:solidFill>
                  <a:srgbClr val="000000"/>
                </a:solidFill>
              </a:rPr>
              <a:t>Ingeniera de Software I </a:t>
            </a:r>
            <a:endParaRPr>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notes"/>
          <p:cNvSpPr txBox="1"/>
          <p:nvPr/>
        </p:nvSpPr>
        <p:spPr>
          <a:xfrm>
            <a:off x="4278960" y="10157400"/>
            <a:ext cx="3280680" cy="53424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ES"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Arial"/>
              <a:ea typeface="Arial"/>
              <a:cs typeface="Arial"/>
              <a:sym typeface="Arial"/>
            </a:endParaRPr>
          </a:p>
        </p:txBody>
      </p:sp>
      <p:sp>
        <p:nvSpPr>
          <p:cNvPr id="136" name="Google Shape;13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 name="Google Shape;137;p1:notes"/>
          <p:cNvSpPr txBox="1">
            <a:spLocks noGrp="1"/>
          </p:cNvSpPr>
          <p:nvPr>
            <p:ph type="body" idx="1"/>
          </p:nvPr>
        </p:nvSpPr>
        <p:spPr>
          <a:xfrm>
            <a:off x="685800" y="4343400"/>
            <a:ext cx="5485680" cy="4114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sz="2000" b="0" strike="noStrike">
              <a:latin typeface="Arial"/>
              <a:ea typeface="Arial"/>
              <a:cs typeface="Arial"/>
              <a:sym typeface="Arial"/>
            </a:endParaRPr>
          </a:p>
        </p:txBody>
      </p:sp>
      <p:sp>
        <p:nvSpPr>
          <p:cNvPr id="138" name="Google Shape;138;p1:notes"/>
          <p:cNvSpPr/>
          <p:nvPr/>
        </p:nvSpPr>
        <p:spPr>
          <a:xfrm>
            <a:off x="3884760" y="8685360"/>
            <a:ext cx="2971080" cy="456480"/>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rgbClr val="000000"/>
                </a:solidFill>
                <a:latin typeface="Arial"/>
                <a:ea typeface="Arial"/>
                <a:cs typeface="Arial"/>
                <a:sym typeface="Arial"/>
              </a:rPr>
              <a:t>2</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 name="Google Shape;150;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73:notes"/>
          <p:cNvSpPr txBox="1">
            <a:spLocks noGrp="1"/>
          </p:cNvSpPr>
          <p:nvPr>
            <p:ph type="body" idx="1"/>
          </p:nvPr>
        </p:nvSpPr>
        <p:spPr>
          <a:xfrm>
            <a:off x="679450" y="4691063"/>
            <a:ext cx="5438700" cy="4443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73:notes"/>
          <p:cNvSpPr>
            <a:spLocks noGrp="1" noRot="1" noChangeAspect="1"/>
          </p:cNvSpPr>
          <p:nvPr>
            <p:ph type="sldImg" idx="2"/>
          </p:nvPr>
        </p:nvSpPr>
        <p:spPr>
          <a:xfrm>
            <a:off x="107950" y="741363"/>
            <a:ext cx="6581775"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8" name="Google Shape;198;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9" name="Google Shape;209;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9" name="Google Shape;219;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0" name="Google Shape;220;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f401fdffe8_0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f401fdffe8_0_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g3f401fdffe8_0_0: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f401fdffe8_0_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f401fdffe8_0_7: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g3f401fdffe8_0_7: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7" name="Google Shape;27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9" name="Google Shape;289;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9" name="Google Shape;299;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0" name="Google Shape;300;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3f401fdffe8_0_1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9" name="Google Shape;309;g3f401fdffe8_0_19: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g3f401fdffe8_0_19: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s-E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4" name="Google Shape;334;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6" name="Google Shape;346;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7" name="Google Shape;357;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6" name="Google Shape;376;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7" name="Google Shape;377;p3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7" name="Google Shape;387;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8" name="Google Shape;388;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3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7" name="Google Shape;397;p3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9" name="Google Shape;419;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0" name="Google Shape;420;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1" name="Google Shape;431;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p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1" name="Google Shape;441;p8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0" name="Google Shape;450;p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1" name="Google Shape;451;p8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0" name="Google Shape;460;p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1" name="Google Shape;461;p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1" name="Google Shape;471;p8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1" name="Google Shape;481;p9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4" name="Google Shape;494;p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5" name="Google Shape;495;p9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6" name="Google Shape;506;p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7" name="Google Shape;507;p9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7" name="Google Shape;517;p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8" name="Google Shape;518;p9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8" name="Google Shape;528;p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9" name="Google Shape;529;p9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9" name="Google Shape;539;p9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0" name="Google Shape;540;p9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0" name="Google Shape;550;p9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p9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1" name="Google Shape;561;p9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2" name="Google Shape;562;p9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p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2" name="Google Shape;572;p9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3" name="Google Shape;573;p9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9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3" name="Google Shape;583;p9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s-ES"/>
              <a:t>43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a de título con pie" type="title">
  <p:cSld name="TITLE">
    <p:spTree>
      <p:nvGrpSpPr>
        <p:cNvPr id="1" name="Shape 19"/>
        <p:cNvGrpSpPr/>
        <p:nvPr/>
      </p:nvGrpSpPr>
      <p:grpSpPr>
        <a:xfrm>
          <a:off x="0" y="0"/>
          <a:ext cx="0" cy="0"/>
          <a:chOff x="0" y="0"/>
          <a:chExt cx="0" cy="0"/>
        </a:xfrm>
      </p:grpSpPr>
      <p:sp>
        <p:nvSpPr>
          <p:cNvPr id="20" name="Google Shape;20;p101"/>
          <p:cNvSpPr/>
          <p:nvPr/>
        </p:nvSpPr>
        <p:spPr>
          <a:xfrm>
            <a:off x="3175" y="6400800"/>
            <a:ext cx="12188825"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21" name="Google Shape;21;p101"/>
          <p:cNvSpPr/>
          <p:nvPr/>
        </p:nvSpPr>
        <p:spPr>
          <a:xfrm>
            <a:off x="0" y="6334125"/>
            <a:ext cx="12188825" cy="6350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cxnSp>
        <p:nvCxnSpPr>
          <p:cNvPr id="22" name="Google Shape;22;p101"/>
          <p:cNvCxnSpPr/>
          <p:nvPr/>
        </p:nvCxnSpPr>
        <p:spPr>
          <a:xfrm>
            <a:off x="1208088" y="4343400"/>
            <a:ext cx="9875837" cy="0"/>
          </a:xfrm>
          <a:prstGeom prst="straightConnector1">
            <a:avLst/>
          </a:prstGeom>
          <a:noFill/>
          <a:ln w="9525" cap="flat" cmpd="sng">
            <a:solidFill>
              <a:srgbClr val="7F7F7F"/>
            </a:solidFill>
            <a:prstDash val="solid"/>
            <a:round/>
            <a:headEnd type="none" w="sm" len="sm"/>
            <a:tailEnd type="none" w="sm" len="sm"/>
          </a:ln>
        </p:spPr>
      </p:cxnSp>
      <p:sp>
        <p:nvSpPr>
          <p:cNvPr id="23" name="Google Shape;23;p101"/>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1400"/>
              <a:buNone/>
              <a:defRPr sz="7200">
                <a:solidFill>
                  <a:srgbClr val="262626"/>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24" name="Google Shape;24;p101"/>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5" name="Google Shape;25;p10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26" name="Google Shape;26;p10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27" name="Google Shape;27;p10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 blanco">
  <p:cSld name="1_En blanco">
    <p:spTree>
      <p:nvGrpSpPr>
        <p:cNvPr id="1" name="Shape 28"/>
        <p:cNvGrpSpPr/>
        <p:nvPr/>
      </p:nvGrpSpPr>
      <p:grpSpPr>
        <a:xfrm>
          <a:off x="0" y="0"/>
          <a:ext cx="0" cy="0"/>
          <a:chOff x="0" y="0"/>
          <a:chExt cx="0" cy="0"/>
        </a:xfrm>
      </p:grpSpPr>
      <p:sp>
        <p:nvSpPr>
          <p:cNvPr id="29" name="Google Shape;29;p102"/>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sz="44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30" name="Google Shape;30;p10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31" name="Google Shape;31;p10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32" name="Google Shape;32;p10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33"/>
        <p:cNvGrpSpPr/>
        <p:nvPr/>
      </p:nvGrpSpPr>
      <p:grpSpPr>
        <a:xfrm>
          <a:off x="0" y="0"/>
          <a:ext cx="0" cy="0"/>
          <a:chOff x="0" y="0"/>
          <a:chExt cx="0" cy="0"/>
        </a:xfrm>
      </p:grpSpPr>
      <p:sp>
        <p:nvSpPr>
          <p:cNvPr id="34" name="Google Shape;34;p103"/>
          <p:cNvSpPr/>
          <p:nvPr/>
        </p:nvSpPr>
        <p:spPr>
          <a:xfrm>
            <a:off x="0" y="0"/>
            <a:ext cx="4051300"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103"/>
          <p:cNvSpPr/>
          <p:nvPr/>
        </p:nvSpPr>
        <p:spPr>
          <a:xfrm>
            <a:off x="4040188" y="0"/>
            <a:ext cx="63500"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103"/>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1400"/>
              <a:buNone/>
              <a:defRPr sz="3600" b="0">
                <a:solidFill>
                  <a:srgbClr val="FFFFFF"/>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37" name="Google Shape;37;p103"/>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8" name="Google Shape;38;p103"/>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39" name="Google Shape;39;p103"/>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40" name="Google Shape;40;p103"/>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41" name="Google Shape;41;p10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1pPr>
            <a:lvl2pPr marL="0" marR="0" lvl="1"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2pPr>
            <a:lvl3pPr marL="0" marR="0" lvl="2"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3pPr>
            <a:lvl4pPr marL="0" marR="0" lvl="3"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4pPr>
            <a:lvl5pPr marL="0" marR="0" lvl="4"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5pPr>
            <a:lvl6pPr marL="0" marR="0" lvl="5"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6pPr>
            <a:lvl7pPr marL="0" marR="0" lvl="6"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7pPr>
            <a:lvl8pPr marL="0" marR="0" lvl="7"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8pPr>
            <a:lvl9pPr marL="0" marR="0" lvl="8" indent="0" algn="r">
              <a:spcBef>
                <a:spcPts val="0"/>
              </a:spcBef>
              <a:spcAft>
                <a:spcPts val="0"/>
              </a:spcAft>
              <a:buClr>
                <a:schemeClr val="dk2"/>
              </a:buClr>
              <a:buSzPts val="1050"/>
              <a:buFont typeface="Calibri"/>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2"/>
        <p:cNvGrpSpPr/>
        <p:nvPr/>
      </p:nvGrpSpPr>
      <p:grpSpPr>
        <a:xfrm>
          <a:off x="0" y="0"/>
          <a:ext cx="0" cy="0"/>
          <a:chOff x="0" y="0"/>
          <a:chExt cx="0" cy="0"/>
        </a:xfrm>
      </p:grpSpPr>
      <p:sp>
        <p:nvSpPr>
          <p:cNvPr id="43" name="Google Shape;43;p104"/>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44" name="Google Shape;44;p10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45" name="Google Shape;45;p10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46" name="Google Shape;46;p10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En blanco" type="blank">
  <p:cSld name="BLANK">
    <p:spTree>
      <p:nvGrpSpPr>
        <p:cNvPr id="1" name="Shape 47"/>
        <p:cNvGrpSpPr/>
        <p:nvPr/>
      </p:nvGrpSpPr>
      <p:grpSpPr>
        <a:xfrm>
          <a:off x="0" y="0"/>
          <a:ext cx="0" cy="0"/>
          <a:chOff x="0" y="0"/>
          <a:chExt cx="0" cy="0"/>
        </a:xfrm>
      </p:grpSpPr>
      <p:sp>
        <p:nvSpPr>
          <p:cNvPr id="48" name="Google Shape;48;p10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105"/>
          <p:cNvSpPr/>
          <p:nvPr/>
        </p:nvSpPr>
        <p:spPr>
          <a:xfrm>
            <a:off x="0" y="6334125"/>
            <a:ext cx="12188825" cy="6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 name="Google Shape;50;p105"/>
          <p:cNvPicPr preferRelativeResize="0"/>
          <p:nvPr/>
        </p:nvPicPr>
        <p:blipFill rotWithShape="1">
          <a:blip r:embed="rId2">
            <a:alphaModFix/>
          </a:blip>
          <a:srcRect/>
          <a:stretch/>
        </p:blipFill>
        <p:spPr>
          <a:xfrm>
            <a:off x="10779125" y="177800"/>
            <a:ext cx="1206500" cy="1214438"/>
          </a:xfrm>
          <a:prstGeom prst="rect">
            <a:avLst/>
          </a:prstGeom>
          <a:noFill/>
          <a:ln>
            <a:noFill/>
          </a:ln>
        </p:spPr>
      </p:pic>
      <p:sp>
        <p:nvSpPr>
          <p:cNvPr id="51" name="Google Shape;51;p10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52" name="Google Shape;52;p10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53" name="Google Shape;53;p10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54"/>
        <p:cNvGrpSpPr/>
        <p:nvPr/>
      </p:nvGrpSpPr>
      <p:grpSpPr>
        <a:xfrm>
          <a:off x="0" y="0"/>
          <a:ext cx="0" cy="0"/>
          <a:chOff x="0" y="0"/>
          <a:chExt cx="0" cy="0"/>
        </a:xfrm>
      </p:grpSpPr>
      <p:sp>
        <p:nvSpPr>
          <p:cNvPr id="55" name="Google Shape;55;p106"/>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sz="4400"/>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56" name="Google Shape;56;p106"/>
          <p:cNvSpPr txBox="1">
            <a:spLocks noGrp="1"/>
          </p:cNvSpPr>
          <p:nvPr>
            <p:ph type="body" idx="1"/>
          </p:nvPr>
        </p:nvSpPr>
        <p:spPr>
          <a:xfrm>
            <a:off x="1096963" y="1846263"/>
            <a:ext cx="10058400" cy="4022725"/>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7" name="Google Shape;57;p106"/>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58" name="Google Shape;58;p106"/>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59" name="Google Shape;59;p106"/>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Encabezado de sección" type="secHead">
  <p:cSld name="SECTION_HEADER">
    <p:spTree>
      <p:nvGrpSpPr>
        <p:cNvPr id="1" name="Shape 60"/>
        <p:cNvGrpSpPr/>
        <p:nvPr/>
      </p:nvGrpSpPr>
      <p:grpSpPr>
        <a:xfrm>
          <a:off x="0" y="0"/>
          <a:ext cx="0" cy="0"/>
          <a:chOff x="0" y="0"/>
          <a:chExt cx="0" cy="0"/>
        </a:xfrm>
      </p:grpSpPr>
      <p:sp>
        <p:nvSpPr>
          <p:cNvPr id="61" name="Google Shape;61;p107"/>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07"/>
          <p:cNvSpPr/>
          <p:nvPr/>
        </p:nvSpPr>
        <p:spPr>
          <a:xfrm>
            <a:off x="0" y="6334125"/>
            <a:ext cx="12188825" cy="6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3" name="Google Shape;63;p107"/>
          <p:cNvCxnSpPr/>
          <p:nvPr/>
        </p:nvCxnSpPr>
        <p:spPr>
          <a:xfrm>
            <a:off x="1208088" y="4343400"/>
            <a:ext cx="9875837" cy="0"/>
          </a:xfrm>
          <a:prstGeom prst="straightConnector1">
            <a:avLst/>
          </a:prstGeom>
          <a:noFill/>
          <a:ln w="9525" cap="flat" cmpd="sng">
            <a:solidFill>
              <a:srgbClr val="7F7F7F"/>
            </a:solidFill>
            <a:prstDash val="solid"/>
            <a:round/>
            <a:headEnd type="none" w="sm" len="sm"/>
            <a:tailEnd type="none" w="sm" len="sm"/>
          </a:ln>
        </p:spPr>
      </p:cxnSp>
      <p:sp>
        <p:nvSpPr>
          <p:cNvPr id="64" name="Google Shape;64;p107"/>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1400"/>
              <a:buNone/>
              <a:defRPr sz="8000" b="0">
                <a:solidFill>
                  <a:srgbClr val="262626"/>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65" name="Google Shape;65;p107"/>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66" name="Google Shape;66;p107"/>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67" name="Google Shape;67;p107"/>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68" name="Google Shape;68;p107"/>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69"/>
        <p:cNvGrpSpPr/>
        <p:nvPr/>
      </p:nvGrpSpPr>
      <p:grpSpPr>
        <a:xfrm>
          <a:off x="0" y="0"/>
          <a:ext cx="0" cy="0"/>
          <a:chOff x="0" y="0"/>
          <a:chExt cx="0" cy="0"/>
        </a:xfrm>
      </p:grpSpPr>
      <p:sp>
        <p:nvSpPr>
          <p:cNvPr id="70" name="Google Shape;70;p10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71" name="Google Shape;71;p108"/>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2" name="Google Shape;72;p108"/>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3" name="Google Shape;73;p10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74" name="Google Shape;74;p10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75" name="Google Shape;75;p10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76"/>
        <p:cNvGrpSpPr/>
        <p:nvPr/>
      </p:nvGrpSpPr>
      <p:grpSpPr>
        <a:xfrm>
          <a:off x="0" y="0"/>
          <a:ext cx="0" cy="0"/>
          <a:chOff x="0" y="0"/>
          <a:chExt cx="0" cy="0"/>
        </a:xfrm>
      </p:grpSpPr>
      <p:sp>
        <p:nvSpPr>
          <p:cNvPr id="77" name="Google Shape;77;p109"/>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78" name="Google Shape;78;p109"/>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79" name="Google Shape;79;p109"/>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0" name="Google Shape;80;p109"/>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81" name="Google Shape;81;p109"/>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82" name="Google Shape;82;p10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83" name="Google Shape;83;p10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84" name="Google Shape;84;p10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Imagen con título" type="picTx">
  <p:cSld name="PICTURE_WITH_CAPTION_TEXT">
    <p:spTree>
      <p:nvGrpSpPr>
        <p:cNvPr id="1" name="Shape 85"/>
        <p:cNvGrpSpPr/>
        <p:nvPr/>
      </p:nvGrpSpPr>
      <p:grpSpPr>
        <a:xfrm>
          <a:off x="0" y="0"/>
          <a:ext cx="0" cy="0"/>
          <a:chOff x="0" y="0"/>
          <a:chExt cx="0" cy="0"/>
        </a:xfrm>
      </p:grpSpPr>
      <p:sp>
        <p:nvSpPr>
          <p:cNvPr id="86" name="Google Shape;86;p110"/>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10"/>
          <p:cNvSpPr/>
          <p:nvPr/>
        </p:nvSpPr>
        <p:spPr>
          <a:xfrm>
            <a:off x="0" y="4914900"/>
            <a:ext cx="12188825" cy="6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10"/>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SzPts val="1400"/>
              <a:buNone/>
              <a:defRPr sz="3600" b="0">
                <a:solidFill>
                  <a:srgbClr val="FFFFFF"/>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pic>
        <p:nvPicPr>
          <p:cNvPr id="89" name="Google Shape;89;p110"/>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90" name="Google Shape;90;p110"/>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91" name="Google Shape;91;p11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92" name="Google Shape;92;p11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93" name="Google Shape;93;p11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94"/>
        <p:cNvGrpSpPr/>
        <p:nvPr/>
      </p:nvGrpSpPr>
      <p:grpSpPr>
        <a:xfrm>
          <a:off x="0" y="0"/>
          <a:ext cx="0" cy="0"/>
          <a:chOff x="0" y="0"/>
          <a:chExt cx="0" cy="0"/>
        </a:xfrm>
      </p:grpSpPr>
      <p:sp>
        <p:nvSpPr>
          <p:cNvPr id="95" name="Google Shape;95;p111"/>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96" name="Google Shape;96;p111"/>
          <p:cNvSpPr txBox="1">
            <a:spLocks noGrp="1"/>
          </p:cNvSpPr>
          <p:nvPr>
            <p:ph type="body" idx="1"/>
          </p:nvPr>
        </p:nvSpPr>
        <p:spPr>
          <a:xfrm rot="5400000">
            <a:off x="4114801" y="-1171574"/>
            <a:ext cx="4022725" cy="10058400"/>
          </a:xfrm>
          <a:prstGeom prst="rect">
            <a:avLst/>
          </a:prstGeom>
          <a:noFill/>
          <a:ln>
            <a:noFill/>
          </a:ln>
        </p:spPr>
        <p:txBody>
          <a:bodyPr spcFirstLastPara="1" wrap="square" lIns="45700" tIns="0" rIns="45700" bIns="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7" name="Google Shape;97;p11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98" name="Google Shape;98;p11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99" name="Google Shape;99;p11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100"/>
        <p:cNvGrpSpPr/>
        <p:nvPr/>
      </p:nvGrpSpPr>
      <p:grpSpPr>
        <a:xfrm>
          <a:off x="0" y="0"/>
          <a:ext cx="0" cy="0"/>
          <a:chOff x="0" y="0"/>
          <a:chExt cx="0" cy="0"/>
        </a:xfrm>
      </p:grpSpPr>
      <p:sp>
        <p:nvSpPr>
          <p:cNvPr id="101" name="Google Shape;101;p11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12"/>
          <p:cNvSpPr/>
          <p:nvPr/>
        </p:nvSpPr>
        <p:spPr>
          <a:xfrm>
            <a:off x="0" y="6334125"/>
            <a:ext cx="12188825" cy="6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12"/>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a:endParaRPr/>
          </a:p>
        </p:txBody>
      </p:sp>
      <p:sp>
        <p:nvSpPr>
          <p:cNvPr id="104" name="Google Shape;104;p112"/>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5" name="Google Shape;105;p11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106" name="Google Shape;106;p11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107" name="Google Shape;107;p11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p:cSld name="1_Imagen con título">
    <p:spTree>
      <p:nvGrpSpPr>
        <p:cNvPr id="1" name="Shape 108"/>
        <p:cNvGrpSpPr/>
        <p:nvPr/>
      </p:nvGrpSpPr>
      <p:grpSpPr>
        <a:xfrm>
          <a:off x="0" y="0"/>
          <a:ext cx="0" cy="0"/>
          <a:chOff x="0" y="0"/>
          <a:chExt cx="0" cy="0"/>
        </a:xfrm>
      </p:grpSpPr>
      <p:sp>
        <p:nvSpPr>
          <p:cNvPr id="109" name="Google Shape;109;p11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110" name="Google Shape;110;p11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111" name="Google Shape;111;p11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ormal con fuente ">
  <p:cSld name="Normal con fuente ">
    <p:spTree>
      <p:nvGrpSpPr>
        <p:cNvPr id="1" name="Shape 112"/>
        <p:cNvGrpSpPr/>
        <p:nvPr/>
      </p:nvGrpSpPr>
      <p:grpSpPr>
        <a:xfrm>
          <a:off x="0" y="0"/>
          <a:ext cx="0" cy="0"/>
          <a:chOff x="0" y="0"/>
          <a:chExt cx="0" cy="0"/>
        </a:xfrm>
      </p:grpSpPr>
      <p:sp>
        <p:nvSpPr>
          <p:cNvPr id="113" name="Google Shape;113;p11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2026</a:t>
            </a:r>
            <a:endParaRPr/>
          </a:p>
        </p:txBody>
      </p:sp>
      <p:sp>
        <p:nvSpPr>
          <p:cNvPr id="114" name="Google Shape;114;p11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s-ES"/>
              <a:t>INGENIERÍA DE SOFTWARE I</a:t>
            </a:r>
            <a:endParaRPr/>
          </a:p>
        </p:txBody>
      </p:sp>
      <p:sp>
        <p:nvSpPr>
          <p:cNvPr id="115" name="Google Shape;115;p11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1pPr>
            <a:lvl2pPr marL="0" marR="0" lvl="1"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2pPr>
            <a:lvl3pPr marL="0" marR="0" lvl="2"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3pPr>
            <a:lvl4pPr marL="0" marR="0" lvl="3"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4pPr>
            <a:lvl5pPr marL="0" marR="0" lvl="4"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5pPr>
            <a:lvl6pPr marL="0" marR="0" lvl="5"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6pPr>
            <a:lvl7pPr marL="0" marR="0" lvl="6"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7pPr>
            <a:lvl8pPr marL="0" marR="0" lvl="7"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8pPr>
            <a:lvl9pPr marL="0" marR="0" lvl="8" indent="0" algn="r">
              <a:spcBef>
                <a:spcPts val="0"/>
              </a:spcBef>
              <a:spcAft>
                <a:spcPts val="0"/>
              </a:spcAft>
              <a:buClr>
                <a:srgbClr val="FFFFFF"/>
              </a:buClr>
              <a:buSzPts val="1050"/>
              <a:buFont typeface="Calibri"/>
              <a:buNone/>
              <a:defRPr sz="1050">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Imagen con título">
  <p:cSld name="2_Imagen con título">
    <p:spTree>
      <p:nvGrpSpPr>
        <p:cNvPr id="1" name="Shape 116"/>
        <p:cNvGrpSpPr/>
        <p:nvPr/>
      </p:nvGrpSpPr>
      <p:grpSpPr>
        <a:xfrm>
          <a:off x="0" y="0"/>
          <a:ext cx="0" cy="0"/>
          <a:chOff x="0" y="0"/>
          <a:chExt cx="0" cy="0"/>
        </a:xfrm>
      </p:grpSpPr>
      <p:sp>
        <p:nvSpPr>
          <p:cNvPr id="117" name="Google Shape;117;p115"/>
          <p:cNvSpPr txBox="1">
            <a:spLocks noGrp="1"/>
          </p:cNvSpPr>
          <p:nvPr>
            <p:ph type="title"/>
          </p:nvPr>
        </p:nvSpPr>
        <p:spPr>
          <a:xfrm>
            <a:off x="653977" y="4737548"/>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C00000"/>
              </a:buClr>
              <a:buSzPts val="3300"/>
              <a:buFont typeface="Calibri"/>
              <a:buNone/>
              <a:defRPr sz="3287" b="0">
                <a:solidFill>
                  <a:srgbClr val="C00000"/>
                </a:solidFill>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a:endParaRPr/>
          </a:p>
        </p:txBody>
      </p:sp>
      <p:sp>
        <p:nvSpPr>
          <p:cNvPr id="118" name="Google Shape;118;p115"/>
          <p:cNvSpPr txBox="1">
            <a:spLocks noGrp="1"/>
          </p:cNvSpPr>
          <p:nvPr>
            <p:ph type="body" idx="1"/>
          </p:nvPr>
        </p:nvSpPr>
        <p:spPr>
          <a:xfrm>
            <a:off x="653976" y="5487888"/>
            <a:ext cx="9229344"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195"/>
              </a:spcBef>
              <a:spcAft>
                <a:spcPts val="0"/>
              </a:spcAft>
              <a:buSzPts val="1800"/>
              <a:buNone/>
              <a:defRPr sz="1793">
                <a:solidFill>
                  <a:srgbClr val="C00000"/>
                </a:solidFill>
              </a:defRPr>
            </a:lvl1pPr>
            <a:lvl2pPr marL="914400" lvl="1" indent="-228600" algn="l">
              <a:lnSpc>
                <a:spcPct val="90000"/>
              </a:lnSpc>
              <a:spcBef>
                <a:spcPts val="199"/>
              </a:spcBef>
              <a:spcAft>
                <a:spcPts val="0"/>
              </a:spcAft>
              <a:buSzPts val="900"/>
              <a:buNone/>
              <a:defRPr sz="896"/>
            </a:lvl2pPr>
            <a:lvl3pPr marL="1371600" lvl="2" indent="-228600" algn="l">
              <a:lnSpc>
                <a:spcPct val="90000"/>
              </a:lnSpc>
              <a:spcBef>
                <a:spcPts val="398"/>
              </a:spcBef>
              <a:spcAft>
                <a:spcPts val="0"/>
              </a:spcAft>
              <a:buSzPts val="750"/>
              <a:buNone/>
              <a:defRPr sz="747"/>
            </a:lvl3pPr>
            <a:lvl4pPr marL="1828800" lvl="3" indent="-228600" algn="l">
              <a:lnSpc>
                <a:spcPct val="90000"/>
              </a:lnSpc>
              <a:spcBef>
                <a:spcPts val="398"/>
              </a:spcBef>
              <a:spcAft>
                <a:spcPts val="0"/>
              </a:spcAft>
              <a:buSzPts val="675"/>
              <a:buNone/>
              <a:defRPr sz="672"/>
            </a:lvl4pPr>
            <a:lvl5pPr marL="2286000" lvl="4" indent="-228600" algn="l">
              <a:lnSpc>
                <a:spcPct val="90000"/>
              </a:lnSpc>
              <a:spcBef>
                <a:spcPts val="398"/>
              </a:spcBef>
              <a:spcAft>
                <a:spcPts val="0"/>
              </a:spcAft>
              <a:buSzPts val="675"/>
              <a:buNone/>
              <a:defRPr sz="672"/>
            </a:lvl5pPr>
            <a:lvl6pPr marL="2743200" lvl="5" indent="-228600" algn="l">
              <a:lnSpc>
                <a:spcPct val="90000"/>
              </a:lnSpc>
              <a:spcBef>
                <a:spcPts val="398"/>
              </a:spcBef>
              <a:spcAft>
                <a:spcPts val="0"/>
              </a:spcAft>
              <a:buSzPts val="675"/>
              <a:buNone/>
              <a:defRPr sz="672"/>
            </a:lvl6pPr>
            <a:lvl7pPr marL="3200400" lvl="6" indent="-228600" algn="l">
              <a:lnSpc>
                <a:spcPct val="90000"/>
              </a:lnSpc>
              <a:spcBef>
                <a:spcPts val="398"/>
              </a:spcBef>
              <a:spcAft>
                <a:spcPts val="0"/>
              </a:spcAft>
              <a:buSzPts val="675"/>
              <a:buNone/>
              <a:defRPr sz="672"/>
            </a:lvl7pPr>
            <a:lvl8pPr marL="3657600" lvl="7" indent="-228600" algn="l">
              <a:lnSpc>
                <a:spcPct val="90000"/>
              </a:lnSpc>
              <a:spcBef>
                <a:spcPts val="398"/>
              </a:spcBef>
              <a:spcAft>
                <a:spcPts val="0"/>
              </a:spcAft>
              <a:buSzPts val="675"/>
              <a:buNone/>
              <a:defRPr sz="672"/>
            </a:lvl8pPr>
            <a:lvl9pPr marL="4114800" lvl="8" indent="-228600" algn="l">
              <a:lnSpc>
                <a:spcPct val="90000"/>
              </a:lnSpc>
              <a:spcBef>
                <a:spcPts val="398"/>
              </a:spcBef>
              <a:spcAft>
                <a:spcPts val="398"/>
              </a:spcAft>
              <a:buSzPts val="675"/>
              <a:buNone/>
              <a:defRPr sz="672"/>
            </a:lvl9pPr>
          </a:lstStyle>
          <a:p>
            <a:endParaRPr/>
          </a:p>
        </p:txBody>
      </p:sp>
      <p:sp>
        <p:nvSpPr>
          <p:cNvPr id="119" name="Google Shape;119;p115"/>
          <p:cNvSpPr txBox="1">
            <a:spLocks noGrp="1"/>
          </p:cNvSpPr>
          <p:nvPr>
            <p:ph type="dt" idx="10"/>
          </p:nvPr>
        </p:nvSpPr>
        <p:spPr>
          <a:xfrm>
            <a:off x="3211248" y="6481096"/>
            <a:ext cx="4114800" cy="2286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000000"/>
              </a:buClr>
              <a:buSzPts val="1400"/>
              <a:buFont typeface="Arial"/>
              <a:buNone/>
              <a:defRPr sz="1394" b="0" i="0" u="none" strike="noStrike" cap="none">
                <a:solidFill>
                  <a:srgbClr val="C00000"/>
                </a:solidFill>
                <a:latin typeface="Arial"/>
                <a:ea typeface="Arial"/>
                <a:cs typeface="Arial"/>
                <a:sym typeface="Arial"/>
              </a:defRPr>
            </a:lvl1pPr>
            <a:lvl2pPr marR="0" lvl="1" algn="l">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r>
              <a:rPr lang="es-ES"/>
              <a:t>2026</a:t>
            </a:r>
            <a:endParaRPr/>
          </a:p>
        </p:txBody>
      </p:sp>
      <p:sp>
        <p:nvSpPr>
          <p:cNvPr id="120" name="Google Shape;120;p115"/>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chemeClr val="accent6"/>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00"/>
          <p:cNvSpPr/>
          <p:nvPr/>
        </p:nvSpPr>
        <p:spPr>
          <a:xfrm>
            <a:off x="0" y="6400800"/>
            <a:ext cx="12192000" cy="45720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1" name="Google Shape;11;p100"/>
          <p:cNvSpPr/>
          <p:nvPr/>
        </p:nvSpPr>
        <p:spPr>
          <a:xfrm>
            <a:off x="0" y="6334125"/>
            <a:ext cx="12192000" cy="66675"/>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lt1"/>
              </a:solidFill>
              <a:latin typeface="Calibri"/>
              <a:ea typeface="Calibri"/>
              <a:cs typeface="Calibri"/>
              <a:sym typeface="Calibri"/>
            </a:endParaRPr>
          </a:p>
        </p:txBody>
      </p:sp>
      <p:sp>
        <p:nvSpPr>
          <p:cNvPr id="12" name="Google Shape;12;p100"/>
          <p:cNvSpPr txBox="1">
            <a:spLocks noGrp="1"/>
          </p:cNvSpPr>
          <p:nvPr>
            <p:ph type="title"/>
          </p:nvPr>
        </p:nvSpPr>
        <p:spPr>
          <a:xfrm>
            <a:off x="1096963" y="287338"/>
            <a:ext cx="10058400" cy="1449387"/>
          </a:xfrm>
          <a:prstGeom prst="rect">
            <a:avLst/>
          </a:prstGeom>
          <a:noFill/>
          <a:ln>
            <a:noFill/>
          </a:ln>
        </p:spPr>
        <p:txBody>
          <a:bodyPr spcFirstLastPara="1" wrap="square" lIns="91425" tIns="45700" rIns="91425" bIns="45700" anchor="b" anchorCtr="0">
            <a:noAutofit/>
          </a:bodyPr>
          <a:lstStyle>
            <a:lvl1pPr marR="0" lvl="0"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1pPr>
            <a:lvl2pPr marR="0" lvl="1"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2pPr>
            <a:lvl3pPr marR="0" lvl="2"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3pPr>
            <a:lvl4pPr marR="0" lvl="3"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4pPr>
            <a:lvl5pPr marR="0" lvl="4"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5pPr>
            <a:lvl6pPr marR="0" lvl="5"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6pPr>
            <a:lvl7pPr marR="0" lvl="6"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7pPr>
            <a:lvl8pPr marR="0" lvl="7"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8pPr>
            <a:lvl9pPr marR="0" lvl="8" algn="l" rtl="0">
              <a:lnSpc>
                <a:spcPct val="85000"/>
              </a:lnSpc>
              <a:spcBef>
                <a:spcPts val="0"/>
              </a:spcBef>
              <a:spcAft>
                <a:spcPts val="0"/>
              </a:spcAft>
              <a:buSzPts val="1400"/>
              <a:buNone/>
              <a:defRPr sz="5400" b="0" i="0" u="none" strike="noStrike" cap="none">
                <a:solidFill>
                  <a:schemeClr val="dk1"/>
                </a:solidFill>
                <a:latin typeface="Calibri"/>
                <a:ea typeface="Calibri"/>
                <a:cs typeface="Calibri"/>
                <a:sym typeface="Calibri"/>
              </a:defRPr>
            </a:lvl9pPr>
          </a:lstStyle>
          <a:p>
            <a:endParaRPr/>
          </a:p>
        </p:txBody>
      </p:sp>
      <p:sp>
        <p:nvSpPr>
          <p:cNvPr id="13" name="Google Shape;13;p100"/>
          <p:cNvSpPr txBox="1">
            <a:spLocks noGrp="1"/>
          </p:cNvSpPr>
          <p:nvPr>
            <p:ph type="body" idx="1"/>
          </p:nvPr>
        </p:nvSpPr>
        <p:spPr>
          <a:xfrm>
            <a:off x="1096963" y="1846263"/>
            <a:ext cx="10058400" cy="4022725"/>
          </a:xfrm>
          <a:prstGeom prst="rect">
            <a:avLst/>
          </a:prstGeom>
          <a:noFill/>
          <a:ln>
            <a:noFill/>
          </a:ln>
        </p:spPr>
        <p:txBody>
          <a:bodyPr spcFirstLastPara="1" wrap="square" lIns="0" tIns="45700" rIns="0" bIns="45700" anchor="t" anchorCtr="0">
            <a:no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404040"/>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404040"/>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404040"/>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404040"/>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404040"/>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0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s-ES"/>
              <a:t>2026</a:t>
            </a:r>
            <a:endParaRPr/>
          </a:p>
        </p:txBody>
      </p:sp>
      <p:sp>
        <p:nvSpPr>
          <p:cNvPr id="15" name="Google Shape;15;p10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s-ES"/>
              <a:t>INGENIERÍA DE SOFTWARE I</a:t>
            </a:r>
            <a:endParaRPr/>
          </a:p>
        </p:txBody>
      </p:sp>
      <p:sp>
        <p:nvSpPr>
          <p:cNvPr id="16" name="Google Shape;16;p10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1pPr>
            <a:lvl2pPr marL="0" marR="0" lvl="1"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2pPr>
            <a:lvl3pPr marL="0" marR="0" lvl="2"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3pPr>
            <a:lvl4pPr marL="0" marR="0" lvl="3"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4pPr>
            <a:lvl5pPr marL="0" marR="0" lvl="4"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5pPr>
            <a:lvl6pPr marL="0" marR="0" lvl="5"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6pPr>
            <a:lvl7pPr marL="0" marR="0" lvl="6"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7pPr>
            <a:lvl8pPr marL="0" marR="0" lvl="7"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8pPr>
            <a:lvl9pPr marL="0" marR="0" lvl="8" indent="0" algn="r" rtl="0">
              <a:spcBef>
                <a:spcPts val="0"/>
              </a:spcBef>
              <a:spcAft>
                <a:spcPts val="0"/>
              </a:spcAft>
              <a:buClr>
                <a:srgbClr val="FFFFFF"/>
              </a:buClr>
              <a:buSzPts val="1050"/>
              <a:buFont typeface="Calibri"/>
              <a:buNone/>
              <a:defRPr sz="1050" b="0" u="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cxnSp>
        <p:nvCxnSpPr>
          <p:cNvPr id="17" name="Google Shape;17;p100"/>
          <p:cNvCxnSpPr/>
          <p:nvPr/>
        </p:nvCxnSpPr>
        <p:spPr>
          <a:xfrm>
            <a:off x="1193800" y="1738313"/>
            <a:ext cx="9966325" cy="0"/>
          </a:xfrm>
          <a:prstGeom prst="straightConnector1">
            <a:avLst/>
          </a:prstGeom>
          <a:noFill/>
          <a:ln w="9525" cap="flat" cmpd="sng">
            <a:solidFill>
              <a:srgbClr val="7F7F7F"/>
            </a:solidFill>
            <a:prstDash val="solid"/>
            <a:round/>
            <a:headEnd type="none" w="sm" len="sm"/>
            <a:tailEnd type="none" w="sm" len="sm"/>
          </a:ln>
        </p:spPr>
      </p:cxnSp>
      <p:pic>
        <p:nvPicPr>
          <p:cNvPr id="18" name="Google Shape;18;p100"/>
          <p:cNvPicPr preferRelativeResize="0"/>
          <p:nvPr/>
        </p:nvPicPr>
        <p:blipFill rotWithShape="1">
          <a:blip r:embed="rId17">
            <a:alphaModFix/>
          </a:blip>
          <a:srcRect/>
          <a:stretch/>
        </p:blipFill>
        <p:spPr>
          <a:xfrm>
            <a:off x="10779125" y="177800"/>
            <a:ext cx="1206500" cy="121443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hyperlink" Target="https://www.mountaingoatsoftware.com/blog/two-examples-of-splitting-epics" TargetMode="External"/><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hyperlink" Target="https://www.mountaingoatsoftware.com/blog/two-examples-of-splitting-epics" TargetMode="External"/><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25"/>
          <p:cNvSpPr txBox="1">
            <a:spLocks noGrp="1"/>
          </p:cNvSpPr>
          <p:nvPr>
            <p:ph type="ctrTitle"/>
          </p:nvPr>
        </p:nvSpPr>
        <p:spPr>
          <a:xfrm>
            <a:off x="1097280" y="758952"/>
            <a:ext cx="10058400" cy="3566160"/>
          </a:xfrm>
          <a:prstGeom prst="rect">
            <a:avLst/>
          </a:prstGeom>
          <a:noFill/>
          <a:ln>
            <a:noFill/>
          </a:ln>
        </p:spPr>
        <p:txBody>
          <a:bodyPr spcFirstLastPara="1" wrap="square" lIns="91050" tIns="45500" rIns="91050" bIns="45500" anchor="b" anchorCtr="0">
            <a:noAutofit/>
          </a:bodyPr>
          <a:lstStyle/>
          <a:p>
            <a:pPr marL="0" lvl="0" indent="0" algn="l" rtl="0">
              <a:lnSpc>
                <a:spcPct val="85000"/>
              </a:lnSpc>
              <a:spcBef>
                <a:spcPts val="0"/>
              </a:spcBef>
              <a:spcAft>
                <a:spcPts val="0"/>
              </a:spcAft>
              <a:buClr>
                <a:srgbClr val="C00000"/>
              </a:buClr>
              <a:buSzPts val="3300"/>
              <a:buFont typeface="Calibri"/>
              <a:buNone/>
            </a:pPr>
            <a:r>
              <a:rPr lang="es-ES"/>
              <a:t>Ingeniería de Software I</a:t>
            </a:r>
            <a:endParaRPr/>
          </a:p>
        </p:txBody>
      </p:sp>
      <p:sp>
        <p:nvSpPr>
          <p:cNvPr id="129" name="Google Shape;129;p125"/>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400"/>
              <a:buNone/>
            </a:pPr>
            <a:r>
              <a:rPr lang="es-ES"/>
              <a:t>2026 – CLASE 2</a:t>
            </a:r>
            <a:endParaRPr/>
          </a:p>
        </p:txBody>
      </p:sp>
      <p:sp>
        <p:nvSpPr>
          <p:cNvPr id="130" name="Google Shape;130;p125"/>
          <p:cNvSpPr txBox="1">
            <a:spLocks noGrp="1"/>
          </p:cNvSpPr>
          <p:nvPr>
            <p:ph type="sldNum" idx="12"/>
          </p:nvPr>
        </p:nvSpPr>
        <p:spPr>
          <a:xfrm>
            <a:off x="9901238" y="6459538"/>
            <a:ext cx="1311275" cy="365125"/>
          </a:xfrm>
          <a:prstGeom prst="rect">
            <a:avLst/>
          </a:prstGeom>
          <a:noFill/>
          <a:ln>
            <a:noFill/>
          </a:ln>
        </p:spPr>
        <p:txBody>
          <a:bodyPr spcFirstLastPara="1" wrap="square" lIns="91050" tIns="45500" rIns="91050" bIns="45500" anchor="ctr" anchorCtr="0">
            <a:noAutofit/>
          </a:bodyPr>
          <a:lstStyle/>
          <a:p>
            <a:pPr marL="0" lvl="0" indent="0" algn="r" rtl="0">
              <a:lnSpc>
                <a:spcPct val="100000"/>
              </a:lnSpc>
              <a:spcBef>
                <a:spcPts val="0"/>
              </a:spcBef>
              <a:spcAft>
                <a:spcPts val="0"/>
              </a:spcAft>
              <a:buClr>
                <a:srgbClr val="758085"/>
              </a:buClr>
              <a:buSzPts val="1000"/>
              <a:buFont typeface="Calibri"/>
              <a:buNone/>
            </a:pPr>
            <a:fld id="{00000000-1234-1234-1234-123412341234}" type="slidenum">
              <a:rPr lang="es-ES">
                <a:solidFill>
                  <a:srgbClr val="758085"/>
                </a:solidFill>
              </a:rPr>
              <a:t>1</a:t>
            </a:fld>
            <a:endParaRPr>
              <a:solidFill>
                <a:srgbClr val="758085"/>
              </a:solidFill>
            </a:endParaRPr>
          </a:p>
        </p:txBody>
      </p:sp>
      <p:pic>
        <p:nvPicPr>
          <p:cNvPr id="131" name="Google Shape;131;p125"/>
          <p:cNvPicPr preferRelativeResize="0"/>
          <p:nvPr/>
        </p:nvPicPr>
        <p:blipFill rotWithShape="1">
          <a:blip r:embed="rId3">
            <a:alphaModFix/>
          </a:blip>
          <a:srcRect/>
          <a:stretch/>
        </p:blipFill>
        <p:spPr>
          <a:xfrm>
            <a:off x="10758413" y="4968816"/>
            <a:ext cx="1147495" cy="1147495"/>
          </a:xfrm>
          <a:prstGeom prst="rect">
            <a:avLst/>
          </a:prstGeom>
          <a:noFill/>
          <a:ln>
            <a:noFill/>
          </a:ln>
        </p:spPr>
      </p:pic>
      <p:sp>
        <p:nvSpPr>
          <p:cNvPr id="132" name="Google Shape;132;p12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33" name="Google Shape;133;p12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
          <p:cNvSpPr/>
          <p:nvPr/>
        </p:nvSpPr>
        <p:spPr>
          <a:xfrm>
            <a:off x="9170372" y="2852665"/>
            <a:ext cx="2851962" cy="1047817"/>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75" tIns="44625" rIns="89275" bIns="44625" anchor="t" anchorCtr="0">
            <a:noAutofit/>
          </a:bodyPr>
          <a:lstStyle/>
          <a:p>
            <a:pPr marL="0" marR="0" lvl="0" indent="0" algn="l" rtl="0">
              <a:spcBef>
                <a:spcPts val="0"/>
              </a:spcBef>
              <a:spcAft>
                <a:spcPts val="0"/>
              </a:spcAft>
              <a:buNone/>
            </a:pPr>
            <a:endParaRPr sz="1367">
              <a:solidFill>
                <a:srgbClr val="000000"/>
              </a:solidFill>
              <a:latin typeface="Arial"/>
              <a:ea typeface="Arial"/>
              <a:cs typeface="Arial"/>
              <a:sym typeface="Arial"/>
            </a:endParaRPr>
          </a:p>
        </p:txBody>
      </p:sp>
      <p:sp>
        <p:nvSpPr>
          <p:cNvPr id="141" name="Google Shape;141;p1"/>
          <p:cNvSpPr/>
          <p:nvPr/>
        </p:nvSpPr>
        <p:spPr>
          <a:xfrm>
            <a:off x="5955542" y="6509477"/>
            <a:ext cx="2107590" cy="304852"/>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89275" tIns="44625" rIns="89275" bIns="44625" anchor="t" anchorCtr="0">
            <a:noAutofit/>
          </a:bodyPr>
          <a:lstStyle/>
          <a:p>
            <a:pPr marL="0" marR="0" lvl="0" indent="0" algn="l" rtl="0">
              <a:spcBef>
                <a:spcPts val="0"/>
              </a:spcBef>
              <a:spcAft>
                <a:spcPts val="0"/>
              </a:spcAft>
              <a:buNone/>
            </a:pPr>
            <a:endParaRPr sz="1367">
              <a:solidFill>
                <a:srgbClr val="000000"/>
              </a:solidFill>
              <a:latin typeface="Arial"/>
              <a:ea typeface="Arial"/>
              <a:cs typeface="Arial"/>
              <a:sym typeface="Arial"/>
            </a:endParaRPr>
          </a:p>
        </p:txBody>
      </p:sp>
      <p:sp>
        <p:nvSpPr>
          <p:cNvPr id="142" name="Google Shape;142;p1"/>
          <p:cNvSpPr/>
          <p:nvPr/>
        </p:nvSpPr>
        <p:spPr>
          <a:xfrm>
            <a:off x="1222279" y="1859038"/>
            <a:ext cx="9902083" cy="4478188"/>
          </a:xfrm>
          <a:custGeom>
            <a:avLst/>
            <a:gdLst/>
            <a:ahLst/>
            <a:cxnLst/>
            <a:rect l="l" t="t" r="r" b="b"/>
            <a:pathLst>
              <a:path w="21600" h="21600" extrusionOk="0">
                <a:moveTo>
                  <a:pt x="0" y="0"/>
                </a:moveTo>
                <a:lnTo>
                  <a:pt x="21600" y="0"/>
                </a:lnTo>
                <a:lnTo>
                  <a:pt x="21600" y="21600"/>
                </a:lnTo>
                <a:lnTo>
                  <a:pt x="0" y="21600"/>
                </a:lnTo>
                <a:lnTo>
                  <a:pt x="0" y="0"/>
                </a:lnTo>
                <a:close/>
              </a:path>
            </a:pathLst>
          </a:custGeom>
          <a:noFill/>
          <a:ln>
            <a:noFill/>
          </a:ln>
        </p:spPr>
        <p:txBody>
          <a:bodyPr spcFirstLastPara="1" wrap="square" lIns="115325" tIns="57650" rIns="115325" bIns="57650" anchor="t" anchorCtr="0">
            <a:noAutofit/>
          </a:bodyPr>
          <a:lstStyle/>
          <a:p>
            <a:pPr marL="558360" marR="0" lvl="0" indent="-558360" algn="l" rtl="0">
              <a:lnSpc>
                <a:spcPct val="85000"/>
              </a:lnSpc>
              <a:spcBef>
                <a:spcPts val="0"/>
              </a:spcBef>
              <a:spcAft>
                <a:spcPts val="0"/>
              </a:spcAft>
              <a:buClr>
                <a:srgbClr val="C00000"/>
              </a:buClr>
              <a:buSzPts val="3516"/>
              <a:buFont typeface="Noto Sans Symbols"/>
              <a:buChar char="❖"/>
            </a:pPr>
            <a:r>
              <a:rPr lang="es-ES" sz="3516">
                <a:solidFill>
                  <a:srgbClr val="000000"/>
                </a:solidFill>
                <a:latin typeface="Calibri"/>
                <a:ea typeface="Calibri"/>
                <a:cs typeface="Calibri"/>
                <a:sym typeface="Calibri"/>
              </a:rPr>
              <a:t>Técnicas de elicitación (continuación)</a:t>
            </a:r>
            <a:endParaRPr sz="3516">
              <a:solidFill>
                <a:srgbClr val="000000"/>
              </a:solidFill>
              <a:latin typeface="Arial"/>
              <a:ea typeface="Arial"/>
              <a:cs typeface="Arial"/>
              <a:sym typeface="Arial"/>
            </a:endParaRPr>
          </a:p>
          <a:p>
            <a:pPr marL="558360" marR="0" lvl="0" indent="-558360" algn="l" rtl="0">
              <a:lnSpc>
                <a:spcPct val="85000"/>
              </a:lnSpc>
              <a:spcBef>
                <a:spcPts val="1642"/>
              </a:spcBef>
              <a:spcAft>
                <a:spcPts val="0"/>
              </a:spcAft>
              <a:buClr>
                <a:srgbClr val="C00000"/>
              </a:buClr>
              <a:buSzPts val="3516"/>
              <a:buFont typeface="Noto Sans Symbols"/>
              <a:buChar char="❖"/>
            </a:pPr>
            <a:r>
              <a:rPr lang="es-ES" sz="3516">
                <a:solidFill>
                  <a:srgbClr val="000000"/>
                </a:solidFill>
                <a:latin typeface="Calibri"/>
                <a:ea typeface="Calibri"/>
                <a:cs typeface="Calibri"/>
                <a:sym typeface="Calibri"/>
              </a:rPr>
              <a:t>Especificación de requerimientos</a:t>
            </a:r>
            <a:endParaRPr sz="3516">
              <a:solidFill>
                <a:srgbClr val="000000"/>
              </a:solidFill>
              <a:latin typeface="Arial"/>
              <a:ea typeface="Arial"/>
              <a:cs typeface="Arial"/>
              <a:sym typeface="Arial"/>
            </a:endParaRPr>
          </a:p>
          <a:p>
            <a:pPr marL="1451454" marR="0" lvl="3" indent="-558360" algn="l" rtl="0">
              <a:lnSpc>
                <a:spcPct val="85000"/>
              </a:lnSpc>
              <a:spcBef>
                <a:spcPts val="756"/>
              </a:spcBef>
              <a:spcAft>
                <a:spcPts val="0"/>
              </a:spcAft>
              <a:buClr>
                <a:srgbClr val="000000"/>
              </a:buClr>
              <a:buSzPts val="3600"/>
              <a:buFont typeface="Arial"/>
              <a:buChar char="•"/>
            </a:pPr>
            <a:r>
              <a:rPr lang="es-ES" sz="3516" b="0" i="0" u="none" strike="noStrike" cap="none">
                <a:solidFill>
                  <a:srgbClr val="000000"/>
                </a:solidFill>
                <a:latin typeface="Calibri"/>
                <a:ea typeface="Calibri"/>
                <a:cs typeface="Calibri"/>
                <a:sym typeface="Calibri"/>
              </a:rPr>
              <a:t>Historias de Usuario (HU)</a:t>
            </a:r>
            <a:endParaRPr sz="3516" b="0" i="0" u="none" strike="noStrike" cap="none">
              <a:solidFill>
                <a:srgbClr val="000000"/>
              </a:solidFill>
              <a:latin typeface="Arial"/>
              <a:ea typeface="Arial"/>
              <a:cs typeface="Arial"/>
              <a:sym typeface="Arial"/>
            </a:endParaRPr>
          </a:p>
          <a:p>
            <a:pPr marL="0" marR="0" lvl="0" indent="0" algn="l" rtl="0">
              <a:lnSpc>
                <a:spcPct val="85000"/>
              </a:lnSpc>
              <a:spcBef>
                <a:spcPts val="1642"/>
              </a:spcBef>
              <a:spcAft>
                <a:spcPts val="0"/>
              </a:spcAft>
              <a:buNone/>
            </a:pPr>
            <a:endParaRPr sz="3516">
              <a:solidFill>
                <a:srgbClr val="000000"/>
              </a:solidFill>
              <a:latin typeface="Arial"/>
              <a:ea typeface="Arial"/>
              <a:cs typeface="Arial"/>
              <a:sym typeface="Arial"/>
            </a:endParaRPr>
          </a:p>
        </p:txBody>
      </p:sp>
      <p:sp>
        <p:nvSpPr>
          <p:cNvPr id="143" name="Google Shape;143;p1"/>
          <p:cNvSpPr txBox="1">
            <a:spLocks noGrp="1"/>
          </p:cNvSpPr>
          <p:nvPr>
            <p:ph type="title"/>
          </p:nvPr>
        </p:nvSpPr>
        <p:spPr>
          <a:xfrm>
            <a:off x="1222279" y="287339"/>
            <a:ext cx="9806257" cy="1449387"/>
          </a:xfrm>
          <a:prstGeom prst="rect">
            <a:avLst/>
          </a:prstGeom>
          <a:noFill/>
          <a:ln>
            <a:noFill/>
          </a:ln>
        </p:spPr>
        <p:txBody>
          <a:bodyPr spcFirstLastPara="1" wrap="square" lIns="89275" tIns="44625" rIns="89275" bIns="44625" anchor="b" anchorCtr="0">
            <a:noAutofit/>
          </a:bodyPr>
          <a:lstStyle/>
          <a:p>
            <a:pPr marL="0" lvl="0" indent="0" algn="l" rtl="0">
              <a:lnSpc>
                <a:spcPct val="85000"/>
              </a:lnSpc>
              <a:spcBef>
                <a:spcPts val="0"/>
              </a:spcBef>
              <a:spcAft>
                <a:spcPts val="0"/>
              </a:spcAft>
              <a:buNone/>
            </a:pPr>
            <a:r>
              <a:rPr lang="es-ES"/>
              <a:t>Contenidos</a:t>
            </a:r>
            <a:endParaRPr/>
          </a:p>
        </p:txBody>
      </p:sp>
      <p:sp>
        <p:nvSpPr>
          <p:cNvPr id="144" name="Google Shape;144;p1"/>
          <p:cNvSpPr txBox="1">
            <a:spLocks noGrp="1"/>
          </p:cNvSpPr>
          <p:nvPr>
            <p:ph type="dt" idx="10"/>
          </p:nvPr>
        </p:nvSpPr>
        <p:spPr>
          <a:xfrm>
            <a:off x="1222279" y="6459540"/>
            <a:ext cx="2411324" cy="365125"/>
          </a:xfrm>
          <a:prstGeom prst="rect">
            <a:avLst/>
          </a:prstGeom>
          <a:noFill/>
          <a:ln>
            <a:noFill/>
          </a:ln>
        </p:spPr>
        <p:txBody>
          <a:bodyPr spcFirstLastPara="1" wrap="square" lIns="89275" tIns="44625" rIns="89275" bIns="44625" anchor="ctr" anchorCtr="0">
            <a:noAutofit/>
          </a:bodyPr>
          <a:lstStyle/>
          <a:p>
            <a:pPr marL="0" lvl="0" indent="0" algn="l" rtl="0">
              <a:spcBef>
                <a:spcPts val="0"/>
              </a:spcBef>
              <a:spcAft>
                <a:spcPts val="0"/>
              </a:spcAft>
              <a:buNone/>
            </a:pPr>
            <a:r>
              <a:rPr lang="es-ES"/>
              <a:t>2026</a:t>
            </a:r>
            <a:endParaRPr/>
          </a:p>
        </p:txBody>
      </p:sp>
      <p:sp>
        <p:nvSpPr>
          <p:cNvPr id="145" name="Google Shape;145;p1"/>
          <p:cNvSpPr txBox="1">
            <a:spLocks noGrp="1"/>
          </p:cNvSpPr>
          <p:nvPr>
            <p:ph type="ftr" idx="11"/>
          </p:nvPr>
        </p:nvSpPr>
        <p:spPr>
          <a:xfrm>
            <a:off x="3746586" y="6459540"/>
            <a:ext cx="4701927" cy="365125"/>
          </a:xfrm>
          <a:prstGeom prst="rect">
            <a:avLst/>
          </a:prstGeom>
          <a:noFill/>
          <a:ln>
            <a:noFill/>
          </a:ln>
        </p:spPr>
        <p:txBody>
          <a:bodyPr spcFirstLastPara="1" wrap="square" lIns="89275" tIns="44625" rIns="89275" bIns="44625" anchor="ctr" anchorCtr="0">
            <a:noAutofit/>
          </a:bodyPr>
          <a:lstStyle/>
          <a:p>
            <a:pPr marL="0" lvl="0" indent="0" algn="ctr" rtl="0">
              <a:spcBef>
                <a:spcPts val="0"/>
              </a:spcBef>
              <a:spcAft>
                <a:spcPts val="0"/>
              </a:spcAft>
              <a:buNone/>
            </a:pPr>
            <a:r>
              <a:rPr lang="es-ES"/>
              <a:t>INGENIERÍA DE SOFTWARE I</a:t>
            </a:r>
            <a:endParaRPr/>
          </a:p>
        </p:txBody>
      </p:sp>
      <p:sp>
        <p:nvSpPr>
          <p:cNvPr id="146" name="Google Shape;146;p1"/>
          <p:cNvSpPr txBox="1">
            <a:spLocks noGrp="1"/>
          </p:cNvSpPr>
          <p:nvPr>
            <p:ph type="sldNum" idx="12"/>
          </p:nvPr>
        </p:nvSpPr>
        <p:spPr>
          <a:xfrm>
            <a:off x="9805850" y="6459540"/>
            <a:ext cx="1278405" cy="365125"/>
          </a:xfrm>
          <a:prstGeom prst="rect">
            <a:avLst/>
          </a:prstGeom>
          <a:noFill/>
          <a:ln>
            <a:noFill/>
          </a:ln>
        </p:spPr>
        <p:txBody>
          <a:bodyPr spcFirstLastPara="1" wrap="square" lIns="89275" tIns="44625" rIns="89275" bIns="44625" anchor="ctr" anchorCtr="0">
            <a:noAutofit/>
          </a:bodyPr>
          <a:lstStyle/>
          <a:p>
            <a:pPr marL="0" lvl="0" indent="0" algn="r" rtl="0">
              <a:spcBef>
                <a:spcPts val="0"/>
              </a:spcBef>
              <a:spcAft>
                <a:spcPts val="0"/>
              </a:spcAft>
              <a:buNone/>
            </a:pPr>
            <a:fld id="{00000000-1234-1234-1234-123412341234}" type="slidenum">
              <a:rPr lang="es-ES"/>
              <a:t>2</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
          <p:cNvSpPr txBox="1">
            <a:spLocks noGrp="1"/>
          </p:cNvSpPr>
          <p:nvPr>
            <p:ph type="title"/>
          </p:nvPr>
        </p:nvSpPr>
        <p:spPr>
          <a:xfrm>
            <a:off x="457200" y="1844297"/>
            <a:ext cx="3200400" cy="1036061"/>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a:solidFill>
                  <a:schemeClr val="lt1"/>
                </a:solidFill>
                <a:latin typeface="Calibri"/>
                <a:ea typeface="Calibri"/>
                <a:cs typeface="Calibri"/>
                <a:sym typeface="Calibri"/>
              </a:rPr>
              <a:t>Técnicas de Elicitación</a:t>
            </a:r>
            <a:endParaRPr>
              <a:solidFill>
                <a:schemeClr val="lt1"/>
              </a:solidFill>
              <a:latin typeface="Calibri"/>
              <a:ea typeface="Calibri"/>
              <a:cs typeface="Calibri"/>
              <a:sym typeface="Calibri"/>
            </a:endParaRPr>
          </a:p>
        </p:txBody>
      </p:sp>
      <p:sp>
        <p:nvSpPr>
          <p:cNvPr id="153" name="Google Shape;153;p2"/>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Autofit/>
          </a:bodyPr>
          <a:lstStyle/>
          <a:p>
            <a:pPr marL="447466" lvl="0" indent="-447466" algn="just" rtl="0">
              <a:lnSpc>
                <a:spcPct val="90000"/>
              </a:lnSpc>
              <a:spcBef>
                <a:spcPts val="0"/>
              </a:spcBef>
              <a:spcAft>
                <a:spcPts val="0"/>
              </a:spcAft>
              <a:buClr>
                <a:srgbClr val="C00000"/>
              </a:buClr>
              <a:buSzPts val="2400"/>
              <a:buFont typeface="Noto Sans Symbols"/>
              <a:buChar char="❖"/>
            </a:pPr>
            <a:r>
              <a:rPr lang="es-ES" sz="2400">
                <a:solidFill>
                  <a:schemeClr val="dk1"/>
                </a:solidFill>
              </a:rPr>
              <a:t>La elicitación de requisitos se realiza aplicando diversos métodos de recopilación de información:</a:t>
            </a:r>
            <a:endParaRPr/>
          </a:p>
          <a:p>
            <a:pPr marL="447466" lvl="0" indent="-295066" algn="just" rtl="0">
              <a:lnSpc>
                <a:spcPct val="90000"/>
              </a:lnSpc>
              <a:spcBef>
                <a:spcPts val="0"/>
              </a:spcBef>
              <a:spcAft>
                <a:spcPts val="0"/>
              </a:spcAft>
              <a:buClr>
                <a:srgbClr val="C00000"/>
              </a:buClr>
              <a:buSzPts val="2400"/>
              <a:buFont typeface="Noto Sans Symbols"/>
              <a:buNone/>
            </a:pPr>
            <a:endParaRPr sz="2400">
              <a:solidFill>
                <a:schemeClr val="dk1"/>
              </a:solidFill>
            </a:endParaRPr>
          </a:p>
          <a:p>
            <a:pPr marL="618230" lvl="0" indent="-262471" algn="just" rtl="0">
              <a:lnSpc>
                <a:spcPct val="150000"/>
              </a:lnSpc>
              <a:spcBef>
                <a:spcPts val="0"/>
              </a:spcBef>
              <a:spcAft>
                <a:spcPts val="0"/>
              </a:spcAft>
              <a:buClr>
                <a:srgbClr val="C00000"/>
              </a:buClr>
              <a:buSzPts val="2200"/>
              <a:buFont typeface="Noto Sans Symbols"/>
              <a:buChar char="»"/>
            </a:pPr>
            <a:r>
              <a:rPr lang="es-ES" sz="2200" b="1">
                <a:solidFill>
                  <a:schemeClr val="dk1"/>
                </a:solidFill>
              </a:rPr>
              <a:t>Métodos discretos</a:t>
            </a:r>
            <a:endParaRPr/>
          </a:p>
          <a:p>
            <a:pPr marL="988219" lvl="1" indent="-369989" algn="l" rtl="0">
              <a:lnSpc>
                <a:spcPct val="75000"/>
              </a:lnSpc>
              <a:spcBef>
                <a:spcPts val="448"/>
              </a:spcBef>
              <a:spcAft>
                <a:spcPts val="0"/>
              </a:spcAft>
              <a:buClr>
                <a:srgbClr val="262626"/>
              </a:buClr>
              <a:buSzPts val="2000"/>
              <a:buFont typeface="Calibri"/>
              <a:buAutoNum type="arabicPeriod"/>
            </a:pPr>
            <a:r>
              <a:rPr lang="es-ES" sz="2000">
                <a:solidFill>
                  <a:schemeClr val="dk1"/>
                </a:solidFill>
              </a:rPr>
              <a:t>Muestreo de la documentación, los formularios y los datos existentes.</a:t>
            </a:r>
            <a:endParaRPr/>
          </a:p>
          <a:p>
            <a:pPr marL="988219" lvl="1" indent="-369989" algn="l" rtl="0">
              <a:lnSpc>
                <a:spcPct val="75000"/>
              </a:lnSpc>
              <a:spcBef>
                <a:spcPts val="448"/>
              </a:spcBef>
              <a:spcAft>
                <a:spcPts val="0"/>
              </a:spcAft>
              <a:buClr>
                <a:srgbClr val="262626"/>
              </a:buClr>
              <a:buSzPts val="2000"/>
              <a:buFont typeface="Calibri"/>
              <a:buAutoNum type="arabicPeriod"/>
            </a:pPr>
            <a:r>
              <a:rPr lang="es-ES" sz="2000">
                <a:solidFill>
                  <a:schemeClr val="dk1"/>
                </a:solidFill>
              </a:rPr>
              <a:t>Investigación y visitas al lugar.</a:t>
            </a:r>
            <a:endParaRPr/>
          </a:p>
          <a:p>
            <a:pPr marL="988219" lvl="1" indent="-369989" algn="l" rtl="0">
              <a:lnSpc>
                <a:spcPct val="75000"/>
              </a:lnSpc>
              <a:spcBef>
                <a:spcPts val="448"/>
              </a:spcBef>
              <a:spcAft>
                <a:spcPts val="0"/>
              </a:spcAft>
              <a:buClr>
                <a:srgbClr val="262626"/>
              </a:buClr>
              <a:buSzPts val="2000"/>
              <a:buFont typeface="Calibri"/>
              <a:buAutoNum type="arabicPeriod"/>
            </a:pPr>
            <a:r>
              <a:rPr lang="es-ES" sz="2000">
                <a:solidFill>
                  <a:schemeClr val="dk1"/>
                </a:solidFill>
              </a:rPr>
              <a:t>Observación del ambiente de trabajo.</a:t>
            </a:r>
            <a:endParaRPr sz="2000" b="1">
              <a:solidFill>
                <a:schemeClr val="dk1"/>
              </a:solidFill>
            </a:endParaRPr>
          </a:p>
          <a:p>
            <a:pPr marL="618230" lvl="0" indent="-262471" algn="just" rtl="0">
              <a:lnSpc>
                <a:spcPct val="150000"/>
              </a:lnSpc>
              <a:spcBef>
                <a:spcPts val="0"/>
              </a:spcBef>
              <a:spcAft>
                <a:spcPts val="0"/>
              </a:spcAft>
              <a:buClr>
                <a:srgbClr val="C00000"/>
              </a:buClr>
              <a:buSzPts val="2200"/>
              <a:buFont typeface="Noto Sans Symbols"/>
              <a:buChar char="»"/>
            </a:pPr>
            <a:r>
              <a:rPr lang="es-ES" sz="2200" b="1">
                <a:solidFill>
                  <a:schemeClr val="dk1"/>
                </a:solidFill>
              </a:rPr>
              <a:t>Métodos interactivos</a:t>
            </a:r>
            <a:endParaRPr/>
          </a:p>
          <a:p>
            <a:pPr marL="988219" lvl="1" indent="-369989" algn="l" rtl="0">
              <a:lnSpc>
                <a:spcPct val="75000"/>
              </a:lnSpc>
              <a:spcBef>
                <a:spcPts val="448"/>
              </a:spcBef>
              <a:spcAft>
                <a:spcPts val="0"/>
              </a:spcAft>
              <a:buClr>
                <a:srgbClr val="262626"/>
              </a:buClr>
              <a:buSzPts val="2220"/>
              <a:buFont typeface="Calibri"/>
              <a:buAutoNum type="arabicPeriod"/>
            </a:pPr>
            <a:r>
              <a:rPr lang="es-ES" sz="2000">
                <a:solidFill>
                  <a:schemeClr val="dk1"/>
                </a:solidFill>
              </a:rPr>
              <a:t>Cuestionarios.</a:t>
            </a:r>
            <a:endParaRPr/>
          </a:p>
          <a:p>
            <a:pPr marL="988219" lvl="1" indent="-369989" algn="l" rtl="0">
              <a:lnSpc>
                <a:spcPct val="75000"/>
              </a:lnSpc>
              <a:spcBef>
                <a:spcPts val="448"/>
              </a:spcBef>
              <a:spcAft>
                <a:spcPts val="0"/>
              </a:spcAft>
              <a:buClr>
                <a:srgbClr val="262626"/>
              </a:buClr>
              <a:buSzPts val="2220"/>
              <a:buFont typeface="Calibri"/>
              <a:buAutoNum type="arabicPeriod"/>
            </a:pPr>
            <a:r>
              <a:rPr lang="es-ES" sz="2000">
                <a:solidFill>
                  <a:schemeClr val="dk1"/>
                </a:solidFill>
              </a:rPr>
              <a:t>Entrevistas.</a:t>
            </a:r>
            <a:endParaRPr/>
          </a:p>
          <a:p>
            <a:pPr marL="988219" lvl="1" indent="-369989" algn="l" rtl="0">
              <a:lnSpc>
                <a:spcPct val="75000"/>
              </a:lnSpc>
              <a:spcBef>
                <a:spcPts val="448"/>
              </a:spcBef>
              <a:spcAft>
                <a:spcPts val="0"/>
              </a:spcAft>
              <a:buClr>
                <a:srgbClr val="262626"/>
              </a:buClr>
              <a:buSzPts val="2220"/>
              <a:buFont typeface="Calibri"/>
              <a:buAutoNum type="arabicPeriod"/>
            </a:pPr>
            <a:r>
              <a:rPr lang="es-ES" sz="2000">
                <a:solidFill>
                  <a:schemeClr val="dk1"/>
                </a:solidFill>
              </a:rPr>
              <a:t>Planeación conjunta de Requerimientos (JRP o JAD).</a:t>
            </a:r>
            <a:endParaRPr/>
          </a:p>
          <a:p>
            <a:pPr marL="988219" lvl="1" indent="-369989" algn="l" rtl="0">
              <a:lnSpc>
                <a:spcPct val="75000"/>
              </a:lnSpc>
              <a:spcBef>
                <a:spcPts val="448"/>
              </a:spcBef>
              <a:spcAft>
                <a:spcPts val="0"/>
              </a:spcAft>
              <a:buClr>
                <a:srgbClr val="262626"/>
              </a:buClr>
              <a:buSzPts val="2220"/>
              <a:buFont typeface="Calibri"/>
              <a:buAutoNum type="arabicPeriod"/>
            </a:pPr>
            <a:r>
              <a:rPr lang="es-ES" sz="2000">
                <a:solidFill>
                  <a:schemeClr val="dk1"/>
                </a:solidFill>
              </a:rPr>
              <a:t>Lluvia de Ideas - Brainstorming.</a:t>
            </a:r>
            <a:endParaRPr/>
          </a:p>
          <a:p>
            <a:pPr marL="90488" lvl="0" indent="0" algn="l" rtl="0">
              <a:lnSpc>
                <a:spcPct val="90000"/>
              </a:lnSpc>
              <a:spcBef>
                <a:spcPts val="1200"/>
              </a:spcBef>
              <a:spcAft>
                <a:spcPts val="0"/>
              </a:spcAft>
              <a:buSzPts val="2000"/>
              <a:buNone/>
            </a:pPr>
            <a:endParaRPr>
              <a:solidFill>
                <a:schemeClr val="dk1"/>
              </a:solidFill>
            </a:endParaRPr>
          </a:p>
        </p:txBody>
      </p:sp>
      <p:sp>
        <p:nvSpPr>
          <p:cNvPr id="154" name="Google Shape;154;p2"/>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500"/>
              <a:buNone/>
            </a:pPr>
            <a:endParaRPr/>
          </a:p>
        </p:txBody>
      </p:sp>
      <p:sp>
        <p:nvSpPr>
          <p:cNvPr id="155" name="Google Shape;155;p2"/>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56" name="Google Shape;156;p2"/>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INGENIERÍA DE SOFTWARE I</a:t>
            </a:r>
            <a:endParaRPr/>
          </a:p>
        </p:txBody>
      </p:sp>
      <p:sp>
        <p:nvSpPr>
          <p:cNvPr id="157" name="Google Shape;157;p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a:t>
            </a:fld>
            <a:endParaRPr/>
          </a:p>
        </p:txBody>
      </p:sp>
      <p:sp>
        <p:nvSpPr>
          <p:cNvPr id="158" name="Google Shape;158;p2"/>
          <p:cNvSpPr/>
          <p:nvPr/>
        </p:nvSpPr>
        <p:spPr>
          <a:xfrm>
            <a:off x="1083358" y="2035959"/>
            <a:ext cx="10129156" cy="4460410"/>
          </a:xfrm>
          <a:prstGeom prst="rect">
            <a:avLst/>
          </a:prstGeom>
          <a:noFill/>
          <a:ln>
            <a:noFill/>
          </a:ln>
        </p:spPr>
        <p:txBody>
          <a:bodyPr spcFirstLastPara="1" wrap="square" lIns="89625" tIns="44800" rIns="89625" bIns="44800" anchor="t" anchorCtr="0">
            <a:noAutofit/>
          </a:bodyPr>
          <a:lstStyle/>
          <a:p>
            <a:pPr marL="618230" marR="0" lvl="0" indent="-110706"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sp>
        <p:nvSpPr>
          <p:cNvPr id="159" name="Google Shape;159;p2"/>
          <p:cNvSpPr/>
          <p:nvPr/>
        </p:nvSpPr>
        <p:spPr>
          <a:xfrm>
            <a:off x="7374842" y="4169043"/>
            <a:ext cx="157334" cy="557939"/>
          </a:xfrm>
          <a:prstGeom prst="rightBrace">
            <a:avLst>
              <a:gd name="adj1" fmla="val 8333"/>
              <a:gd name="adj2" fmla="val 50000"/>
            </a:avLst>
          </a:prstGeom>
          <a:noFill/>
          <a:ln w="127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160" name="Google Shape;160;p2"/>
          <p:cNvSpPr txBox="1"/>
          <p:nvPr/>
        </p:nvSpPr>
        <p:spPr>
          <a:xfrm>
            <a:off x="7532176" y="4245645"/>
            <a:ext cx="19383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ES" sz="1800">
                <a:solidFill>
                  <a:schemeClr val="dk1"/>
                </a:solidFill>
                <a:latin typeface="Calibri"/>
                <a:ea typeface="Calibri"/>
                <a:cs typeface="Calibri"/>
                <a:sym typeface="Calibri"/>
              </a:rPr>
              <a:t>Vistos en la clase 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8"/>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a:solidFill>
                  <a:schemeClr val="dk1"/>
                </a:solidFill>
                <a:latin typeface="Calibri"/>
                <a:ea typeface="Calibri"/>
                <a:cs typeface="Calibri"/>
                <a:sym typeface="Calibri"/>
              </a:rPr>
              <a:t>Métodos interactivos - JRP</a:t>
            </a:r>
            <a:endParaRPr sz="4382">
              <a:solidFill>
                <a:schemeClr val="dk1"/>
              </a:solidFill>
              <a:latin typeface="Calibri"/>
              <a:ea typeface="Calibri"/>
              <a:cs typeface="Calibri"/>
              <a:sym typeface="Calibri"/>
            </a:endParaRPr>
          </a:p>
        </p:txBody>
      </p:sp>
      <p:sp>
        <p:nvSpPr>
          <p:cNvPr id="167" name="Google Shape;167;p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68" name="Google Shape;168;p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69" name="Google Shape;169;p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a:t>
            </a:fld>
            <a:endParaRPr/>
          </a:p>
        </p:txBody>
      </p:sp>
      <p:sp>
        <p:nvSpPr>
          <p:cNvPr id="170" name="Google Shape;170;p8"/>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La Planeación Conjunta de Requerimientos (JRP) es un proceso mediante el cual se conducen reuniones de grupo altamente estructurados con el propósito de analizar problemas y definir requerimientos.</a:t>
            </a:r>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Alguna bibliografía la menciona como JAD (Joint Application Design).</a:t>
            </a:r>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Características:</a:t>
            </a:r>
            <a:endParaRPr/>
          </a:p>
          <a:p>
            <a:pPr marL="803224" marR="0" lvl="1" indent="-347853" algn="just" rtl="0">
              <a:spcBef>
                <a:spcPts val="0"/>
              </a:spcBef>
              <a:spcAft>
                <a:spcPts val="0"/>
              </a:spcAft>
              <a:buClr>
                <a:srgbClr val="C00000"/>
              </a:buClr>
              <a:buSzPts val="2390"/>
              <a:buFont typeface="Noto Sans Symbols"/>
              <a:buChar char="»"/>
            </a:pPr>
            <a:r>
              <a:rPr lang="es-ES" sz="2390" b="0" i="0" u="none" strike="noStrike" cap="none">
                <a:solidFill>
                  <a:schemeClr val="dk1"/>
                </a:solidFill>
                <a:latin typeface="Calibri"/>
                <a:ea typeface="Calibri"/>
                <a:cs typeface="Calibri"/>
                <a:sym typeface="Calibri"/>
              </a:rPr>
              <a:t>Requiere de extenso entrenamiento.</a:t>
            </a:r>
            <a:endParaRPr/>
          </a:p>
          <a:p>
            <a:pPr marL="803224" marR="0" lvl="1" indent="-347853" algn="just" rtl="0">
              <a:spcBef>
                <a:spcPts val="0"/>
              </a:spcBef>
              <a:spcAft>
                <a:spcPts val="0"/>
              </a:spcAft>
              <a:buClr>
                <a:srgbClr val="C00000"/>
              </a:buClr>
              <a:buSzPts val="2390"/>
              <a:buFont typeface="Noto Sans Symbols"/>
              <a:buChar char="»"/>
            </a:pPr>
            <a:r>
              <a:rPr lang="es-ES" sz="2390" b="0" i="0" u="none" strike="noStrike" cap="none">
                <a:solidFill>
                  <a:schemeClr val="dk1"/>
                </a:solidFill>
                <a:latin typeface="Calibri"/>
                <a:ea typeface="Calibri"/>
                <a:cs typeface="Calibri"/>
                <a:sym typeface="Calibri"/>
              </a:rPr>
              <a:t>Reduce el tiempo de exploración de requisitos.</a:t>
            </a:r>
            <a:endParaRPr/>
          </a:p>
          <a:p>
            <a:pPr marL="803224" marR="0" lvl="1" indent="-347853" algn="just" rtl="0">
              <a:spcBef>
                <a:spcPts val="0"/>
              </a:spcBef>
              <a:spcAft>
                <a:spcPts val="0"/>
              </a:spcAft>
              <a:buClr>
                <a:srgbClr val="C00000"/>
              </a:buClr>
              <a:buSzPts val="2390"/>
              <a:buFont typeface="Noto Sans Symbols"/>
              <a:buChar char="»"/>
            </a:pPr>
            <a:r>
              <a:rPr lang="es-ES" sz="2390" b="0" i="0" u="none" strike="noStrike" cap="none">
                <a:solidFill>
                  <a:schemeClr val="dk1"/>
                </a:solidFill>
                <a:latin typeface="Calibri"/>
                <a:ea typeface="Calibri"/>
                <a:cs typeface="Calibri"/>
                <a:sym typeface="Calibri"/>
              </a:rPr>
              <a:t>Amplia participación de los integrantes.</a:t>
            </a:r>
            <a:endParaRPr/>
          </a:p>
          <a:p>
            <a:pPr marL="803224" marR="0" lvl="1" indent="-347853" algn="just" rtl="0">
              <a:spcBef>
                <a:spcPts val="0"/>
              </a:spcBef>
              <a:spcAft>
                <a:spcPts val="0"/>
              </a:spcAft>
              <a:buClr>
                <a:srgbClr val="C00000"/>
              </a:buClr>
              <a:buSzPts val="2390"/>
              <a:buFont typeface="Noto Sans Symbols"/>
              <a:buChar char="»"/>
            </a:pPr>
            <a:r>
              <a:rPr lang="es-ES" sz="2390" b="0" i="0" u="none" strike="noStrike" cap="none">
                <a:solidFill>
                  <a:schemeClr val="dk1"/>
                </a:solidFill>
                <a:latin typeface="Calibri"/>
                <a:ea typeface="Calibri"/>
                <a:cs typeface="Calibri"/>
                <a:sym typeface="Calibri"/>
              </a:rPr>
              <a:t>Se trabaja sobre lo que se va generando.</a:t>
            </a:r>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pic>
        <p:nvPicPr>
          <p:cNvPr id="171" name="Google Shape;171;p8" descr="http://blog.commlabindia.com/wp-content/uploads/2011/11/methods-to-organize.jpg"/>
          <p:cNvPicPr preferRelativeResize="0"/>
          <p:nvPr/>
        </p:nvPicPr>
        <p:blipFill rotWithShape="1">
          <a:blip r:embed="rId3">
            <a:alphaModFix/>
          </a:blip>
          <a:srcRect/>
          <a:stretch/>
        </p:blipFill>
        <p:spPr>
          <a:xfrm>
            <a:off x="8964209" y="4116514"/>
            <a:ext cx="2381250" cy="189734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9"/>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a:solidFill>
                  <a:schemeClr val="dk1"/>
                </a:solidFill>
                <a:latin typeface="Calibri"/>
                <a:ea typeface="Calibri"/>
                <a:cs typeface="Calibri"/>
                <a:sym typeface="Calibri"/>
              </a:rPr>
              <a:t>Métodos interactivos - JRP</a:t>
            </a:r>
            <a:endParaRPr sz="4382">
              <a:solidFill>
                <a:schemeClr val="dk1"/>
              </a:solidFill>
              <a:latin typeface="Calibri"/>
              <a:ea typeface="Calibri"/>
              <a:cs typeface="Calibri"/>
              <a:sym typeface="Calibri"/>
            </a:endParaRPr>
          </a:p>
        </p:txBody>
      </p:sp>
      <p:sp>
        <p:nvSpPr>
          <p:cNvPr id="178" name="Google Shape;178;p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179" name="Google Shape;179;p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80" name="Google Shape;180;p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5</a:t>
            </a:fld>
            <a:endParaRPr/>
          </a:p>
        </p:txBody>
      </p:sp>
      <p:sp>
        <p:nvSpPr>
          <p:cNvPr id="181" name="Google Shape;181;p9"/>
          <p:cNvSpPr/>
          <p:nvPr/>
        </p:nvSpPr>
        <p:spPr>
          <a:xfrm>
            <a:off x="1083358" y="177348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Ventajas:</a:t>
            </a:r>
            <a:endParaRPr/>
          </a:p>
          <a:p>
            <a:pPr marL="803224" marR="0" lvl="1" indent="-347853" algn="just" rtl="0">
              <a:spcBef>
                <a:spcPts val="0"/>
              </a:spcBef>
              <a:spcAft>
                <a:spcPts val="0"/>
              </a:spcAft>
              <a:buClr>
                <a:srgbClr val="C00000"/>
              </a:buClr>
              <a:buSzPts val="2390"/>
              <a:buFont typeface="Noto Sans Symbols"/>
              <a:buChar char="»"/>
            </a:pPr>
            <a:r>
              <a:rPr lang="es-ES" sz="2390" b="0" i="0" u="none" strike="noStrike" cap="none">
                <a:solidFill>
                  <a:schemeClr val="dk1"/>
                </a:solidFill>
                <a:latin typeface="Calibri"/>
                <a:ea typeface="Calibri"/>
                <a:cs typeface="Calibri"/>
                <a:sym typeface="Calibri"/>
              </a:rPr>
              <a:t>Ahorro de tiempo</a:t>
            </a:r>
            <a:endParaRPr/>
          </a:p>
          <a:p>
            <a:pPr marL="803224" marR="0" lvl="1" indent="-347853" algn="just" rtl="0">
              <a:spcBef>
                <a:spcPts val="0"/>
              </a:spcBef>
              <a:spcAft>
                <a:spcPts val="0"/>
              </a:spcAft>
              <a:buClr>
                <a:srgbClr val="C00000"/>
              </a:buClr>
              <a:buSzPts val="2390"/>
              <a:buFont typeface="Noto Sans Symbols"/>
              <a:buChar char="»"/>
            </a:pPr>
            <a:r>
              <a:rPr lang="es-ES" sz="2390" b="0" i="0" u="none" strike="noStrike" cap="none">
                <a:solidFill>
                  <a:schemeClr val="dk1"/>
                </a:solidFill>
                <a:latin typeface="Calibri"/>
                <a:ea typeface="Calibri"/>
                <a:cs typeface="Calibri"/>
                <a:sym typeface="Calibri"/>
              </a:rPr>
              <a:t>Usuarios involucrados</a:t>
            </a:r>
            <a:endParaRPr/>
          </a:p>
          <a:p>
            <a:pPr marL="803224" marR="0" lvl="1" indent="-347853" algn="just" rtl="0">
              <a:spcBef>
                <a:spcPts val="0"/>
              </a:spcBef>
              <a:spcAft>
                <a:spcPts val="0"/>
              </a:spcAft>
              <a:buClr>
                <a:srgbClr val="C00000"/>
              </a:buClr>
              <a:buSzPts val="2390"/>
              <a:buFont typeface="Noto Sans Symbols"/>
              <a:buChar char="»"/>
            </a:pPr>
            <a:r>
              <a:rPr lang="es-ES" sz="2390" b="0" i="0" u="none" strike="noStrike" cap="none">
                <a:solidFill>
                  <a:schemeClr val="dk1"/>
                </a:solidFill>
                <a:latin typeface="Calibri"/>
                <a:ea typeface="Calibri"/>
                <a:cs typeface="Calibri"/>
                <a:sym typeface="Calibri"/>
              </a:rPr>
              <a:t>Desarrollos creativos</a:t>
            </a:r>
            <a:endParaRPr/>
          </a:p>
          <a:p>
            <a:pPr marL="803224" marR="0" lvl="1" indent="-196088" algn="just" rtl="0">
              <a:spcBef>
                <a:spcPts val="0"/>
              </a:spcBef>
              <a:spcAft>
                <a:spcPts val="0"/>
              </a:spcAft>
              <a:buClr>
                <a:srgbClr val="C00000"/>
              </a:buClr>
              <a:buSzPts val="2390"/>
              <a:buFont typeface="Noto Sans Symbols"/>
              <a:buNone/>
            </a:pPr>
            <a:endParaRPr sz="2390" b="0" i="0" u="none" strike="noStrike" cap="none">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Desventajas:</a:t>
            </a:r>
            <a:endParaRPr/>
          </a:p>
          <a:p>
            <a:pPr marL="803224" marR="0" lvl="1" indent="-347853" algn="just" rtl="0">
              <a:spcBef>
                <a:spcPts val="0"/>
              </a:spcBef>
              <a:spcAft>
                <a:spcPts val="0"/>
              </a:spcAft>
              <a:buClr>
                <a:srgbClr val="C00000"/>
              </a:buClr>
              <a:buSzPts val="2390"/>
              <a:buFont typeface="Noto Sans Symbols"/>
              <a:buChar char="»"/>
            </a:pPr>
            <a:r>
              <a:rPr lang="es-ES" sz="2390" b="0" i="0" u="none" strike="noStrike" cap="none">
                <a:solidFill>
                  <a:schemeClr val="dk1"/>
                </a:solidFill>
                <a:latin typeface="Calibri"/>
                <a:ea typeface="Calibri"/>
                <a:cs typeface="Calibri"/>
                <a:sym typeface="Calibri"/>
              </a:rPr>
              <a:t>Es difícil organizar los horarios de los involucrados</a:t>
            </a:r>
            <a:endParaRPr/>
          </a:p>
          <a:p>
            <a:pPr marL="803224" marR="0" lvl="1" indent="-347853" algn="just" rtl="0">
              <a:spcBef>
                <a:spcPts val="0"/>
              </a:spcBef>
              <a:spcAft>
                <a:spcPts val="0"/>
              </a:spcAft>
              <a:buClr>
                <a:srgbClr val="C00000"/>
              </a:buClr>
              <a:buSzPts val="2390"/>
              <a:buFont typeface="Noto Sans Symbols"/>
              <a:buChar char="»"/>
            </a:pPr>
            <a:r>
              <a:rPr lang="es-ES" sz="2390" b="0" i="0" u="none" strike="noStrike" cap="none">
                <a:solidFill>
                  <a:schemeClr val="dk1"/>
                </a:solidFill>
                <a:latin typeface="Calibri"/>
                <a:ea typeface="Calibri"/>
                <a:cs typeface="Calibri"/>
                <a:sym typeface="Calibri"/>
              </a:rPr>
              <a:t>Es complejo encontrar un grupo de participantes integrados y organizados</a:t>
            </a:r>
            <a:endParaRPr/>
          </a:p>
          <a:p>
            <a:pPr marL="447466" marR="0" lvl="0" indent="-270365" algn="just" rtl="0">
              <a:spcBef>
                <a:spcPts val="0"/>
              </a:spcBef>
              <a:spcAft>
                <a:spcPts val="0"/>
              </a:spcAft>
              <a:buClr>
                <a:srgbClr val="C00000"/>
              </a:buClr>
              <a:buSzPts val="2789"/>
              <a:buFont typeface="Noto Sans Symbols"/>
              <a:buNone/>
            </a:pPr>
            <a:endParaRPr sz="2789">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7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187" name="Google Shape;187;p73"/>
          <p:cNvSpPr txBox="1">
            <a:spLocks noGrp="1"/>
          </p:cNvSpPr>
          <p:nvPr>
            <p:ph type="sldNum" idx="12"/>
          </p:nvPr>
        </p:nvSpPr>
        <p:spPr>
          <a:xfrm>
            <a:off x="9901238" y="6459538"/>
            <a:ext cx="1311275" cy="365125"/>
          </a:xfrm>
          <a:prstGeom prst="rect">
            <a:avLst/>
          </a:prstGeom>
          <a:noFill/>
          <a:ln>
            <a:noFill/>
          </a:ln>
        </p:spPr>
        <p:txBody>
          <a:bodyPr spcFirstLastPara="1" wrap="square" lIns="91050" tIns="45500" rIns="91050" bIns="45500" anchor="b" anchorCtr="0">
            <a:noAutofit/>
          </a:bodyPr>
          <a:lstStyle/>
          <a:p>
            <a:pPr marL="0" lvl="0" indent="0" algn="r" rtl="0">
              <a:lnSpc>
                <a:spcPct val="100000"/>
              </a:lnSpc>
              <a:spcBef>
                <a:spcPts val="0"/>
              </a:spcBef>
              <a:spcAft>
                <a:spcPts val="0"/>
              </a:spcAft>
              <a:buClr>
                <a:srgbClr val="FFFFFF"/>
              </a:buClr>
              <a:buSzPts val="7700"/>
              <a:buFont typeface="Calibri"/>
              <a:buNone/>
            </a:pPr>
            <a:fld id="{00000000-1234-1234-1234-123412341234}" type="slidenum">
              <a:rPr lang="es-ES"/>
              <a:t>6</a:t>
            </a:fld>
            <a:endParaRPr/>
          </a:p>
        </p:txBody>
      </p:sp>
      <p:pic>
        <p:nvPicPr>
          <p:cNvPr id="188" name="Google Shape;188;p73"/>
          <p:cNvPicPr preferRelativeResize="0"/>
          <p:nvPr/>
        </p:nvPicPr>
        <p:blipFill rotWithShape="1">
          <a:blip r:embed="rId3">
            <a:alphaModFix/>
          </a:blip>
          <a:srcRect l="1860" t="8181" r="5062" b="4869"/>
          <a:stretch/>
        </p:blipFill>
        <p:spPr>
          <a:xfrm>
            <a:off x="1986116" y="345237"/>
            <a:ext cx="8208913" cy="5809200"/>
          </a:xfrm>
          <a:prstGeom prst="rect">
            <a:avLst/>
          </a:prstGeom>
          <a:noFill/>
          <a:ln>
            <a:noFill/>
          </a:ln>
        </p:spPr>
      </p:pic>
      <p:sp>
        <p:nvSpPr>
          <p:cNvPr id="189" name="Google Shape;189;p73"/>
          <p:cNvSpPr/>
          <p:nvPr/>
        </p:nvSpPr>
        <p:spPr>
          <a:xfrm>
            <a:off x="7536361" y="1226961"/>
            <a:ext cx="3140145" cy="1029943"/>
          </a:xfrm>
          <a:prstGeom prst="wedgeRoundRectCallout">
            <a:avLst>
              <a:gd name="adj1" fmla="val 10709"/>
              <a:gd name="adj2" fmla="val 163639"/>
              <a:gd name="adj3" fmla="val 16667"/>
            </a:avLst>
          </a:prstGeom>
          <a:gradFill>
            <a:gsLst>
              <a:gs pos="0">
                <a:srgbClr val="E4968F"/>
              </a:gs>
              <a:gs pos="45000">
                <a:srgbClr val="EAA9A2"/>
              </a:gs>
              <a:gs pos="100000">
                <a:srgbClr val="F2AEA7"/>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0" tIns="0" rIns="0" bIns="35850" anchor="ctr" anchorCtr="0">
            <a:noAutofit/>
          </a:bodyPr>
          <a:lstStyle/>
          <a:p>
            <a:pPr marL="93663" marR="0" lvl="1" indent="0" algn="just" rtl="0">
              <a:lnSpc>
                <a:spcPct val="100000"/>
              </a:lnSpc>
              <a:spcBef>
                <a:spcPts val="0"/>
              </a:spcBef>
              <a:spcAft>
                <a:spcPts val="0"/>
              </a:spcAft>
              <a:buClr>
                <a:schemeClr val="dk1"/>
              </a:buClr>
              <a:buSzPts val="1600"/>
              <a:buFont typeface="Calibri"/>
              <a:buNone/>
            </a:pPr>
            <a:r>
              <a:rPr lang="es-ES" sz="1600" b="1" i="0" u="none" strike="noStrike" cap="none">
                <a:solidFill>
                  <a:schemeClr val="dk1"/>
                </a:solidFill>
                <a:latin typeface="Calibri"/>
                <a:ea typeface="Calibri"/>
                <a:cs typeface="Calibri"/>
                <a:sym typeface="Calibri"/>
              </a:rPr>
              <a:t>Facilitador: </a:t>
            </a:r>
            <a:r>
              <a:rPr lang="es-ES" sz="1600" b="0" i="0" u="none" strike="noStrike" cap="none">
                <a:solidFill>
                  <a:schemeClr val="dk1"/>
                </a:solidFill>
                <a:latin typeface="Calibri"/>
                <a:ea typeface="Calibri"/>
                <a:cs typeface="Calibri"/>
                <a:sym typeface="Calibri"/>
              </a:rPr>
              <a:t>Dirige las sesiones y tiene amplias habilidades de comunicación  y negociación.</a:t>
            </a:r>
            <a:endParaRPr sz="1600" b="0" i="0" u="none" strike="noStrike" cap="none">
              <a:solidFill>
                <a:srgbClr val="000000"/>
              </a:solidFill>
              <a:latin typeface="Arial"/>
              <a:ea typeface="Arial"/>
              <a:cs typeface="Arial"/>
              <a:sym typeface="Arial"/>
            </a:endParaRPr>
          </a:p>
        </p:txBody>
      </p:sp>
      <p:sp>
        <p:nvSpPr>
          <p:cNvPr id="190" name="Google Shape;190;p73"/>
          <p:cNvSpPr/>
          <p:nvPr/>
        </p:nvSpPr>
        <p:spPr>
          <a:xfrm>
            <a:off x="3838281" y="4199661"/>
            <a:ext cx="3048267" cy="1029943"/>
          </a:xfrm>
          <a:prstGeom prst="wedgeRoundRectCallout">
            <a:avLst>
              <a:gd name="adj1" fmla="val 66648"/>
              <a:gd name="adj2" fmla="val 92492"/>
              <a:gd name="adj3" fmla="val 16667"/>
            </a:avLst>
          </a:prstGeom>
          <a:gradFill>
            <a:gsLst>
              <a:gs pos="0">
                <a:srgbClr val="E4968F"/>
              </a:gs>
              <a:gs pos="45000">
                <a:srgbClr val="EAA9A2"/>
              </a:gs>
              <a:gs pos="100000">
                <a:srgbClr val="F2AEA7"/>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0" tIns="0" rIns="0" bIns="35850" anchor="ctr" anchorCtr="0">
            <a:noAutofit/>
          </a:bodyPr>
          <a:lstStyle/>
          <a:p>
            <a:pPr marL="93663" marR="0" lvl="1" indent="0" algn="just" rtl="0">
              <a:lnSpc>
                <a:spcPct val="100000"/>
              </a:lnSpc>
              <a:spcBef>
                <a:spcPts val="0"/>
              </a:spcBef>
              <a:spcAft>
                <a:spcPts val="0"/>
              </a:spcAft>
              <a:buClr>
                <a:schemeClr val="dk1"/>
              </a:buClr>
              <a:buSzPts val="1600"/>
              <a:buFont typeface="Calibri"/>
              <a:buNone/>
            </a:pPr>
            <a:r>
              <a:rPr lang="es-ES" sz="1600" b="1" i="0" u="none" strike="noStrike" cap="none">
                <a:solidFill>
                  <a:schemeClr val="dk1"/>
                </a:solidFill>
                <a:latin typeface="Calibri"/>
                <a:ea typeface="Calibri"/>
                <a:cs typeface="Calibri"/>
                <a:sym typeface="Calibri"/>
              </a:rPr>
              <a:t>Secretarios</a:t>
            </a:r>
            <a:r>
              <a:rPr lang="es-ES" sz="1600" b="0" i="0" u="none" strike="noStrike" cap="none">
                <a:solidFill>
                  <a:schemeClr val="dk1"/>
                </a:solidFill>
                <a:latin typeface="Calibri"/>
                <a:ea typeface="Calibri"/>
                <a:cs typeface="Calibri"/>
                <a:sym typeface="Calibri"/>
              </a:rPr>
              <a:t>: Llevan el registro de la sesión y van publicando los resultados realizados.</a:t>
            </a:r>
            <a:endParaRPr sz="1600" b="0" i="0" u="none" strike="noStrike" cap="none">
              <a:solidFill>
                <a:srgbClr val="000000"/>
              </a:solidFill>
              <a:latin typeface="Arial"/>
              <a:ea typeface="Arial"/>
              <a:cs typeface="Arial"/>
              <a:sym typeface="Arial"/>
            </a:endParaRPr>
          </a:p>
        </p:txBody>
      </p:sp>
      <p:sp>
        <p:nvSpPr>
          <p:cNvPr id="191" name="Google Shape;191;p73"/>
          <p:cNvSpPr/>
          <p:nvPr/>
        </p:nvSpPr>
        <p:spPr>
          <a:xfrm>
            <a:off x="1255364" y="2969729"/>
            <a:ext cx="2473325" cy="1029943"/>
          </a:xfrm>
          <a:prstGeom prst="wedgeRoundRectCallout">
            <a:avLst>
              <a:gd name="adj1" fmla="val -52"/>
              <a:gd name="adj2" fmla="val 141605"/>
              <a:gd name="adj3" fmla="val 16667"/>
            </a:avLst>
          </a:prstGeom>
          <a:gradFill>
            <a:gsLst>
              <a:gs pos="0">
                <a:srgbClr val="E4968F"/>
              </a:gs>
              <a:gs pos="45000">
                <a:srgbClr val="EAA9A2"/>
              </a:gs>
              <a:gs pos="100000">
                <a:srgbClr val="F2AEA7"/>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0" tIns="0" rIns="0" bIns="35850" anchor="ctr" anchorCtr="0">
            <a:noAutofit/>
          </a:bodyPr>
          <a:lstStyle/>
          <a:p>
            <a:pPr marL="93663" marR="0" lvl="1" indent="0" algn="just" rtl="0">
              <a:lnSpc>
                <a:spcPct val="100000"/>
              </a:lnSpc>
              <a:spcBef>
                <a:spcPts val="0"/>
              </a:spcBef>
              <a:spcAft>
                <a:spcPts val="0"/>
              </a:spcAft>
              <a:buClr>
                <a:schemeClr val="dk1"/>
              </a:buClr>
              <a:buSzPts val="1600"/>
              <a:buFont typeface="Calibri"/>
              <a:buNone/>
            </a:pPr>
            <a:r>
              <a:rPr lang="es-ES" sz="1600" b="1" i="0" u="none" strike="noStrike" cap="none">
                <a:solidFill>
                  <a:schemeClr val="dk1"/>
                </a:solidFill>
                <a:latin typeface="Calibri"/>
                <a:ea typeface="Calibri"/>
                <a:cs typeface="Calibri"/>
                <a:sym typeface="Calibri"/>
              </a:rPr>
              <a:t>Equipos de TI</a:t>
            </a:r>
            <a:r>
              <a:rPr lang="es-ES" sz="1600" b="0" i="0" u="none" strike="noStrike" cap="none">
                <a:solidFill>
                  <a:schemeClr val="dk1"/>
                </a:solidFill>
                <a:latin typeface="Calibri"/>
                <a:ea typeface="Calibri"/>
                <a:cs typeface="Calibri"/>
                <a:sym typeface="Calibri"/>
              </a:rPr>
              <a:t>: Escuchan y toman nota de los requerimientos. </a:t>
            </a:r>
            <a:endParaRPr sz="1600" b="0" i="0" u="none" strike="noStrike" cap="none">
              <a:solidFill>
                <a:schemeClr val="lt1"/>
              </a:solidFill>
              <a:latin typeface="Calibri"/>
              <a:ea typeface="Calibri"/>
              <a:cs typeface="Calibri"/>
              <a:sym typeface="Calibri"/>
            </a:endParaRPr>
          </a:p>
        </p:txBody>
      </p:sp>
      <p:sp>
        <p:nvSpPr>
          <p:cNvPr id="192" name="Google Shape;192;p73"/>
          <p:cNvSpPr/>
          <p:nvPr/>
        </p:nvSpPr>
        <p:spPr>
          <a:xfrm>
            <a:off x="3979192" y="60894"/>
            <a:ext cx="3844081" cy="1155847"/>
          </a:xfrm>
          <a:prstGeom prst="wedgeRoundRectCallout">
            <a:avLst>
              <a:gd name="adj1" fmla="val 29891"/>
              <a:gd name="adj2" fmla="val 47775"/>
              <a:gd name="adj3" fmla="val 16667"/>
            </a:avLst>
          </a:prstGeom>
          <a:gradFill>
            <a:gsLst>
              <a:gs pos="0">
                <a:srgbClr val="E4968F"/>
              </a:gs>
              <a:gs pos="45000">
                <a:srgbClr val="EAA9A2"/>
              </a:gs>
              <a:gs pos="100000">
                <a:srgbClr val="F2AEA7"/>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0" tIns="0" rIns="0" bIns="35850" anchor="ctr" anchorCtr="0">
            <a:noAutofit/>
          </a:bodyPr>
          <a:lstStyle/>
          <a:p>
            <a:pPr marL="93663" marR="0" lvl="1" indent="0" algn="just" rtl="0">
              <a:lnSpc>
                <a:spcPct val="100000"/>
              </a:lnSpc>
              <a:spcBef>
                <a:spcPts val="0"/>
              </a:spcBef>
              <a:spcAft>
                <a:spcPts val="0"/>
              </a:spcAft>
              <a:buClr>
                <a:schemeClr val="dk1"/>
              </a:buClr>
              <a:buSzPts val="1600"/>
              <a:buFont typeface="Calibri"/>
              <a:buNone/>
            </a:pPr>
            <a:r>
              <a:rPr lang="es-ES" sz="1600" b="1" i="0" u="none" strike="noStrike" cap="none">
                <a:solidFill>
                  <a:schemeClr val="dk1"/>
                </a:solidFill>
                <a:latin typeface="Calibri"/>
                <a:ea typeface="Calibri"/>
                <a:cs typeface="Calibri"/>
                <a:sym typeface="Calibri"/>
              </a:rPr>
              <a:t>Patrocinador: </a:t>
            </a:r>
            <a:r>
              <a:rPr lang="es-ES" sz="1600" b="0" i="0" u="none" strike="noStrike" cap="none">
                <a:solidFill>
                  <a:schemeClr val="dk1"/>
                </a:solidFill>
                <a:latin typeface="Calibri"/>
                <a:ea typeface="Calibri"/>
                <a:cs typeface="Calibri"/>
                <a:sym typeface="Calibri"/>
              </a:rPr>
              <a:t>Miembro de la dirección con autoridad sobre los departamentos que participan, es el responsable del proyecto, toma las decisiones finales.</a:t>
            </a:r>
            <a:endParaRPr sz="1600" b="0" i="0" u="none" strike="noStrike" cap="none">
              <a:solidFill>
                <a:srgbClr val="000000"/>
              </a:solidFill>
              <a:latin typeface="Arial"/>
              <a:ea typeface="Arial"/>
              <a:cs typeface="Arial"/>
              <a:sym typeface="Arial"/>
            </a:endParaRPr>
          </a:p>
        </p:txBody>
      </p:sp>
      <p:sp>
        <p:nvSpPr>
          <p:cNvPr id="193" name="Google Shape;193;p73"/>
          <p:cNvSpPr txBox="1"/>
          <p:nvPr/>
        </p:nvSpPr>
        <p:spPr>
          <a:xfrm>
            <a:off x="8388222" y="115315"/>
            <a:ext cx="1806807" cy="459844"/>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chemeClr val="dk1"/>
              </a:buClr>
              <a:buSzPts val="2390"/>
              <a:buFont typeface="Calibri"/>
              <a:buNone/>
            </a:pPr>
            <a:r>
              <a:rPr lang="es-ES" sz="2390" b="0" i="0" u="none" strike="noStrike" cap="none">
                <a:solidFill>
                  <a:schemeClr val="dk1"/>
                </a:solidFill>
                <a:latin typeface="Calibri"/>
                <a:ea typeface="Calibri"/>
                <a:cs typeface="Calibri"/>
                <a:sym typeface="Calibri"/>
              </a:rPr>
              <a:t>Participantes</a:t>
            </a:r>
            <a:endParaRPr sz="1394" b="0" i="0" u="none" strike="noStrike" cap="none">
              <a:solidFill>
                <a:srgbClr val="000000"/>
              </a:solidFill>
              <a:latin typeface="Arial"/>
              <a:ea typeface="Arial"/>
              <a:cs typeface="Arial"/>
              <a:sym typeface="Arial"/>
            </a:endParaRPr>
          </a:p>
        </p:txBody>
      </p:sp>
      <p:sp>
        <p:nvSpPr>
          <p:cNvPr id="194" name="Google Shape;194;p73"/>
          <p:cNvSpPr/>
          <p:nvPr/>
        </p:nvSpPr>
        <p:spPr>
          <a:xfrm>
            <a:off x="1986117" y="1521842"/>
            <a:ext cx="3376298" cy="1029943"/>
          </a:xfrm>
          <a:prstGeom prst="wedgeRoundRectCallout">
            <a:avLst>
              <a:gd name="adj1" fmla="val 48834"/>
              <a:gd name="adj2" fmla="val 99232"/>
              <a:gd name="adj3" fmla="val 16667"/>
            </a:avLst>
          </a:prstGeom>
          <a:gradFill>
            <a:gsLst>
              <a:gs pos="0">
                <a:srgbClr val="E4968F"/>
              </a:gs>
              <a:gs pos="45000">
                <a:srgbClr val="EAA9A2"/>
              </a:gs>
              <a:gs pos="100000">
                <a:srgbClr val="F2AEA7"/>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0" tIns="0" rIns="0" bIns="35850" anchor="ctr" anchorCtr="0">
            <a:noAutofit/>
          </a:bodyPr>
          <a:lstStyle/>
          <a:p>
            <a:pPr marL="93663" marR="0" lvl="1" indent="0" algn="just" rtl="0">
              <a:lnSpc>
                <a:spcPct val="100000"/>
              </a:lnSpc>
              <a:spcBef>
                <a:spcPts val="0"/>
              </a:spcBef>
              <a:spcAft>
                <a:spcPts val="0"/>
              </a:spcAft>
              <a:buClr>
                <a:schemeClr val="dk1"/>
              </a:buClr>
              <a:buSzPts val="1600"/>
              <a:buFont typeface="Calibri"/>
              <a:buNone/>
            </a:pPr>
            <a:r>
              <a:rPr lang="es-ES" sz="1600" b="1" i="0" u="none" strike="noStrike" cap="none">
                <a:solidFill>
                  <a:schemeClr val="dk1"/>
                </a:solidFill>
                <a:latin typeface="Calibri"/>
                <a:ea typeface="Calibri"/>
                <a:cs typeface="Calibri"/>
                <a:sym typeface="Calibri"/>
              </a:rPr>
              <a:t>Usuarios y Gerentes</a:t>
            </a:r>
            <a:r>
              <a:rPr lang="es-ES" sz="1600" b="0" i="0" u="none" strike="noStrike" cap="none">
                <a:solidFill>
                  <a:schemeClr val="dk1"/>
                </a:solidFill>
                <a:latin typeface="Calibri"/>
                <a:ea typeface="Calibri"/>
                <a:cs typeface="Calibri"/>
                <a:sym typeface="Calibri"/>
              </a:rPr>
              <a:t>: Los usuarios comunican los requerimientos y los gerentes los aprueban.</a:t>
            </a:r>
            <a:endParaRPr sz="1600" b="0" i="0" u="none" strike="noStrike" cap="none">
              <a:solidFill>
                <a:srgbClr val="000000"/>
              </a:solidFill>
              <a:latin typeface="Arial"/>
              <a:ea typeface="Arial"/>
              <a:cs typeface="Arial"/>
              <a:sym typeface="Arial"/>
            </a:endParaRPr>
          </a:p>
        </p:txBody>
      </p:sp>
      <p:sp>
        <p:nvSpPr>
          <p:cNvPr id="195" name="Google Shape;195;p7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fade">
                                      <p:cBhvr>
                                        <p:cTn id="7" dur="500"/>
                                        <p:tgtEl>
                                          <p:spTgt spid="19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8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9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9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0"/>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a:solidFill>
                  <a:schemeClr val="dk1"/>
                </a:solidFill>
                <a:latin typeface="Calibri"/>
                <a:ea typeface="Calibri"/>
                <a:cs typeface="Calibri"/>
                <a:sym typeface="Calibri"/>
              </a:rPr>
              <a:t>Métodos interactivos - Brainstorming</a:t>
            </a:r>
            <a:endParaRPr sz="4382">
              <a:solidFill>
                <a:schemeClr val="dk1"/>
              </a:solidFill>
              <a:latin typeface="Calibri"/>
              <a:ea typeface="Calibri"/>
              <a:cs typeface="Calibri"/>
              <a:sym typeface="Calibri"/>
            </a:endParaRPr>
          </a:p>
        </p:txBody>
      </p:sp>
      <p:sp>
        <p:nvSpPr>
          <p:cNvPr id="202" name="Google Shape;202;p1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203" name="Google Shape;203;p1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204" name="Google Shape;204;p1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7</a:t>
            </a:fld>
            <a:endParaRPr/>
          </a:p>
        </p:txBody>
      </p:sp>
      <p:sp>
        <p:nvSpPr>
          <p:cNvPr id="205" name="Google Shape;205;p10"/>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La “Lluvia de ideas” (o Brainstorming) es una técnica para generar ideas al alentar a los participantes para que ofrezcan tantas ideas como sea posible, en un corto tiempo, sin ningún análisis, hasta que se hayan agotado las ideas.</a:t>
            </a:r>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Se promueve el desarrollo de ideas creativas para obtener soluciones.</a:t>
            </a:r>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Se realizan reuniones del equipo involucrado en la resolución del problema, conducidas por un director.</a:t>
            </a:r>
            <a:endParaRPr/>
          </a:p>
          <a:p>
            <a:pPr marL="455371" marR="0" lvl="1" indent="0" algn="just" rtl="0">
              <a:spcBef>
                <a:spcPts val="0"/>
              </a:spcBef>
              <a:spcAft>
                <a:spcPts val="0"/>
              </a:spcAft>
              <a:buNone/>
            </a:pPr>
            <a:endParaRPr sz="2390" b="0" i="0" u="none" strike="noStrike" cap="none">
              <a:solidFill>
                <a:schemeClr val="dk1"/>
              </a:solidFill>
              <a:latin typeface="Calibri"/>
              <a:ea typeface="Calibri"/>
              <a:cs typeface="Calibri"/>
              <a:sym typeface="Calibri"/>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1"/>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dirty="0">
                <a:solidFill>
                  <a:schemeClr val="dk1"/>
                </a:solidFill>
                <a:latin typeface="Calibri"/>
                <a:ea typeface="Calibri"/>
                <a:cs typeface="Calibri"/>
                <a:sym typeface="Calibri"/>
              </a:rPr>
              <a:t>Métodos interactivos - </a:t>
            </a:r>
            <a:r>
              <a:rPr lang="es-ES" sz="4382" dirty="0" err="1">
                <a:solidFill>
                  <a:schemeClr val="dk1"/>
                </a:solidFill>
                <a:latin typeface="Calibri"/>
                <a:ea typeface="Calibri"/>
                <a:cs typeface="Calibri"/>
                <a:sym typeface="Calibri"/>
              </a:rPr>
              <a:t>Brainstorming</a:t>
            </a:r>
            <a:endParaRPr sz="4382" dirty="0">
              <a:solidFill>
                <a:schemeClr val="dk1"/>
              </a:solidFill>
              <a:latin typeface="Calibri"/>
              <a:ea typeface="Calibri"/>
              <a:cs typeface="Calibri"/>
              <a:sym typeface="Calibri"/>
            </a:endParaRPr>
          </a:p>
        </p:txBody>
      </p:sp>
      <p:sp>
        <p:nvSpPr>
          <p:cNvPr id="212" name="Google Shape;212;p1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213" name="Google Shape;213;p1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214" name="Google Shape;214;p1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8</a:t>
            </a:fld>
            <a:endParaRPr/>
          </a:p>
        </p:txBody>
      </p:sp>
      <p:sp>
        <p:nvSpPr>
          <p:cNvPr id="215" name="Google Shape;215;p11"/>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Los principios en que se basa esta técnica son:</a:t>
            </a:r>
            <a:endParaRPr/>
          </a:p>
          <a:p>
            <a:pPr marL="712788" marR="0" lvl="1" indent="-355600" algn="just" rtl="0">
              <a:lnSpc>
                <a:spcPct val="85000"/>
              </a:lnSpc>
              <a:spcBef>
                <a:spcPts val="448"/>
              </a:spcBef>
              <a:spcAft>
                <a:spcPts val="0"/>
              </a:spcAft>
              <a:buClr>
                <a:srgbClr val="C00000"/>
              </a:buClr>
              <a:buSzPts val="2400"/>
              <a:buFont typeface="Noto Sans Symbols"/>
              <a:buChar char="»"/>
            </a:pPr>
            <a:r>
              <a:rPr lang="es-ES" sz="2400" b="0" i="0" u="none" strike="noStrike" cap="none">
                <a:solidFill>
                  <a:schemeClr val="dk1"/>
                </a:solidFill>
                <a:latin typeface="Calibri"/>
                <a:ea typeface="Calibri"/>
                <a:cs typeface="Calibri"/>
                <a:sym typeface="Calibri"/>
              </a:rPr>
              <a:t>Cuantas más ideas se sugieren, mejores resultados se conseguirán.</a:t>
            </a:r>
            <a:endParaRPr/>
          </a:p>
          <a:p>
            <a:pPr marL="712788" marR="0" lvl="1" indent="-355600" algn="just" rtl="0">
              <a:lnSpc>
                <a:spcPct val="85000"/>
              </a:lnSpc>
              <a:spcBef>
                <a:spcPts val="448"/>
              </a:spcBef>
              <a:spcAft>
                <a:spcPts val="0"/>
              </a:spcAft>
              <a:buClr>
                <a:srgbClr val="C00000"/>
              </a:buClr>
              <a:buSzPts val="2400"/>
              <a:buFont typeface="Noto Sans Symbols"/>
              <a:buChar char="»"/>
            </a:pPr>
            <a:r>
              <a:rPr lang="es-ES" sz="2400" b="0" i="0" u="none" strike="noStrike" cap="none">
                <a:solidFill>
                  <a:schemeClr val="dk1"/>
                </a:solidFill>
                <a:latin typeface="Calibri"/>
                <a:ea typeface="Calibri"/>
                <a:cs typeface="Calibri"/>
                <a:sym typeface="Calibri"/>
              </a:rPr>
              <a:t>La producción de ideas en grupos puede ser más efectiva que la individual.</a:t>
            </a:r>
            <a:endParaRPr/>
          </a:p>
          <a:p>
            <a:pPr marL="712788" marR="0" lvl="1" indent="-355600" algn="just" rtl="0">
              <a:lnSpc>
                <a:spcPct val="85000"/>
              </a:lnSpc>
              <a:spcBef>
                <a:spcPts val="448"/>
              </a:spcBef>
              <a:spcAft>
                <a:spcPts val="0"/>
              </a:spcAft>
              <a:buClr>
                <a:srgbClr val="C00000"/>
              </a:buClr>
              <a:buSzPts val="2400"/>
              <a:buFont typeface="Noto Sans Symbols"/>
              <a:buChar char="»"/>
            </a:pPr>
            <a:r>
              <a:rPr lang="es-ES" sz="2400" b="0" i="0" u="none" strike="noStrike" cap="none">
                <a:solidFill>
                  <a:schemeClr val="dk1"/>
                </a:solidFill>
                <a:latin typeface="Calibri"/>
                <a:ea typeface="Calibri"/>
                <a:cs typeface="Calibri"/>
                <a:sym typeface="Calibri"/>
              </a:rPr>
              <a:t>Las ideas de una persona pueden hacer que aparezcan otras por “contagio”.</a:t>
            </a:r>
            <a:endParaRPr/>
          </a:p>
          <a:p>
            <a:pPr marL="712788" marR="0" lvl="1" indent="-355600" algn="just" rtl="0">
              <a:lnSpc>
                <a:spcPct val="85000"/>
              </a:lnSpc>
              <a:spcBef>
                <a:spcPts val="448"/>
              </a:spcBef>
              <a:spcAft>
                <a:spcPts val="0"/>
              </a:spcAft>
              <a:buClr>
                <a:srgbClr val="C00000"/>
              </a:buClr>
              <a:buSzPts val="2400"/>
              <a:buFont typeface="Noto Sans Symbols"/>
              <a:buChar char="»"/>
            </a:pPr>
            <a:r>
              <a:rPr lang="es-ES" sz="2400" b="0" i="0" u="none" strike="noStrike" cap="none">
                <a:solidFill>
                  <a:schemeClr val="dk1"/>
                </a:solidFill>
                <a:latin typeface="Calibri"/>
                <a:ea typeface="Calibri"/>
                <a:cs typeface="Calibri"/>
                <a:sym typeface="Calibri"/>
              </a:rPr>
              <a:t>A veces las mejores ideas aparecen tarde.</a:t>
            </a:r>
            <a:endParaRPr/>
          </a:p>
          <a:p>
            <a:pPr marL="712788" marR="0" lvl="1" indent="-355600" algn="just" rtl="0">
              <a:lnSpc>
                <a:spcPct val="85000"/>
              </a:lnSpc>
              <a:spcBef>
                <a:spcPts val="448"/>
              </a:spcBef>
              <a:spcAft>
                <a:spcPts val="0"/>
              </a:spcAft>
              <a:buClr>
                <a:srgbClr val="C00000"/>
              </a:buClr>
              <a:buSzPts val="2400"/>
              <a:buFont typeface="Noto Sans Symbols"/>
              <a:buChar char="»"/>
            </a:pPr>
            <a:r>
              <a:rPr lang="es-ES" sz="2400" b="0" i="0" u="none" strike="noStrike" cap="none">
                <a:solidFill>
                  <a:schemeClr val="dk1"/>
                </a:solidFill>
                <a:latin typeface="Calibri"/>
                <a:ea typeface="Calibri"/>
                <a:cs typeface="Calibri"/>
                <a:sym typeface="Calibri"/>
              </a:rPr>
              <a:t>Es mejor elegir sobre una variedad de soluciones.</a:t>
            </a:r>
            <a:endParaRPr/>
          </a:p>
          <a:p>
            <a:pPr marL="455371" marR="0" lvl="1" indent="0" algn="just" rtl="0">
              <a:spcBef>
                <a:spcPts val="0"/>
              </a:spcBef>
              <a:spcAft>
                <a:spcPts val="0"/>
              </a:spcAft>
              <a:buNone/>
            </a:pPr>
            <a:endParaRPr sz="2390" b="0" i="0" u="none" strike="noStrike" cap="none">
              <a:solidFill>
                <a:schemeClr val="dk1"/>
              </a:solidFill>
              <a:latin typeface="Calibri"/>
              <a:ea typeface="Calibri"/>
              <a:cs typeface="Calibri"/>
              <a:sym typeface="Calibri"/>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pic>
        <p:nvPicPr>
          <p:cNvPr id="216" name="Google Shape;216;p11" descr="http://playpublicidad.com/prohibidodetenerse/wp-content/uploads/2014/06/nota_brainstorming.jpg"/>
          <p:cNvPicPr preferRelativeResize="0"/>
          <p:nvPr/>
        </p:nvPicPr>
        <p:blipFill rotWithShape="1">
          <a:blip r:embed="rId3">
            <a:alphaModFix/>
          </a:blip>
          <a:srcRect b="3955"/>
          <a:stretch/>
        </p:blipFill>
        <p:spPr>
          <a:xfrm>
            <a:off x="8382619" y="3859079"/>
            <a:ext cx="3037237" cy="214883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2"/>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a:solidFill>
                  <a:schemeClr val="dk1"/>
                </a:solidFill>
                <a:latin typeface="Calibri"/>
                <a:ea typeface="Calibri"/>
                <a:cs typeface="Calibri"/>
                <a:sym typeface="Calibri"/>
              </a:rPr>
              <a:t>Métodos interactivos - Brainstorming</a:t>
            </a:r>
            <a:endParaRPr sz="4382">
              <a:solidFill>
                <a:schemeClr val="dk1"/>
              </a:solidFill>
              <a:latin typeface="Calibri"/>
              <a:ea typeface="Calibri"/>
              <a:cs typeface="Calibri"/>
              <a:sym typeface="Calibri"/>
            </a:endParaRPr>
          </a:p>
        </p:txBody>
      </p:sp>
      <p:sp>
        <p:nvSpPr>
          <p:cNvPr id="223" name="Google Shape;223;p1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224" name="Google Shape;224;p1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225" name="Google Shape;225;p1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9</a:t>
            </a:fld>
            <a:endParaRPr/>
          </a:p>
        </p:txBody>
      </p:sp>
      <p:sp>
        <p:nvSpPr>
          <p:cNvPr id="226" name="Google Shape;226;p12"/>
          <p:cNvSpPr/>
          <p:nvPr/>
        </p:nvSpPr>
        <p:spPr>
          <a:xfrm>
            <a:off x="1151584" y="1886309"/>
            <a:ext cx="10060929"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Incluye una serie de fases de aplicación:</a:t>
            </a:r>
            <a:endParaRPr/>
          </a:p>
          <a:p>
            <a:pPr marL="449263" marR="0" lvl="0" indent="0" algn="just" rtl="0">
              <a:spcBef>
                <a:spcPts val="600"/>
              </a:spcBef>
              <a:spcAft>
                <a:spcPts val="0"/>
              </a:spcAft>
              <a:buNone/>
            </a:pPr>
            <a:r>
              <a:rPr lang="es-ES" sz="2400" i="1">
                <a:solidFill>
                  <a:schemeClr val="dk1"/>
                </a:solidFill>
                <a:latin typeface="Calibri"/>
                <a:ea typeface="Calibri"/>
                <a:cs typeface="Calibri"/>
                <a:sym typeface="Calibri"/>
              </a:rPr>
              <a:t>Descubrir hechos, Producir ideas, Descubrir soluciones</a:t>
            </a:r>
            <a:endParaRPr/>
          </a:p>
          <a:p>
            <a:pPr marL="447466" marR="0" lvl="0" indent="-447466" algn="just" rtl="0">
              <a:spcBef>
                <a:spcPts val="6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Clave para resolver la falta de consenso entre usuarios.</a:t>
            </a:r>
            <a:endParaRPr/>
          </a:p>
          <a:p>
            <a:pPr marL="447466" marR="0" lvl="0" indent="-447466" algn="just" rtl="0">
              <a:spcBef>
                <a:spcPts val="6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Es útil combinarlo con la toma de decisiones.</a:t>
            </a:r>
            <a:endParaRPr/>
          </a:p>
          <a:p>
            <a:pPr marL="447466" marR="0" lvl="0" indent="-447466" algn="just" rtl="0">
              <a:spcBef>
                <a:spcPts val="6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Ayuda a entender el dominio del problema.</a:t>
            </a:r>
            <a:endParaRPr/>
          </a:p>
          <a:p>
            <a:pPr marL="447466" marR="0" lvl="0" indent="-447466" algn="just" rtl="0">
              <a:spcBef>
                <a:spcPts val="6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Encara la dificultad del usuario para transmitir.</a:t>
            </a:r>
            <a:endParaRPr/>
          </a:p>
          <a:p>
            <a:pPr marL="447466" marR="0" lvl="0" indent="-447466" algn="just" rtl="0">
              <a:spcBef>
                <a:spcPts val="600"/>
              </a:spcBef>
              <a:spcAft>
                <a:spcPts val="600"/>
              </a:spcAft>
              <a:buClr>
                <a:srgbClr val="C00000"/>
              </a:buClr>
              <a:buSzPts val="2789"/>
              <a:buFont typeface="Noto Sans Symbols"/>
              <a:buChar char="❖"/>
            </a:pPr>
            <a:r>
              <a:rPr lang="es-ES" sz="2789">
                <a:solidFill>
                  <a:schemeClr val="dk1"/>
                </a:solidFill>
                <a:latin typeface="Calibri"/>
                <a:ea typeface="Calibri"/>
                <a:cs typeface="Calibri"/>
                <a:sym typeface="Calibri"/>
              </a:rPr>
              <a:t>Ayuda a entender: al usuario y al analista.</a:t>
            </a:r>
            <a:endParaRPr sz="2390">
              <a:solidFill>
                <a:schemeClr val="dk1"/>
              </a:solidFill>
              <a:latin typeface="Calibri"/>
              <a:ea typeface="Calibri"/>
              <a:cs typeface="Calibri"/>
              <a:sym typeface="Calibri"/>
            </a:endParaRPr>
          </a:p>
        </p:txBody>
      </p:sp>
      <p:pic>
        <p:nvPicPr>
          <p:cNvPr id="227" name="Google Shape;227;p12" descr="https://encrypted-tbn1.gstatic.com/images?q=tbn:ANd9GcR77L7RK3xzukWMjqz2NOpGBcqEl2vvYNpnEXkYB6jLXjLf_dJH"/>
          <p:cNvPicPr preferRelativeResize="0"/>
          <p:nvPr/>
        </p:nvPicPr>
        <p:blipFill rotWithShape="1">
          <a:blip r:embed="rId3">
            <a:alphaModFix/>
          </a:blip>
          <a:srcRect l="21514" t="20526" r="19703" b="26880"/>
          <a:stretch/>
        </p:blipFill>
        <p:spPr>
          <a:xfrm>
            <a:off x="9459007" y="4572000"/>
            <a:ext cx="1389807" cy="126305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4" name="Google Shape;234;g3f401fdffe8_0_0"/>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50"/>
              <a:buFont typeface="Calibri"/>
              <a:buNone/>
            </a:pPr>
            <a:fld id="{00000000-1234-1234-1234-123412341234}" type="slidenum">
              <a:rPr lang="es-ES"/>
              <a:t>10</a:t>
            </a:fld>
            <a:endParaRPr/>
          </a:p>
        </p:txBody>
      </p:sp>
      <p:pic>
        <p:nvPicPr>
          <p:cNvPr id="235" name="Google Shape;235;g3f401fdffe8_0_0" title="Técnicas_de_Elicitación_de_Requerimientos.png"/>
          <p:cNvPicPr preferRelativeResize="0"/>
          <p:nvPr/>
        </p:nvPicPr>
        <p:blipFill>
          <a:blip r:embed="rId3">
            <a:alphaModFix/>
          </a:blip>
          <a:stretch>
            <a:fillRect/>
          </a:stretch>
        </p:blipFill>
        <p:spPr>
          <a:xfrm>
            <a:off x="464683" y="303132"/>
            <a:ext cx="10298379" cy="5956174"/>
          </a:xfrm>
          <a:prstGeom prst="rect">
            <a:avLst/>
          </a:prstGeom>
          <a:noFill/>
          <a:ln>
            <a:noFill/>
          </a:ln>
        </p:spPr>
      </p:pic>
      <p:sp>
        <p:nvSpPr>
          <p:cNvPr id="2" name="Marcador de fecha 1">
            <a:extLst>
              <a:ext uri="{FF2B5EF4-FFF2-40B4-BE49-F238E27FC236}">
                <a16:creationId xmlns:a16="http://schemas.microsoft.com/office/drawing/2014/main" id="{B63D4DC5-4898-1BAB-DDCD-A3DB1B20A868}"/>
              </a:ext>
            </a:extLst>
          </p:cNvPr>
          <p:cNvSpPr>
            <a:spLocks noGrp="1"/>
          </p:cNvSpPr>
          <p:nvPr>
            <p:ph type="dt" idx="10"/>
          </p:nvPr>
        </p:nvSpPr>
        <p:spPr/>
        <p:txBody>
          <a:bodyPr/>
          <a:lstStyle/>
          <a:p>
            <a:r>
              <a:rPr lang="es-ES"/>
              <a:t>2026</a:t>
            </a:r>
          </a:p>
        </p:txBody>
      </p:sp>
      <p:sp>
        <p:nvSpPr>
          <p:cNvPr id="3" name="Marcador de pie de página 2">
            <a:extLst>
              <a:ext uri="{FF2B5EF4-FFF2-40B4-BE49-F238E27FC236}">
                <a16:creationId xmlns:a16="http://schemas.microsoft.com/office/drawing/2014/main" id="{E6605A9A-B24A-E6E7-7653-059CF33C89EE}"/>
              </a:ext>
            </a:extLst>
          </p:cNvPr>
          <p:cNvSpPr>
            <a:spLocks noGrp="1"/>
          </p:cNvSpPr>
          <p:nvPr>
            <p:ph type="ftr" idx="11"/>
          </p:nvPr>
        </p:nvSpPr>
        <p:spPr/>
        <p:txBody>
          <a:bodyPr/>
          <a:lstStyle/>
          <a:p>
            <a:r>
              <a:rPr lang="es-ES"/>
              <a:t>INGENIERÍA DE SOFTWARE I</a:t>
            </a: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 name="Marcador de fecha 1">
            <a:extLst>
              <a:ext uri="{FF2B5EF4-FFF2-40B4-BE49-F238E27FC236}">
                <a16:creationId xmlns:a16="http://schemas.microsoft.com/office/drawing/2014/main" id="{03159866-F0C7-3A57-528A-0B6B3C44DAF9}"/>
              </a:ext>
            </a:extLst>
          </p:cNvPr>
          <p:cNvSpPr>
            <a:spLocks noGrp="1"/>
          </p:cNvSpPr>
          <p:nvPr>
            <p:ph type="dt" idx="10"/>
          </p:nvPr>
        </p:nvSpPr>
        <p:spPr/>
        <p:txBody>
          <a:bodyPr/>
          <a:lstStyle/>
          <a:p>
            <a:r>
              <a:rPr lang="es-ES"/>
              <a:t>2026</a:t>
            </a:r>
          </a:p>
        </p:txBody>
      </p:sp>
      <p:sp>
        <p:nvSpPr>
          <p:cNvPr id="3" name="Marcador de pie de página 2">
            <a:extLst>
              <a:ext uri="{FF2B5EF4-FFF2-40B4-BE49-F238E27FC236}">
                <a16:creationId xmlns:a16="http://schemas.microsoft.com/office/drawing/2014/main" id="{B9495659-0FE3-ED94-062E-068CB063535C}"/>
              </a:ext>
            </a:extLst>
          </p:cNvPr>
          <p:cNvSpPr>
            <a:spLocks noGrp="1"/>
          </p:cNvSpPr>
          <p:nvPr>
            <p:ph type="ftr" idx="11"/>
          </p:nvPr>
        </p:nvSpPr>
        <p:spPr/>
        <p:txBody>
          <a:bodyPr/>
          <a:lstStyle/>
          <a:p>
            <a:r>
              <a:rPr lang="es-ES"/>
              <a:t>INGENIERÍA DE SOFTWARE I</a:t>
            </a:r>
          </a:p>
        </p:txBody>
      </p:sp>
      <p:sp>
        <p:nvSpPr>
          <p:cNvPr id="242" name="Google Shape;242;g3f401fdffe8_0_7"/>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50"/>
              <a:buFont typeface="Calibri"/>
              <a:buNone/>
            </a:pPr>
            <a:fld id="{00000000-1234-1234-1234-123412341234}" type="slidenum">
              <a:rPr lang="es-ES"/>
              <a:t>11</a:t>
            </a:fld>
            <a:endParaRPr/>
          </a:p>
        </p:txBody>
      </p:sp>
      <p:sp>
        <p:nvSpPr>
          <p:cNvPr id="241" name="Google Shape;241;g3f401fdffe8_0_7"/>
          <p:cNvSpPr txBox="1">
            <a:spLocks noGrp="1"/>
          </p:cNvSpPr>
          <p:nvPr>
            <p:ph type="title" idx="4294967295"/>
          </p:nvPr>
        </p:nvSpPr>
        <p:spPr>
          <a:xfrm>
            <a:off x="769749" y="2565589"/>
            <a:ext cx="10058400" cy="1449387"/>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r>
              <a:rPr lang="es-ES" dirty="0"/>
              <a:t>MÉTODOS DISCRETOS</a:t>
            </a:r>
            <a:endParaRPr dirty="0"/>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3"/>
          <p:cNvSpPr txBox="1">
            <a:spLocks noGrp="1"/>
          </p:cNvSpPr>
          <p:nvPr>
            <p:ph type="title"/>
          </p:nvPr>
        </p:nvSpPr>
        <p:spPr>
          <a:xfrm>
            <a:off x="1086866" y="1140614"/>
            <a:ext cx="10258593" cy="632876"/>
          </a:xfrm>
          <a:prstGeom prst="rect">
            <a:avLst/>
          </a:prstGeom>
          <a:noFill/>
          <a:ln>
            <a:noFill/>
          </a:ln>
        </p:spPr>
        <p:txBody>
          <a:bodyPr spcFirstLastPara="1" wrap="square" lIns="71675" tIns="35825" rIns="71675" bIns="35825" anchor="t" anchorCtr="0">
            <a:normAutofit/>
          </a:bodyPr>
          <a:lstStyle/>
          <a:p>
            <a:pPr marL="0" lvl="0" indent="0" algn="l" rtl="0">
              <a:lnSpc>
                <a:spcPct val="84000"/>
              </a:lnSpc>
              <a:spcBef>
                <a:spcPts val="0"/>
              </a:spcBef>
              <a:spcAft>
                <a:spcPts val="0"/>
              </a:spcAft>
              <a:buNone/>
            </a:pPr>
            <a:r>
              <a:rPr lang="es-ES" sz="4382">
                <a:solidFill>
                  <a:schemeClr val="dk1"/>
                </a:solidFill>
                <a:latin typeface="Calibri"/>
                <a:ea typeface="Calibri"/>
                <a:cs typeface="Calibri"/>
                <a:sym typeface="Calibri"/>
              </a:rPr>
              <a:t>Métodos discretos</a:t>
            </a:r>
            <a:endParaRPr sz="4382">
              <a:solidFill>
                <a:schemeClr val="dk1"/>
              </a:solidFill>
              <a:latin typeface="Calibri"/>
              <a:ea typeface="Calibri"/>
              <a:cs typeface="Calibri"/>
              <a:sym typeface="Calibri"/>
            </a:endParaRPr>
          </a:p>
        </p:txBody>
      </p:sp>
      <p:sp>
        <p:nvSpPr>
          <p:cNvPr id="249" name="Google Shape;249;p1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250" name="Google Shape;250;p1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251" name="Google Shape;251;p1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12</a:t>
            </a:fld>
            <a:endParaRPr/>
          </a:p>
        </p:txBody>
      </p:sp>
      <p:sp>
        <p:nvSpPr>
          <p:cNvPr id="252" name="Google Shape;252;p13"/>
          <p:cNvSpPr/>
          <p:nvPr/>
        </p:nvSpPr>
        <p:spPr>
          <a:xfrm>
            <a:off x="1083358" y="203595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Los métodos discretos son menos perturbadores que otras formas de averiguar los requerimientos </a:t>
            </a:r>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Se consideran insuficientes para recopilar información cuando se utilizan por sí solos, por lo que deben utilizarse junto con uno o varios métodos.</a:t>
            </a:r>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Utilizar diferentes métodos para acercarse a la organización es una práctica inteligente mediante la cual podrá formarse un panorama más completo de los requerimientos</a:t>
            </a:r>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pic>
        <p:nvPicPr>
          <p:cNvPr id="253" name="Google Shape;253;p13" descr="Resultado de imagen para recopilacion de datos metodos discretos"/>
          <p:cNvPicPr preferRelativeResize="0"/>
          <p:nvPr/>
        </p:nvPicPr>
        <p:blipFill rotWithShape="1">
          <a:blip r:embed="rId3">
            <a:alphaModFix/>
          </a:blip>
          <a:srcRect t="18954" b="18966"/>
          <a:stretch/>
        </p:blipFill>
        <p:spPr>
          <a:xfrm>
            <a:off x="9748433" y="5084511"/>
            <a:ext cx="2185201" cy="124379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5"/>
          <p:cNvSpPr txBox="1">
            <a:spLocks noGrp="1"/>
          </p:cNvSpPr>
          <p:nvPr>
            <p:ph type="title"/>
          </p:nvPr>
        </p:nvSpPr>
        <p:spPr>
          <a:xfrm>
            <a:off x="1086866" y="712922"/>
            <a:ext cx="10428375" cy="1060568"/>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3600">
                <a:solidFill>
                  <a:schemeClr val="dk1"/>
                </a:solidFill>
                <a:latin typeface="Calibri"/>
                <a:ea typeface="Calibri"/>
                <a:cs typeface="Calibri"/>
                <a:sym typeface="Calibri"/>
              </a:rPr>
              <a:t>Métodos discretos - Muestreo de la documentación, </a:t>
            </a:r>
            <a:br>
              <a:rPr lang="es-ES" sz="3600">
                <a:solidFill>
                  <a:schemeClr val="dk1"/>
                </a:solidFill>
                <a:latin typeface="Calibri"/>
                <a:ea typeface="Calibri"/>
                <a:cs typeface="Calibri"/>
                <a:sym typeface="Calibri"/>
              </a:rPr>
            </a:br>
            <a:r>
              <a:rPr lang="es-ES" sz="3600">
                <a:solidFill>
                  <a:schemeClr val="dk1"/>
                </a:solidFill>
                <a:latin typeface="Calibri"/>
                <a:ea typeface="Calibri"/>
                <a:cs typeface="Calibri"/>
                <a:sym typeface="Calibri"/>
              </a:rPr>
              <a:t>los formularios y los datos existentes</a:t>
            </a:r>
            <a:endParaRPr sz="3600">
              <a:solidFill>
                <a:schemeClr val="dk1"/>
              </a:solidFill>
              <a:latin typeface="Calibri"/>
              <a:ea typeface="Calibri"/>
              <a:cs typeface="Calibri"/>
              <a:sym typeface="Calibri"/>
            </a:endParaRPr>
          </a:p>
        </p:txBody>
      </p:sp>
      <p:sp>
        <p:nvSpPr>
          <p:cNvPr id="260" name="Google Shape;260;p1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261" name="Google Shape;261;p1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262" name="Google Shape;262;p1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13</a:t>
            </a:fld>
            <a:endParaRPr/>
          </a:p>
        </p:txBody>
      </p:sp>
      <p:sp>
        <p:nvSpPr>
          <p:cNvPr id="263" name="Google Shape;263;p15"/>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Recolección de hechos a partir de la documentación existente.</a:t>
            </a:r>
            <a:endParaRPr/>
          </a:p>
          <a:p>
            <a:pPr marL="447466" marR="0" lvl="0" indent="-270365" algn="just" rtl="0">
              <a:spcBef>
                <a:spcPts val="0"/>
              </a:spcBef>
              <a:spcAft>
                <a:spcPts val="0"/>
              </a:spcAft>
              <a:buClr>
                <a:srgbClr val="C00000"/>
              </a:buClr>
              <a:buSzPts val="2789"/>
              <a:buFont typeface="Noto Sans Symbols"/>
              <a:buNone/>
            </a:pPr>
            <a:endParaRPr sz="2789">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¿Qué tipo de documentos pueden enseñar algo acerca del sistema?</a:t>
            </a:r>
            <a:endParaRPr/>
          </a:p>
          <a:p>
            <a:pPr marL="898525" marR="0" lvl="0" indent="-449263"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Organigrama (identificar el propietario, usuarios claves).</a:t>
            </a:r>
            <a:endParaRPr/>
          </a:p>
          <a:p>
            <a:pPr marL="898525" marR="0" lvl="0" indent="-449263"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Memos, notas internas, minutas, registros contables.</a:t>
            </a:r>
            <a:endParaRPr/>
          </a:p>
          <a:p>
            <a:pPr marL="898525" marR="0" lvl="0" indent="-449263"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Solicitudes de proyectos de sistemas de información anteriores.</a:t>
            </a:r>
            <a:endParaRPr/>
          </a:p>
          <a:p>
            <a:pPr marL="898525" marR="0" lvl="0" indent="-296863" algn="just" rtl="0">
              <a:spcBef>
                <a:spcPts val="0"/>
              </a:spcBef>
              <a:spcAft>
                <a:spcPts val="0"/>
              </a:spcAft>
              <a:buClr>
                <a:srgbClr val="C00000"/>
              </a:buClr>
              <a:buSzPts val="2400"/>
              <a:buFont typeface="Noto Sans Symbols"/>
              <a:buNone/>
            </a:pPr>
            <a:endParaRPr sz="24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Permiten conocer el historial que origina el proyecto.</a:t>
            </a:r>
            <a:endParaRPr sz="2390">
              <a:solidFill>
                <a:schemeClr val="dk1"/>
              </a:solidFill>
              <a:latin typeface="Calibri"/>
              <a:ea typeface="Calibri"/>
              <a:cs typeface="Calibri"/>
              <a:sym typeface="Calibri"/>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pic>
        <p:nvPicPr>
          <p:cNvPr id="264" name="Google Shape;264;p15" descr="http://paosangu.bligoo.com.co/media/users/13/674240/images/public/80475/1305798646185-archivo_lateral_ergox.jpg?v=1305798678950"/>
          <p:cNvPicPr preferRelativeResize="0"/>
          <p:nvPr/>
        </p:nvPicPr>
        <p:blipFill rotWithShape="1">
          <a:blip r:embed="rId3">
            <a:alphaModFix/>
          </a:blip>
          <a:srcRect/>
          <a:stretch/>
        </p:blipFill>
        <p:spPr>
          <a:xfrm>
            <a:off x="10032668" y="4312241"/>
            <a:ext cx="2015496" cy="18328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16"/>
          <p:cNvSpPr txBox="1">
            <a:spLocks noGrp="1"/>
          </p:cNvSpPr>
          <p:nvPr>
            <p:ph type="title"/>
          </p:nvPr>
        </p:nvSpPr>
        <p:spPr>
          <a:xfrm>
            <a:off x="1086866" y="712922"/>
            <a:ext cx="10428375" cy="1060568"/>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3600">
                <a:solidFill>
                  <a:schemeClr val="dk1"/>
                </a:solidFill>
                <a:latin typeface="Calibri"/>
                <a:ea typeface="Calibri"/>
                <a:cs typeface="Calibri"/>
                <a:sym typeface="Calibri"/>
              </a:rPr>
              <a:t>Métodos discretos - Muestreo de la documentación, </a:t>
            </a:r>
            <a:br>
              <a:rPr lang="es-ES" sz="3600">
                <a:solidFill>
                  <a:schemeClr val="dk1"/>
                </a:solidFill>
                <a:latin typeface="Calibri"/>
                <a:ea typeface="Calibri"/>
                <a:cs typeface="Calibri"/>
                <a:sym typeface="Calibri"/>
              </a:rPr>
            </a:br>
            <a:r>
              <a:rPr lang="es-ES" sz="3600">
                <a:solidFill>
                  <a:schemeClr val="dk1"/>
                </a:solidFill>
                <a:latin typeface="Calibri"/>
                <a:ea typeface="Calibri"/>
                <a:cs typeface="Calibri"/>
                <a:sym typeface="Calibri"/>
              </a:rPr>
              <a:t>los formularios y los datos existentes</a:t>
            </a:r>
            <a:endParaRPr sz="3600">
              <a:solidFill>
                <a:schemeClr val="dk1"/>
              </a:solidFill>
              <a:latin typeface="Calibri"/>
              <a:ea typeface="Calibri"/>
              <a:cs typeface="Calibri"/>
              <a:sym typeface="Calibri"/>
            </a:endParaRPr>
          </a:p>
        </p:txBody>
      </p:sp>
      <p:sp>
        <p:nvSpPr>
          <p:cNvPr id="271" name="Google Shape;271;p16"/>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272" name="Google Shape;272;p16"/>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273" name="Google Shape;273;p16"/>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14</a:t>
            </a:fld>
            <a:endParaRPr/>
          </a:p>
        </p:txBody>
      </p:sp>
      <p:sp>
        <p:nvSpPr>
          <p:cNvPr id="274" name="Google Shape;274;p16"/>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Documentos que describen la funcionalidad del negocio que está siendo analizada.</a:t>
            </a:r>
            <a:endParaRPr/>
          </a:p>
          <a:p>
            <a:pPr marL="898525" marR="0" lvl="2" indent="-44926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Declaración de la misión y plan estratégico de la organización.</a:t>
            </a:r>
            <a:endParaRPr/>
          </a:p>
          <a:p>
            <a:pPr marL="898525" marR="0" lvl="2" indent="-44926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Objetivos formales del departamento en cuestión.</a:t>
            </a:r>
            <a:endParaRPr/>
          </a:p>
          <a:p>
            <a:pPr marL="898525" marR="0" lvl="2" indent="-44926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Políticas, restricciones, procedimientos operativos.</a:t>
            </a:r>
            <a:endParaRPr/>
          </a:p>
          <a:p>
            <a:pPr marL="898525" marR="0" lvl="2" indent="-44926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Bases de Datos.</a:t>
            </a:r>
            <a:endParaRPr/>
          </a:p>
          <a:p>
            <a:pPr marL="898525" marR="0" lvl="2" indent="-44926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Sistemas en funcionamiento.</a:t>
            </a:r>
            <a:endParaRPr sz="2789" b="0" i="0" u="none" strike="noStrike" cap="none">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Documentación de sistemas anteriores.</a:t>
            </a:r>
            <a:endParaRPr/>
          </a:p>
          <a:p>
            <a:pPr marL="898525" marR="0" lvl="0" indent="-449263" algn="just" rtl="0">
              <a:spcBef>
                <a:spcPts val="0"/>
              </a:spcBef>
              <a:spcAft>
                <a:spcPts val="0"/>
              </a:spcAft>
              <a:buClr>
                <a:srgbClr val="C00000"/>
              </a:buClr>
              <a:buSzPts val="2200"/>
              <a:buFont typeface="Noto Sans Symbols"/>
              <a:buChar char="»"/>
            </a:pPr>
            <a:r>
              <a:rPr lang="es-ES" sz="2200">
                <a:solidFill>
                  <a:schemeClr val="dk1"/>
                </a:solidFill>
                <a:latin typeface="Calibri"/>
                <a:ea typeface="Calibri"/>
                <a:cs typeface="Calibri"/>
                <a:sym typeface="Calibri"/>
              </a:rPr>
              <a:t>Diagramas.</a:t>
            </a:r>
            <a:endParaRPr/>
          </a:p>
          <a:p>
            <a:pPr marL="898525" marR="0" lvl="0" indent="-449263" algn="just" rtl="0">
              <a:spcBef>
                <a:spcPts val="0"/>
              </a:spcBef>
              <a:spcAft>
                <a:spcPts val="0"/>
              </a:spcAft>
              <a:buClr>
                <a:srgbClr val="C00000"/>
              </a:buClr>
              <a:buSzPts val="2200"/>
              <a:buFont typeface="Noto Sans Symbols"/>
              <a:buChar char="»"/>
            </a:pPr>
            <a:r>
              <a:rPr lang="es-ES" sz="2200">
                <a:solidFill>
                  <a:schemeClr val="dk1"/>
                </a:solidFill>
                <a:latin typeface="Calibri"/>
                <a:ea typeface="Calibri"/>
                <a:cs typeface="Calibri"/>
                <a:sym typeface="Calibri"/>
              </a:rPr>
              <a:t>Diccionario o Repositorios de proyecto.</a:t>
            </a:r>
            <a:endParaRPr/>
          </a:p>
          <a:p>
            <a:pPr marL="898525" marR="0" lvl="0" indent="-449263" algn="just" rtl="0">
              <a:spcBef>
                <a:spcPts val="0"/>
              </a:spcBef>
              <a:spcAft>
                <a:spcPts val="0"/>
              </a:spcAft>
              <a:buClr>
                <a:srgbClr val="C00000"/>
              </a:buClr>
              <a:buSzPts val="2200"/>
              <a:buFont typeface="Noto Sans Symbols"/>
              <a:buChar char="»"/>
            </a:pPr>
            <a:r>
              <a:rPr lang="es-ES" sz="2200">
                <a:solidFill>
                  <a:schemeClr val="dk1"/>
                </a:solidFill>
                <a:latin typeface="Calibri"/>
                <a:ea typeface="Calibri"/>
                <a:cs typeface="Calibri"/>
                <a:sym typeface="Calibri"/>
              </a:rPr>
              <a:t>Documentos de diseño.</a:t>
            </a:r>
            <a:endParaRPr/>
          </a:p>
          <a:p>
            <a:pPr marL="898525" marR="0" lvl="0" indent="-449263" algn="just" rtl="0">
              <a:spcBef>
                <a:spcPts val="0"/>
              </a:spcBef>
              <a:spcAft>
                <a:spcPts val="0"/>
              </a:spcAft>
              <a:buClr>
                <a:srgbClr val="C00000"/>
              </a:buClr>
              <a:buSzPts val="2200"/>
              <a:buFont typeface="Noto Sans Symbols"/>
              <a:buChar char="»"/>
            </a:pPr>
            <a:r>
              <a:rPr lang="es-ES" sz="2200">
                <a:solidFill>
                  <a:schemeClr val="dk1"/>
                </a:solidFill>
                <a:latin typeface="Calibri"/>
                <a:ea typeface="Calibri"/>
                <a:cs typeface="Calibri"/>
                <a:sym typeface="Calibri"/>
              </a:rPr>
              <a:t>Manuales de operación y/o entrenamiento.</a:t>
            </a:r>
            <a:endParaRPr/>
          </a:p>
          <a:p>
            <a:pPr marL="0" marR="0" lvl="0" indent="0" algn="just" rtl="0">
              <a:spcBef>
                <a:spcPts val="0"/>
              </a:spcBef>
              <a:spcAft>
                <a:spcPts val="0"/>
              </a:spcAft>
              <a:buNone/>
            </a:pPr>
            <a:endParaRPr sz="239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17"/>
          <p:cNvSpPr txBox="1">
            <a:spLocks noGrp="1"/>
          </p:cNvSpPr>
          <p:nvPr>
            <p:ph type="title"/>
          </p:nvPr>
        </p:nvSpPr>
        <p:spPr>
          <a:xfrm>
            <a:off x="1086866" y="1177870"/>
            <a:ext cx="10722842"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3800" dirty="0">
                <a:solidFill>
                  <a:schemeClr val="dk1"/>
                </a:solidFill>
                <a:latin typeface="Calibri"/>
                <a:ea typeface="Calibri"/>
                <a:cs typeface="Calibri"/>
                <a:sym typeface="Calibri"/>
              </a:rPr>
              <a:t>Métodos discretos - Investigación y visitas al lugar</a:t>
            </a:r>
            <a:endParaRPr sz="3800" dirty="0">
              <a:solidFill>
                <a:schemeClr val="dk1"/>
              </a:solidFill>
              <a:latin typeface="Calibri"/>
              <a:ea typeface="Calibri"/>
              <a:cs typeface="Calibri"/>
              <a:sym typeface="Calibri"/>
            </a:endParaRPr>
          </a:p>
        </p:txBody>
      </p:sp>
      <p:sp>
        <p:nvSpPr>
          <p:cNvPr id="281" name="Google Shape;281;p17"/>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282" name="Google Shape;282;p17"/>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283" name="Google Shape;283;p17"/>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15</a:t>
            </a:fld>
            <a:endParaRPr/>
          </a:p>
        </p:txBody>
      </p:sp>
      <p:sp>
        <p:nvSpPr>
          <p:cNvPr id="284" name="Google Shape;284;p17"/>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lnSpc>
                <a:spcPct val="150000"/>
              </a:lnSpc>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Investigar el dominio. </a:t>
            </a:r>
            <a:endParaRPr/>
          </a:p>
          <a:p>
            <a:pPr marL="447466" marR="0" lvl="0" indent="-447466" algn="just" rtl="0">
              <a:lnSpc>
                <a:spcPct val="150000"/>
              </a:lnSpc>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Patrones de soluciones (mismo problema en otra organización).</a:t>
            </a:r>
            <a:endParaRPr/>
          </a:p>
          <a:p>
            <a:pPr marL="447466" marR="0" lvl="0" indent="-447466" algn="just" rtl="0">
              <a:lnSpc>
                <a:spcPct val="150000"/>
              </a:lnSpc>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Revistas especializadas.</a:t>
            </a:r>
            <a:endParaRPr/>
          </a:p>
          <a:p>
            <a:pPr marL="447466" marR="0" lvl="0" indent="-447466" algn="just" rtl="0">
              <a:lnSpc>
                <a:spcPct val="150000"/>
              </a:lnSpc>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Buscar problemas similares en internet.</a:t>
            </a:r>
            <a:endParaRPr/>
          </a:p>
          <a:p>
            <a:pPr marL="447466" marR="0" lvl="0" indent="-447466" algn="just" rtl="0">
              <a:lnSpc>
                <a:spcPct val="150000"/>
              </a:lnSpc>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Consultar otras organizaciones.</a:t>
            </a:r>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pic>
        <p:nvPicPr>
          <p:cNvPr id="285" name="Google Shape;285;p17" descr="http://imagenes.mailxmail.com/cursos/imagenes/5/1/tecnicas-de-auditoria-el-muestreo-y-el-rastreo_23215_15_2.jpg"/>
          <p:cNvPicPr preferRelativeResize="0"/>
          <p:nvPr/>
        </p:nvPicPr>
        <p:blipFill rotWithShape="1">
          <a:blip r:embed="rId3">
            <a:alphaModFix/>
          </a:blip>
          <a:srcRect r="15225"/>
          <a:stretch/>
        </p:blipFill>
        <p:spPr>
          <a:xfrm>
            <a:off x="8511493" y="4502960"/>
            <a:ext cx="3003748" cy="1394546"/>
          </a:xfrm>
          <a:prstGeom prst="rect">
            <a:avLst/>
          </a:prstGeom>
          <a:noFill/>
          <a:ln>
            <a:noFill/>
          </a:ln>
          <a:effectLst>
            <a:outerShdw blurRad="292100" dist="139700" dir="2700000" algn="tl" rotWithShape="0">
              <a:srgbClr val="333333">
                <a:alpha val="61961"/>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8"/>
          <p:cNvSpPr txBox="1">
            <a:spLocks noGrp="1"/>
          </p:cNvSpPr>
          <p:nvPr>
            <p:ph type="title"/>
          </p:nvPr>
        </p:nvSpPr>
        <p:spPr>
          <a:xfrm>
            <a:off x="1086866" y="650929"/>
            <a:ext cx="10428375" cy="1122560"/>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000" dirty="0">
                <a:solidFill>
                  <a:schemeClr val="dk1"/>
                </a:solidFill>
                <a:latin typeface="Calibri"/>
                <a:ea typeface="Calibri"/>
                <a:cs typeface="Calibri"/>
                <a:sym typeface="Calibri"/>
              </a:rPr>
              <a:t>Métodos discretos - Observación del ambiente </a:t>
            </a:r>
            <a:br>
              <a:rPr lang="es-ES" sz="4000" dirty="0">
                <a:solidFill>
                  <a:schemeClr val="dk1"/>
                </a:solidFill>
                <a:latin typeface="Calibri"/>
                <a:ea typeface="Calibri"/>
                <a:cs typeface="Calibri"/>
                <a:sym typeface="Calibri"/>
              </a:rPr>
            </a:br>
            <a:r>
              <a:rPr lang="es-ES" sz="4000" dirty="0">
                <a:solidFill>
                  <a:schemeClr val="dk1"/>
                </a:solidFill>
                <a:latin typeface="Calibri"/>
                <a:ea typeface="Calibri"/>
                <a:cs typeface="Calibri"/>
                <a:sym typeface="Calibri"/>
              </a:rPr>
              <a:t>de trabajo</a:t>
            </a:r>
            <a:endParaRPr sz="4000" dirty="0">
              <a:solidFill>
                <a:schemeClr val="dk1"/>
              </a:solidFill>
              <a:latin typeface="Calibri"/>
              <a:ea typeface="Calibri"/>
              <a:cs typeface="Calibri"/>
              <a:sym typeface="Calibri"/>
            </a:endParaRPr>
          </a:p>
        </p:txBody>
      </p:sp>
      <p:sp>
        <p:nvSpPr>
          <p:cNvPr id="292" name="Google Shape;292;p1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293" name="Google Shape;293;p1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294" name="Google Shape;294;p1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16</a:t>
            </a:fld>
            <a:endParaRPr/>
          </a:p>
        </p:txBody>
      </p:sp>
      <p:sp>
        <p:nvSpPr>
          <p:cNvPr id="295" name="Google Shape;295;p18"/>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El analista se convierte en observador de las personas y actividades con el objeto de aprender acerca del sistema.</a:t>
            </a:r>
            <a:endParaRPr/>
          </a:p>
          <a:p>
            <a:pPr marL="447466" marR="0" lvl="0" indent="-295066" algn="just" rtl="0">
              <a:spcBef>
                <a:spcPts val="0"/>
              </a:spcBef>
              <a:spcAft>
                <a:spcPts val="0"/>
              </a:spcAft>
              <a:buClr>
                <a:srgbClr val="C00000"/>
              </a:buClr>
              <a:buSzPts val="2400"/>
              <a:buFont typeface="Noto Sans Symbols"/>
              <a:buNone/>
            </a:pPr>
            <a:endParaRPr sz="24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Lineamientos de la observación:</a:t>
            </a:r>
            <a:endParaRPr/>
          </a:p>
          <a:p>
            <a:pPr marL="712788" marR="0" lvl="0" indent="-263525"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Determinar quién y cuándo será observado.</a:t>
            </a:r>
            <a:endParaRPr/>
          </a:p>
          <a:p>
            <a:pPr marL="712788" marR="0" lvl="0" indent="-263525"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Obtener el permiso de la persona y explicar el porqué será observado.</a:t>
            </a:r>
            <a:endParaRPr/>
          </a:p>
          <a:p>
            <a:pPr marL="712788" marR="0" lvl="0" indent="-263525"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Mantener bajo perfil.</a:t>
            </a:r>
            <a:endParaRPr/>
          </a:p>
          <a:p>
            <a:pPr marL="712788" marR="0" lvl="0" indent="-263525"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Tomar nota de lo observado.</a:t>
            </a:r>
            <a:endParaRPr/>
          </a:p>
          <a:p>
            <a:pPr marL="712788" marR="0" lvl="0" indent="-263525"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Revisar las notas con la persona apropiada.</a:t>
            </a:r>
            <a:endParaRPr/>
          </a:p>
          <a:p>
            <a:pPr marL="712788" marR="0" lvl="0" indent="-263525"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No interrumpir a la persona en su trabajo.</a:t>
            </a:r>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pic>
        <p:nvPicPr>
          <p:cNvPr id="296" name="Google Shape;296;p18" descr="EtnografíaLas personas a menudo encuentran difícil describir &quot;lo que hacen&quot; pues lacostumbre les lleva a omitir detalles d..."/>
          <p:cNvPicPr preferRelativeResize="0"/>
          <p:nvPr/>
        </p:nvPicPr>
        <p:blipFill rotWithShape="1">
          <a:blip r:embed="rId3">
            <a:alphaModFix/>
          </a:blip>
          <a:srcRect l="29073" t="10882" r="27305" b="61476"/>
          <a:stretch/>
        </p:blipFill>
        <p:spPr>
          <a:xfrm>
            <a:off x="9655444" y="4339525"/>
            <a:ext cx="2231226" cy="186754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9"/>
          <p:cNvSpPr txBox="1">
            <a:spLocks noGrp="1"/>
          </p:cNvSpPr>
          <p:nvPr>
            <p:ph type="title"/>
          </p:nvPr>
        </p:nvSpPr>
        <p:spPr>
          <a:xfrm>
            <a:off x="1086866" y="624101"/>
            <a:ext cx="10258593" cy="1149389"/>
          </a:xfrm>
          <a:prstGeom prst="rect">
            <a:avLst/>
          </a:prstGeom>
          <a:noFill/>
          <a:ln>
            <a:noFill/>
          </a:ln>
        </p:spPr>
        <p:txBody>
          <a:bodyPr spcFirstLastPara="1" wrap="square" lIns="71675" tIns="35825" rIns="71675" bIns="35825" anchor="t" anchorCtr="0">
            <a:normAutofit fontScale="90000"/>
          </a:bodyPr>
          <a:lstStyle/>
          <a:p>
            <a:pPr marL="0" lvl="0" indent="0" algn="l" rtl="0">
              <a:lnSpc>
                <a:spcPct val="84000"/>
              </a:lnSpc>
              <a:spcBef>
                <a:spcPts val="0"/>
              </a:spcBef>
              <a:spcAft>
                <a:spcPts val="0"/>
              </a:spcAft>
              <a:buNone/>
            </a:pPr>
            <a:r>
              <a:rPr lang="es-ES" sz="4400">
                <a:solidFill>
                  <a:schemeClr val="dk1"/>
                </a:solidFill>
              </a:rPr>
              <a:t>Métodos discretos - Observación del ambiente </a:t>
            </a:r>
            <a:br>
              <a:rPr lang="es-ES" sz="4400">
                <a:solidFill>
                  <a:schemeClr val="dk1"/>
                </a:solidFill>
              </a:rPr>
            </a:br>
            <a:r>
              <a:rPr lang="es-ES" sz="4400">
                <a:solidFill>
                  <a:schemeClr val="dk1"/>
                </a:solidFill>
              </a:rPr>
              <a:t>de trabajo</a:t>
            </a:r>
            <a:endParaRPr sz="4382">
              <a:solidFill>
                <a:schemeClr val="dk1"/>
              </a:solidFill>
              <a:latin typeface="Calibri"/>
              <a:ea typeface="Calibri"/>
              <a:cs typeface="Calibri"/>
              <a:sym typeface="Calibri"/>
            </a:endParaRPr>
          </a:p>
        </p:txBody>
      </p:sp>
      <p:sp>
        <p:nvSpPr>
          <p:cNvPr id="303" name="Google Shape;303;p1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304" name="Google Shape;304;p1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305" name="Google Shape;305;p1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17</a:t>
            </a:fld>
            <a:endParaRPr/>
          </a:p>
        </p:txBody>
      </p:sp>
      <p:sp>
        <p:nvSpPr>
          <p:cNvPr id="306" name="Google Shape;306;p19"/>
          <p:cNvSpPr/>
          <p:nvPr/>
        </p:nvSpPr>
        <p:spPr>
          <a:xfrm>
            <a:off x="1083358" y="177348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Ventajas:</a:t>
            </a:r>
            <a:endParaRPr/>
          </a:p>
          <a:p>
            <a:pPr marL="803224" marR="0" lvl="1" indent="-34785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Datos confiables </a:t>
            </a:r>
            <a:endParaRPr/>
          </a:p>
          <a:p>
            <a:pPr marL="803224" marR="0" lvl="1" indent="-34785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El analista puede ver exactamente lo que se hace (tareas difíciles de explicar con palabras).</a:t>
            </a:r>
            <a:endParaRPr/>
          </a:p>
          <a:p>
            <a:pPr marL="803224" marR="0" lvl="1" indent="-34785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Análisis de disposiciones físicas, tránsito, iluminación, ruido.</a:t>
            </a:r>
            <a:endParaRPr/>
          </a:p>
          <a:p>
            <a:pPr marL="803224" marR="0" lvl="1" indent="-34785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Económica en comparación con otras técnicas.</a:t>
            </a:r>
            <a:endParaRPr/>
          </a:p>
          <a:p>
            <a:pPr marL="803224" marR="0" lvl="1" indent="-208153" algn="just" rtl="0">
              <a:spcBef>
                <a:spcPts val="0"/>
              </a:spcBef>
              <a:spcAft>
                <a:spcPts val="0"/>
              </a:spcAft>
              <a:buClr>
                <a:srgbClr val="C00000"/>
              </a:buClr>
              <a:buSzPts val="2200"/>
              <a:buFont typeface="Noto Sans Symbols"/>
              <a:buNone/>
            </a:pPr>
            <a:endParaRPr sz="2200" b="0" i="0" u="none" strike="noStrike" cap="none">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Desventajas:</a:t>
            </a:r>
            <a:endParaRPr/>
          </a:p>
          <a:p>
            <a:pPr marL="803224" marR="0" lvl="1" indent="-34785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La gente se siente incómoda siendo observada.</a:t>
            </a:r>
            <a:endParaRPr/>
          </a:p>
          <a:p>
            <a:pPr marL="803224" marR="0" lvl="1" indent="-34785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Algunas actividades del sistema pueden ser realizadas en horarios incómodos.</a:t>
            </a:r>
            <a:endParaRPr/>
          </a:p>
          <a:p>
            <a:pPr marL="803224" marR="0" lvl="1" indent="-34785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Las tareas están sujetas a interrupciones.</a:t>
            </a:r>
            <a:endParaRPr/>
          </a:p>
          <a:p>
            <a:pPr marL="803224" marR="0" lvl="1" indent="-347853" algn="just" rtl="0">
              <a:spcBef>
                <a:spcPts val="0"/>
              </a:spcBef>
              <a:spcAft>
                <a:spcPts val="0"/>
              </a:spcAft>
              <a:buClr>
                <a:srgbClr val="C00000"/>
              </a:buClr>
              <a:buSzPts val="2200"/>
              <a:buFont typeface="Noto Sans Symbols"/>
              <a:buChar char="»"/>
            </a:pPr>
            <a:r>
              <a:rPr lang="es-ES" sz="2200" b="0" i="0" u="none" strike="noStrike" cap="none">
                <a:solidFill>
                  <a:schemeClr val="dk1"/>
                </a:solidFill>
                <a:latin typeface="Calibri"/>
                <a:ea typeface="Calibri"/>
                <a:cs typeface="Calibri"/>
                <a:sym typeface="Calibri"/>
              </a:rPr>
              <a:t>Tener en cuenta que la persona observada puede estar realizando las tareas de la forma “correcta” y no como lo hace habitualmente.</a:t>
            </a:r>
            <a:endParaRPr/>
          </a:p>
          <a:p>
            <a:pPr marL="447466" marR="0" lvl="0" indent="-270365" algn="just" rtl="0">
              <a:spcBef>
                <a:spcPts val="0"/>
              </a:spcBef>
              <a:spcAft>
                <a:spcPts val="0"/>
              </a:spcAft>
              <a:buClr>
                <a:srgbClr val="C00000"/>
              </a:buClr>
              <a:buSzPts val="2789"/>
              <a:buFont typeface="Noto Sans Symbols"/>
              <a:buNone/>
            </a:pPr>
            <a:endParaRPr sz="2789">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2" name="Marcador de fecha 1">
            <a:extLst>
              <a:ext uri="{FF2B5EF4-FFF2-40B4-BE49-F238E27FC236}">
                <a16:creationId xmlns:a16="http://schemas.microsoft.com/office/drawing/2014/main" id="{1561D40B-E713-C409-A42F-98AB90444DCB}"/>
              </a:ext>
            </a:extLst>
          </p:cNvPr>
          <p:cNvSpPr>
            <a:spLocks noGrp="1"/>
          </p:cNvSpPr>
          <p:nvPr>
            <p:ph type="dt" idx="10"/>
          </p:nvPr>
        </p:nvSpPr>
        <p:spPr/>
        <p:txBody>
          <a:bodyPr/>
          <a:lstStyle/>
          <a:p>
            <a:r>
              <a:rPr lang="es-ES"/>
              <a:t>2026</a:t>
            </a:r>
          </a:p>
        </p:txBody>
      </p:sp>
      <p:sp>
        <p:nvSpPr>
          <p:cNvPr id="3" name="Marcador de pie de página 2">
            <a:extLst>
              <a:ext uri="{FF2B5EF4-FFF2-40B4-BE49-F238E27FC236}">
                <a16:creationId xmlns:a16="http://schemas.microsoft.com/office/drawing/2014/main" id="{4965A77B-1FF7-BFAA-577A-0515B229C437}"/>
              </a:ext>
            </a:extLst>
          </p:cNvPr>
          <p:cNvSpPr>
            <a:spLocks noGrp="1"/>
          </p:cNvSpPr>
          <p:nvPr>
            <p:ph type="ftr" idx="11"/>
          </p:nvPr>
        </p:nvSpPr>
        <p:spPr/>
        <p:txBody>
          <a:bodyPr/>
          <a:lstStyle/>
          <a:p>
            <a:r>
              <a:rPr lang="es-ES"/>
              <a:t>INGENIERÍA DE SOFTWARE I</a:t>
            </a:r>
          </a:p>
        </p:txBody>
      </p:sp>
      <p:sp>
        <p:nvSpPr>
          <p:cNvPr id="313" name="Google Shape;313;g3f401fdffe8_0_19"/>
          <p:cNvSpPr txBox="1">
            <a:spLocks noGrp="1"/>
          </p:cNvSpPr>
          <p:nvPr>
            <p:ph type="sldNum"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FFFFFF"/>
              </a:buClr>
              <a:buSzPts val="1050"/>
              <a:buFont typeface="Calibri"/>
              <a:buNone/>
            </a:pPr>
            <a:fld id="{00000000-1234-1234-1234-123412341234}" type="slidenum">
              <a:rPr lang="es-ES"/>
              <a:t>18</a:t>
            </a:fld>
            <a:endParaRPr/>
          </a:p>
        </p:txBody>
      </p:sp>
      <p:pic>
        <p:nvPicPr>
          <p:cNvPr id="314" name="Google Shape;314;g3f401fdffe8_0_19" title="Naturaleza_de_los_Métodos_Discretos.png"/>
          <p:cNvPicPr preferRelativeResize="0"/>
          <p:nvPr/>
        </p:nvPicPr>
        <p:blipFill>
          <a:blip r:embed="rId3">
            <a:alphaModFix/>
          </a:blip>
          <a:stretch>
            <a:fillRect/>
          </a:stretch>
        </p:blipFill>
        <p:spPr>
          <a:xfrm>
            <a:off x="269932" y="662552"/>
            <a:ext cx="10429980" cy="5532895"/>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4"/>
          <p:cNvSpPr txBox="1">
            <a:spLocks noGrp="1"/>
          </p:cNvSpPr>
          <p:nvPr>
            <p:ph type="title"/>
          </p:nvPr>
        </p:nvSpPr>
        <p:spPr>
          <a:xfrm>
            <a:off x="457199" y="2262753"/>
            <a:ext cx="3339885" cy="617606"/>
          </a:xfrm>
          <a:prstGeom prst="rect">
            <a:avLst/>
          </a:prstGeom>
          <a:noFill/>
          <a:ln>
            <a:noFill/>
          </a:ln>
        </p:spPr>
        <p:txBody>
          <a:bodyPr spcFirstLastPara="1" wrap="square" lIns="91425" tIns="45700" rIns="91425" bIns="45700" anchor="ctr" anchorCtr="0">
            <a:noAutofit/>
          </a:bodyPr>
          <a:lstStyle/>
          <a:p>
            <a:pPr marL="0" lvl="0" indent="0" algn="l" rtl="0">
              <a:lnSpc>
                <a:spcPct val="85000"/>
              </a:lnSpc>
              <a:spcBef>
                <a:spcPts val="0"/>
              </a:spcBef>
              <a:spcAft>
                <a:spcPts val="0"/>
              </a:spcAft>
              <a:buClr>
                <a:schemeClr val="accent1"/>
              </a:buClr>
              <a:buSzPts val="4400"/>
              <a:buFont typeface="Calibri"/>
              <a:buNone/>
            </a:pPr>
            <a:r>
              <a:rPr lang="es-ES"/>
              <a:t>Especificación de Requerimientos</a:t>
            </a:r>
            <a:br>
              <a:rPr lang="es-ES" sz="4400" b="1"/>
            </a:br>
            <a:endParaRPr sz="4400" b="1"/>
          </a:p>
        </p:txBody>
      </p:sp>
      <p:sp>
        <p:nvSpPr>
          <p:cNvPr id="327" name="Google Shape;327;p24"/>
          <p:cNvSpPr txBox="1">
            <a:spLocks noGrp="1"/>
          </p:cNvSpPr>
          <p:nvPr>
            <p:ph type="body" idx="1"/>
          </p:nvPr>
        </p:nvSpPr>
        <p:spPr>
          <a:xfrm>
            <a:off x="4800600" y="731520"/>
            <a:ext cx="6492240" cy="5257800"/>
          </a:xfrm>
          <a:prstGeom prst="rect">
            <a:avLst/>
          </a:prstGeom>
          <a:noFill/>
          <a:ln>
            <a:noFill/>
          </a:ln>
        </p:spPr>
        <p:txBody>
          <a:bodyPr spcFirstLastPara="1" wrap="square" lIns="91425" tIns="45700" rIns="91425" bIns="45700" anchor="t" anchorCtr="0">
            <a:normAutofit fontScale="92500" lnSpcReduction="10000"/>
          </a:bodyPr>
          <a:lstStyle/>
          <a:p>
            <a:pPr marL="447466" lvl="0" indent="-447466" algn="just" rtl="0">
              <a:lnSpc>
                <a:spcPct val="90000"/>
              </a:lnSpc>
              <a:spcBef>
                <a:spcPts val="0"/>
              </a:spcBef>
              <a:spcAft>
                <a:spcPts val="0"/>
              </a:spcAft>
              <a:buClr>
                <a:srgbClr val="C00000"/>
              </a:buClr>
              <a:buSzPct val="100000"/>
              <a:buFont typeface="Noto Sans Symbols"/>
              <a:buChar char="❖"/>
            </a:pPr>
            <a:r>
              <a:rPr lang="es-ES" sz="3000">
                <a:solidFill>
                  <a:schemeClr val="dk1"/>
                </a:solidFill>
              </a:rPr>
              <a:t>Es el proceso de definir y documentar de manera clara las necesidades, funcionalidades y características que debe cumplir un sistema para satisfacer las expectativas del cliente.</a:t>
            </a:r>
            <a:endParaRPr/>
          </a:p>
          <a:p>
            <a:pPr marL="447466" lvl="0" indent="-271253" algn="just" rtl="0">
              <a:lnSpc>
                <a:spcPct val="90000"/>
              </a:lnSpc>
              <a:spcBef>
                <a:spcPts val="0"/>
              </a:spcBef>
              <a:spcAft>
                <a:spcPts val="0"/>
              </a:spcAft>
              <a:buClr>
                <a:srgbClr val="C00000"/>
              </a:buClr>
              <a:buSzPct val="100000"/>
              <a:buFont typeface="Noto Sans Symbols"/>
              <a:buNone/>
            </a:pPr>
            <a:endParaRPr sz="3000">
              <a:solidFill>
                <a:schemeClr val="dk1"/>
              </a:solidFill>
            </a:endParaRPr>
          </a:p>
          <a:p>
            <a:pPr marL="447466" lvl="0" indent="-447466" algn="just" rtl="0">
              <a:lnSpc>
                <a:spcPct val="90000"/>
              </a:lnSpc>
              <a:spcBef>
                <a:spcPts val="0"/>
              </a:spcBef>
              <a:spcAft>
                <a:spcPts val="0"/>
              </a:spcAft>
              <a:buClr>
                <a:srgbClr val="C00000"/>
              </a:buClr>
              <a:buSzPct val="100000"/>
              <a:buFont typeface="Noto Sans Symbols"/>
              <a:buChar char="❖"/>
            </a:pPr>
            <a:r>
              <a:rPr lang="es-ES" sz="3000">
                <a:solidFill>
                  <a:schemeClr val="dk1"/>
                </a:solidFill>
              </a:rPr>
              <a:t>Objetivos:</a:t>
            </a:r>
            <a:endParaRPr sz="2800"/>
          </a:p>
          <a:p>
            <a:pPr marL="460629" lvl="1" indent="-457200" algn="just" rtl="0">
              <a:lnSpc>
                <a:spcPct val="85000"/>
              </a:lnSpc>
              <a:spcBef>
                <a:spcPts val="450"/>
              </a:spcBef>
              <a:spcAft>
                <a:spcPts val="0"/>
              </a:spcAft>
              <a:buClr>
                <a:srgbClr val="C00000"/>
              </a:buClr>
              <a:buSzPct val="100000"/>
              <a:buFont typeface="Noto Sans Symbols"/>
              <a:buChar char="»"/>
            </a:pPr>
            <a:r>
              <a:rPr lang="es-ES" sz="2600">
                <a:solidFill>
                  <a:schemeClr val="dk1"/>
                </a:solidFill>
              </a:rPr>
              <a:t>Permitir que los desarrolladores expliquen cómo han entendido lo que el cliente pretende del sistema.</a:t>
            </a:r>
            <a:endParaRPr sz="2600">
              <a:solidFill>
                <a:schemeClr val="dk1"/>
              </a:solidFill>
            </a:endParaRPr>
          </a:p>
          <a:p>
            <a:pPr marL="460629" lvl="1" indent="-457200" algn="just" rtl="0">
              <a:lnSpc>
                <a:spcPct val="85000"/>
              </a:lnSpc>
              <a:spcBef>
                <a:spcPts val="450"/>
              </a:spcBef>
              <a:spcAft>
                <a:spcPts val="0"/>
              </a:spcAft>
              <a:buClr>
                <a:srgbClr val="C00000"/>
              </a:buClr>
              <a:buSzPct val="100000"/>
              <a:buFont typeface="Noto Sans Symbols"/>
              <a:buChar char="»"/>
            </a:pPr>
            <a:r>
              <a:rPr lang="es-ES" sz="2600">
                <a:solidFill>
                  <a:schemeClr val="dk1"/>
                </a:solidFill>
              </a:rPr>
              <a:t>Indicar a los diseñadores qué funcionalidad y características va a tener el sistema resultante.</a:t>
            </a:r>
            <a:endParaRPr sz="2600">
              <a:solidFill>
                <a:schemeClr val="dk1"/>
              </a:solidFill>
            </a:endParaRPr>
          </a:p>
          <a:p>
            <a:pPr marL="460629" lvl="1" indent="-457200" algn="just" rtl="0">
              <a:lnSpc>
                <a:spcPct val="85000"/>
              </a:lnSpc>
              <a:spcBef>
                <a:spcPts val="450"/>
              </a:spcBef>
              <a:spcAft>
                <a:spcPts val="0"/>
              </a:spcAft>
              <a:buClr>
                <a:srgbClr val="C00000"/>
              </a:buClr>
              <a:buSzPct val="100000"/>
              <a:buFont typeface="Noto Sans Symbols"/>
              <a:buChar char="»"/>
            </a:pPr>
            <a:r>
              <a:rPr lang="es-ES" sz="2600">
                <a:solidFill>
                  <a:schemeClr val="dk1"/>
                </a:solidFill>
              </a:rPr>
              <a:t>Indicar al equipo de pruebas qué demostraciones llevar a cabo para convencer al cliente de que el sistema que se le entrega es lo que había pedido.</a:t>
            </a:r>
            <a:endParaRPr sz="2600">
              <a:solidFill>
                <a:schemeClr val="dk1"/>
              </a:solidFill>
            </a:endParaRPr>
          </a:p>
        </p:txBody>
      </p:sp>
      <p:sp>
        <p:nvSpPr>
          <p:cNvPr id="328" name="Google Shape;328;p24"/>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500"/>
              <a:buNone/>
            </a:pPr>
            <a:endParaRPr/>
          </a:p>
        </p:txBody>
      </p:sp>
      <p:sp>
        <p:nvSpPr>
          <p:cNvPr id="329" name="Google Shape;329;p24"/>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330" name="Google Shape;330;p24"/>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INGENIERÍA DE SOFTWARE I</a:t>
            </a:r>
            <a:endParaRPr/>
          </a:p>
        </p:txBody>
      </p:sp>
      <p:sp>
        <p:nvSpPr>
          <p:cNvPr id="331" name="Google Shape;331;p2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2"/>
              </a:buClr>
              <a:buSzPts val="1050"/>
              <a:buFont typeface="Calibri"/>
              <a:buNone/>
            </a:pPr>
            <a:fld id="{00000000-1234-1234-1234-123412341234}" type="slidenum">
              <a:rPr lang="es-E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20"/>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Especificación de Requerimientos</a:t>
            </a:r>
            <a:endParaRPr sz="4400">
              <a:solidFill>
                <a:schemeClr val="dk1"/>
              </a:solidFill>
              <a:latin typeface="Calibri"/>
              <a:ea typeface="Calibri"/>
              <a:cs typeface="Calibri"/>
              <a:sym typeface="Calibri"/>
            </a:endParaRPr>
          </a:p>
        </p:txBody>
      </p:sp>
      <p:sp>
        <p:nvSpPr>
          <p:cNvPr id="338" name="Google Shape;338;p2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339" name="Google Shape;339;p2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340" name="Google Shape;340;p2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20</a:t>
            </a:fld>
            <a:endParaRPr/>
          </a:p>
        </p:txBody>
      </p:sp>
      <p:sp>
        <p:nvSpPr>
          <p:cNvPr id="341" name="Google Shape;341;p20"/>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lnSpc>
                <a:spcPct val="150000"/>
              </a:lnSpc>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Propiedades de los requerimientos:</a:t>
            </a:r>
            <a:endParaRPr/>
          </a:p>
          <a:p>
            <a:pPr marL="806450" marR="0" lvl="2" indent="-446088" algn="l" rtl="0">
              <a:lnSpc>
                <a:spcPct val="90000"/>
              </a:lnSpc>
              <a:spcBef>
                <a:spcPts val="400"/>
              </a:spcBef>
              <a:spcAft>
                <a:spcPts val="0"/>
              </a:spcAft>
              <a:buClr>
                <a:srgbClr val="C00000"/>
              </a:buClr>
              <a:buSzPts val="2800"/>
              <a:buFont typeface="Noto Sans Symbols"/>
              <a:buChar char="»"/>
            </a:pPr>
            <a:r>
              <a:rPr lang="es-ES" sz="2400" b="1" i="0" u="none" strike="noStrike" cap="none">
                <a:solidFill>
                  <a:schemeClr val="dk1"/>
                </a:solidFill>
                <a:latin typeface="Calibri"/>
                <a:ea typeface="Calibri"/>
                <a:cs typeface="Calibri"/>
                <a:sym typeface="Calibri"/>
              </a:rPr>
              <a:t>Necesario</a:t>
            </a:r>
            <a:r>
              <a:rPr lang="es-ES" sz="2400" b="0" i="0" u="none" strike="noStrike" cap="none">
                <a:solidFill>
                  <a:schemeClr val="dk1"/>
                </a:solidFill>
                <a:latin typeface="Calibri"/>
                <a:ea typeface="Calibri"/>
                <a:cs typeface="Calibri"/>
                <a:sym typeface="Calibri"/>
              </a:rPr>
              <a:t>: Su omisión provoca una deficiencia.</a:t>
            </a:r>
            <a:endParaRPr/>
          </a:p>
          <a:p>
            <a:pPr marL="806450" marR="0" lvl="2" indent="-446088" algn="l" rtl="0">
              <a:lnSpc>
                <a:spcPct val="90000"/>
              </a:lnSpc>
              <a:spcBef>
                <a:spcPts val="600"/>
              </a:spcBef>
              <a:spcAft>
                <a:spcPts val="0"/>
              </a:spcAft>
              <a:buClr>
                <a:srgbClr val="C00000"/>
              </a:buClr>
              <a:buSzPts val="2800"/>
              <a:buFont typeface="Noto Sans Symbols"/>
              <a:buChar char="»"/>
            </a:pPr>
            <a:r>
              <a:rPr lang="es-ES" sz="2400" b="1" i="0" u="none" strike="noStrike" cap="none">
                <a:solidFill>
                  <a:schemeClr val="dk1"/>
                </a:solidFill>
                <a:latin typeface="Calibri"/>
                <a:ea typeface="Calibri"/>
                <a:cs typeface="Calibri"/>
                <a:sym typeface="Calibri"/>
              </a:rPr>
              <a:t>Conciso</a:t>
            </a:r>
            <a:r>
              <a:rPr lang="es-ES" sz="2400" b="0" i="0" u="none" strike="noStrike" cap="none">
                <a:solidFill>
                  <a:schemeClr val="dk1"/>
                </a:solidFill>
                <a:latin typeface="Calibri"/>
                <a:ea typeface="Calibri"/>
                <a:cs typeface="Calibri"/>
                <a:sym typeface="Calibri"/>
              </a:rPr>
              <a:t>: Fácil de leer y entender.</a:t>
            </a:r>
            <a:endParaRPr/>
          </a:p>
          <a:p>
            <a:pPr marL="806450" marR="0" lvl="2" indent="-446088" algn="l" rtl="0">
              <a:lnSpc>
                <a:spcPct val="90000"/>
              </a:lnSpc>
              <a:spcBef>
                <a:spcPts val="600"/>
              </a:spcBef>
              <a:spcAft>
                <a:spcPts val="0"/>
              </a:spcAft>
              <a:buClr>
                <a:srgbClr val="C00000"/>
              </a:buClr>
              <a:buSzPts val="2800"/>
              <a:buFont typeface="Noto Sans Symbols"/>
              <a:buChar char="»"/>
            </a:pPr>
            <a:r>
              <a:rPr lang="es-ES" sz="2400" b="1" i="0" u="none" strike="noStrike" cap="none">
                <a:solidFill>
                  <a:schemeClr val="dk1"/>
                </a:solidFill>
                <a:latin typeface="Calibri"/>
                <a:ea typeface="Calibri"/>
                <a:cs typeface="Calibri"/>
                <a:sym typeface="Calibri"/>
              </a:rPr>
              <a:t>Completo</a:t>
            </a:r>
            <a:r>
              <a:rPr lang="es-ES" sz="2400" b="0" i="0" u="none" strike="noStrike" cap="none">
                <a:solidFill>
                  <a:schemeClr val="dk1"/>
                </a:solidFill>
                <a:latin typeface="Calibri"/>
                <a:ea typeface="Calibri"/>
                <a:cs typeface="Calibri"/>
                <a:sym typeface="Calibri"/>
              </a:rPr>
              <a:t>: No necesita ampliarse.</a:t>
            </a:r>
            <a:endParaRPr/>
          </a:p>
          <a:p>
            <a:pPr marL="806450" marR="0" lvl="2" indent="-446088" algn="l" rtl="0">
              <a:lnSpc>
                <a:spcPct val="90000"/>
              </a:lnSpc>
              <a:spcBef>
                <a:spcPts val="600"/>
              </a:spcBef>
              <a:spcAft>
                <a:spcPts val="0"/>
              </a:spcAft>
              <a:buClr>
                <a:srgbClr val="C00000"/>
              </a:buClr>
              <a:buSzPts val="2800"/>
              <a:buFont typeface="Noto Sans Symbols"/>
              <a:buChar char="»"/>
            </a:pPr>
            <a:r>
              <a:rPr lang="es-ES" sz="2400" b="1" i="0" u="none" strike="noStrike" cap="none">
                <a:solidFill>
                  <a:schemeClr val="dk1"/>
                </a:solidFill>
                <a:latin typeface="Calibri"/>
                <a:ea typeface="Calibri"/>
                <a:cs typeface="Calibri"/>
                <a:sym typeface="Calibri"/>
              </a:rPr>
              <a:t>Consistente:</a:t>
            </a:r>
            <a:r>
              <a:rPr lang="es-ES" sz="2400" b="0" i="0" u="none" strike="noStrike" cap="none">
                <a:solidFill>
                  <a:schemeClr val="dk1"/>
                </a:solidFill>
                <a:latin typeface="Calibri"/>
                <a:ea typeface="Calibri"/>
                <a:cs typeface="Calibri"/>
                <a:sym typeface="Calibri"/>
              </a:rPr>
              <a:t> No contradictorio con otro.</a:t>
            </a:r>
            <a:endParaRPr/>
          </a:p>
          <a:p>
            <a:pPr marL="806450" marR="0" lvl="2" indent="-446088" algn="l" rtl="0">
              <a:lnSpc>
                <a:spcPct val="90000"/>
              </a:lnSpc>
              <a:spcBef>
                <a:spcPts val="600"/>
              </a:spcBef>
              <a:spcAft>
                <a:spcPts val="0"/>
              </a:spcAft>
              <a:buClr>
                <a:srgbClr val="C00000"/>
              </a:buClr>
              <a:buSzPts val="2800"/>
              <a:buFont typeface="Noto Sans Symbols"/>
              <a:buChar char="»"/>
            </a:pPr>
            <a:r>
              <a:rPr lang="es-ES" sz="2400" b="1" i="0" u="none" strike="noStrike" cap="none">
                <a:solidFill>
                  <a:schemeClr val="dk1"/>
                </a:solidFill>
                <a:latin typeface="Calibri"/>
                <a:ea typeface="Calibri"/>
                <a:cs typeface="Calibri"/>
                <a:sym typeface="Calibri"/>
              </a:rPr>
              <a:t>No ambiguo:</a:t>
            </a:r>
            <a:r>
              <a:rPr lang="es-ES" sz="2400" b="0" i="0" u="none" strike="noStrike" cap="none">
                <a:solidFill>
                  <a:schemeClr val="dk1"/>
                </a:solidFill>
                <a:latin typeface="Calibri"/>
                <a:ea typeface="Calibri"/>
                <a:cs typeface="Calibri"/>
                <a:sym typeface="Calibri"/>
              </a:rPr>
              <a:t> Tiene una sola implementación.</a:t>
            </a:r>
            <a:endParaRPr/>
          </a:p>
          <a:p>
            <a:pPr marL="806450" marR="0" lvl="2" indent="-446088" algn="l" rtl="0">
              <a:lnSpc>
                <a:spcPct val="90000"/>
              </a:lnSpc>
              <a:spcBef>
                <a:spcPts val="600"/>
              </a:spcBef>
              <a:spcAft>
                <a:spcPts val="0"/>
              </a:spcAft>
              <a:buClr>
                <a:srgbClr val="C00000"/>
              </a:buClr>
              <a:buSzPts val="2800"/>
              <a:buFont typeface="Noto Sans Symbols"/>
              <a:buChar char="»"/>
            </a:pPr>
            <a:r>
              <a:rPr lang="es-ES" sz="2400" b="1" i="0" u="none" strike="noStrike" cap="none">
                <a:solidFill>
                  <a:schemeClr val="dk1"/>
                </a:solidFill>
                <a:latin typeface="Calibri"/>
                <a:ea typeface="Calibri"/>
                <a:cs typeface="Calibri"/>
                <a:sym typeface="Calibri"/>
              </a:rPr>
              <a:t>Verificable:</a:t>
            </a:r>
            <a:r>
              <a:rPr lang="es-ES" sz="2400" b="0" i="0" u="none" strike="noStrike" cap="none">
                <a:solidFill>
                  <a:schemeClr val="dk1"/>
                </a:solidFill>
                <a:latin typeface="Calibri"/>
                <a:ea typeface="Calibri"/>
                <a:cs typeface="Calibri"/>
                <a:sym typeface="Calibri"/>
              </a:rPr>
              <a:t> Puede testearse a través de inspecciones, pruebas, etc.</a:t>
            </a:r>
            <a:endParaRPr/>
          </a:p>
          <a:p>
            <a:pPr marL="806450" marR="0" lvl="0" indent="-293688" algn="just" rtl="0">
              <a:spcBef>
                <a:spcPts val="0"/>
              </a:spcBef>
              <a:spcAft>
                <a:spcPts val="0"/>
              </a:spcAft>
              <a:buClr>
                <a:srgbClr val="C00000"/>
              </a:buClr>
              <a:buSzPts val="2400"/>
              <a:buFont typeface="Noto Sans Symbols"/>
              <a:buNone/>
            </a:pPr>
            <a:endParaRPr sz="2400">
              <a:solidFill>
                <a:schemeClr val="dk1"/>
              </a:solidFill>
              <a:latin typeface="Calibri"/>
              <a:ea typeface="Calibri"/>
              <a:cs typeface="Calibri"/>
              <a:sym typeface="Calibri"/>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pic>
        <p:nvPicPr>
          <p:cNvPr id="342" name="Google Shape;342;p20" descr="ANÁLISIS Y ESPECIFICACIÓN DE REQUERIMIENTOS - INGENIERIA DE REQUERIMIENTOS"/>
          <p:cNvPicPr preferRelativeResize="0"/>
          <p:nvPr/>
        </p:nvPicPr>
        <p:blipFill rotWithShape="1">
          <a:blip r:embed="rId3">
            <a:alphaModFix/>
          </a:blip>
          <a:srcRect/>
          <a:stretch/>
        </p:blipFill>
        <p:spPr>
          <a:xfrm>
            <a:off x="8927024" y="1886308"/>
            <a:ext cx="2741289" cy="246871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1"/>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Especificación de Requerimientos</a:t>
            </a:r>
            <a:endParaRPr sz="4400">
              <a:solidFill>
                <a:schemeClr val="dk1"/>
              </a:solidFill>
              <a:latin typeface="Calibri"/>
              <a:ea typeface="Calibri"/>
              <a:cs typeface="Calibri"/>
              <a:sym typeface="Calibri"/>
            </a:endParaRPr>
          </a:p>
        </p:txBody>
      </p:sp>
      <p:sp>
        <p:nvSpPr>
          <p:cNvPr id="349" name="Google Shape;349;p2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350" name="Google Shape;350;p2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351" name="Google Shape;351;p2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21</a:t>
            </a:fld>
            <a:endParaRPr/>
          </a:p>
        </p:txBody>
      </p:sp>
      <p:sp>
        <p:nvSpPr>
          <p:cNvPr id="352" name="Google Shape;352;p21"/>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Correcta</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No ambigua</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Completa</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Verificable</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Consistente</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Comprensible por los consumidores</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Modificable</a:t>
            </a:r>
            <a:endParaRPr/>
          </a:p>
          <a:p>
            <a:pPr marL="447466" marR="0" lvl="0" indent="-295701" algn="just" rtl="0">
              <a:spcBef>
                <a:spcPts val="1200"/>
              </a:spcBef>
              <a:spcAft>
                <a:spcPts val="1200"/>
              </a:spcAft>
              <a:buClr>
                <a:srgbClr val="C00000"/>
              </a:buClr>
              <a:buSzPts val="2390"/>
              <a:buFont typeface="Noto Sans Symbols"/>
              <a:buNone/>
            </a:pPr>
            <a:endParaRPr sz="2390">
              <a:solidFill>
                <a:schemeClr val="dk1"/>
              </a:solidFill>
              <a:latin typeface="Calibri"/>
              <a:ea typeface="Calibri"/>
              <a:cs typeface="Calibri"/>
              <a:sym typeface="Calibri"/>
            </a:endParaRPr>
          </a:p>
        </p:txBody>
      </p:sp>
      <p:sp>
        <p:nvSpPr>
          <p:cNvPr id="353" name="Google Shape;353;p21"/>
          <p:cNvSpPr txBox="1"/>
          <p:nvPr/>
        </p:nvSpPr>
        <p:spPr>
          <a:xfrm>
            <a:off x="6898813" y="1948300"/>
            <a:ext cx="4381927" cy="4297202"/>
          </a:xfrm>
          <a:prstGeom prst="rect">
            <a:avLst/>
          </a:prstGeom>
          <a:noFill/>
          <a:ln>
            <a:noFill/>
          </a:ln>
        </p:spPr>
        <p:txBody>
          <a:bodyPr spcFirstLastPara="1" wrap="square" lIns="91425" tIns="45700" rIns="91425" bIns="45700" anchor="t" anchorCtr="0">
            <a:sp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Rastreable</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Independiente del diseño</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Anotada</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Concisa</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Organizada</a:t>
            </a:r>
            <a:endParaRPr/>
          </a:p>
          <a:p>
            <a:pPr marL="447466" marR="0" lvl="0" indent="-447466" algn="just" rtl="0">
              <a:spcBef>
                <a:spcPts val="120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Utilizable en operación y mantenimiento</a:t>
            </a:r>
            <a:endParaRPr/>
          </a:p>
          <a:p>
            <a:pPr marL="0" marR="0" lvl="0" indent="0" algn="l" rtl="0">
              <a:spcBef>
                <a:spcPts val="120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22"/>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Especificación de Requerimientos</a:t>
            </a:r>
            <a:endParaRPr sz="4400">
              <a:solidFill>
                <a:schemeClr val="dk1"/>
              </a:solidFill>
              <a:latin typeface="Calibri"/>
              <a:ea typeface="Calibri"/>
              <a:cs typeface="Calibri"/>
              <a:sym typeface="Calibri"/>
            </a:endParaRPr>
          </a:p>
        </p:txBody>
      </p:sp>
      <p:sp>
        <p:nvSpPr>
          <p:cNvPr id="360" name="Google Shape;360;p2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361" name="Google Shape;361;p2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362" name="Google Shape;362;p2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22</a:t>
            </a:fld>
            <a:endParaRPr/>
          </a:p>
        </p:txBody>
      </p:sp>
      <p:sp>
        <p:nvSpPr>
          <p:cNvPr id="363" name="Google Shape;363;p22"/>
          <p:cNvSpPr/>
          <p:nvPr/>
        </p:nvSpPr>
        <p:spPr>
          <a:xfrm>
            <a:off x="1151584" y="173132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Documento de definición de requerimientos</a:t>
            </a:r>
            <a:endParaRPr/>
          </a:p>
          <a:p>
            <a:pPr marL="449263" marR="0" lvl="0" indent="0" algn="just" rtl="0">
              <a:spcBef>
                <a:spcPts val="0"/>
              </a:spcBef>
              <a:spcAft>
                <a:spcPts val="0"/>
              </a:spcAft>
              <a:buNone/>
            </a:pPr>
            <a:r>
              <a:rPr lang="es-ES" sz="2400">
                <a:solidFill>
                  <a:schemeClr val="dk1"/>
                </a:solidFill>
                <a:latin typeface="Calibri"/>
                <a:ea typeface="Calibri"/>
                <a:cs typeface="Calibri"/>
                <a:sym typeface="Calibri"/>
              </a:rPr>
              <a:t>Listado completo de todas las cosas que el cliente espera que haga el sistema propuesto.</a:t>
            </a:r>
            <a:endParaRPr/>
          </a:p>
          <a:p>
            <a:pPr marL="447466" marR="0" lvl="0" indent="-371266" algn="just" rtl="0">
              <a:spcBef>
                <a:spcPts val="0"/>
              </a:spcBef>
              <a:spcAft>
                <a:spcPts val="0"/>
              </a:spcAft>
              <a:buClr>
                <a:srgbClr val="C00000"/>
              </a:buClr>
              <a:buSzPts val="1200"/>
              <a:buFont typeface="Noto Sans Symbols"/>
              <a:buNone/>
            </a:pPr>
            <a:endParaRPr sz="12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Documento de especificación de requerimientos</a:t>
            </a:r>
            <a:endParaRPr/>
          </a:p>
          <a:p>
            <a:pPr marL="449263" marR="0" lvl="0" indent="0" algn="just" rtl="0">
              <a:spcBef>
                <a:spcPts val="0"/>
              </a:spcBef>
              <a:spcAft>
                <a:spcPts val="0"/>
              </a:spcAft>
              <a:buNone/>
            </a:pPr>
            <a:r>
              <a:rPr lang="es-ES" sz="2400">
                <a:solidFill>
                  <a:schemeClr val="dk1"/>
                </a:solidFill>
                <a:latin typeface="Calibri"/>
                <a:ea typeface="Calibri"/>
                <a:cs typeface="Calibri"/>
                <a:sym typeface="Calibri"/>
              </a:rPr>
              <a:t>Definición en términos técnicos.</a:t>
            </a:r>
            <a:endParaRPr/>
          </a:p>
          <a:p>
            <a:pPr marL="447466" marR="0" lvl="0" indent="-371266" algn="just" rtl="0">
              <a:spcBef>
                <a:spcPts val="0"/>
              </a:spcBef>
              <a:spcAft>
                <a:spcPts val="0"/>
              </a:spcAft>
              <a:buClr>
                <a:srgbClr val="C00000"/>
              </a:buClr>
              <a:buSzPts val="1200"/>
              <a:buFont typeface="Noto Sans Symbols"/>
              <a:buNone/>
            </a:pPr>
            <a:endParaRPr sz="12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Documento de especificación de requerimientos de Software IEEE Std. 830-1998 (SRS)</a:t>
            </a:r>
            <a:endParaRPr/>
          </a:p>
          <a:p>
            <a:pPr marL="449263" marR="0" lvl="0" indent="0" algn="just" rtl="0">
              <a:spcBef>
                <a:spcPts val="0"/>
              </a:spcBef>
              <a:spcAft>
                <a:spcPts val="0"/>
              </a:spcAft>
              <a:buNone/>
            </a:pPr>
            <a:r>
              <a:rPr lang="es-ES" sz="2400">
                <a:solidFill>
                  <a:schemeClr val="dk1"/>
                </a:solidFill>
                <a:latin typeface="Calibri"/>
                <a:ea typeface="Calibri"/>
                <a:cs typeface="Calibri"/>
                <a:sym typeface="Calibri"/>
              </a:rPr>
              <a:t>Brinda una colección de buenas prácticas para escribir especificaciones de requerimientos de software (SRS).  </a:t>
            </a:r>
            <a:endParaRPr/>
          </a:p>
          <a:p>
            <a:pPr marL="449263" marR="0" lvl="0" indent="0" algn="just" rtl="0">
              <a:spcBef>
                <a:spcPts val="0"/>
              </a:spcBef>
              <a:spcAft>
                <a:spcPts val="0"/>
              </a:spcAft>
              <a:buNone/>
            </a:pPr>
            <a:r>
              <a:rPr lang="es-ES" sz="2400">
                <a:solidFill>
                  <a:schemeClr val="dk1"/>
                </a:solidFill>
                <a:latin typeface="Calibri"/>
                <a:ea typeface="Calibri"/>
                <a:cs typeface="Calibri"/>
                <a:sym typeface="Calibri"/>
              </a:rPr>
              <a:t>Se describen los contenidos y las cualidades de una buena especificación de requerimientos.</a:t>
            </a:r>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9"/>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Especificación de Requerimientos</a:t>
            </a:r>
            <a:endParaRPr sz="4400">
              <a:solidFill>
                <a:schemeClr val="dk1"/>
              </a:solidFill>
              <a:latin typeface="Calibri"/>
              <a:ea typeface="Calibri"/>
              <a:cs typeface="Calibri"/>
              <a:sym typeface="Calibri"/>
            </a:endParaRPr>
          </a:p>
        </p:txBody>
      </p:sp>
      <p:sp>
        <p:nvSpPr>
          <p:cNvPr id="370" name="Google Shape;370;p2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371" name="Google Shape;371;p2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372" name="Google Shape;372;p2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23</a:t>
            </a:fld>
            <a:endParaRPr/>
          </a:p>
        </p:txBody>
      </p:sp>
      <p:sp>
        <p:nvSpPr>
          <p:cNvPr id="373" name="Google Shape;373;p29"/>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lnSpc>
                <a:spcPct val="150000"/>
              </a:lnSpc>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Aspectos básicos de una especificación de requerimientos</a:t>
            </a:r>
            <a:endParaRPr/>
          </a:p>
          <a:p>
            <a:pPr marL="806450" marR="0" lvl="2" indent="-446088" algn="l" rtl="0">
              <a:lnSpc>
                <a:spcPct val="90000"/>
              </a:lnSpc>
              <a:spcBef>
                <a:spcPts val="400"/>
              </a:spcBef>
              <a:spcAft>
                <a:spcPts val="0"/>
              </a:spcAft>
              <a:buClr>
                <a:srgbClr val="C00000"/>
              </a:buClr>
              <a:buSzPts val="2800"/>
              <a:buFont typeface="Noto Sans Symbols"/>
              <a:buChar char="»"/>
            </a:pPr>
            <a:r>
              <a:rPr lang="es-ES" sz="2400" b="0" i="0" u="none" strike="noStrike" cap="none">
                <a:solidFill>
                  <a:schemeClr val="dk1"/>
                </a:solidFill>
                <a:latin typeface="Calibri"/>
                <a:ea typeface="Calibri"/>
                <a:cs typeface="Calibri"/>
                <a:sym typeface="Calibri"/>
              </a:rPr>
              <a:t>Funcionalidad</a:t>
            </a:r>
            <a:endParaRPr/>
          </a:p>
          <a:p>
            <a:pPr marL="806450" marR="0" lvl="2" indent="0" algn="l" rtl="0">
              <a:lnSpc>
                <a:spcPct val="90000"/>
              </a:lnSpc>
              <a:spcBef>
                <a:spcPts val="400"/>
              </a:spcBef>
              <a:spcAft>
                <a:spcPts val="0"/>
              </a:spcAft>
              <a:buNone/>
            </a:pPr>
            <a:r>
              <a:rPr lang="es-ES" sz="2000" b="0" i="0" u="none" strike="noStrike" cap="none">
                <a:solidFill>
                  <a:schemeClr val="dk1"/>
                </a:solidFill>
                <a:latin typeface="Calibri"/>
                <a:ea typeface="Calibri"/>
                <a:cs typeface="Calibri"/>
                <a:sym typeface="Calibri"/>
              </a:rPr>
              <a:t>¿Qué debe hacer el software?</a:t>
            </a:r>
            <a:endParaRPr/>
          </a:p>
          <a:p>
            <a:pPr marL="806450" marR="0" lvl="2" indent="-446088" algn="l" rtl="0">
              <a:lnSpc>
                <a:spcPct val="90000"/>
              </a:lnSpc>
              <a:spcBef>
                <a:spcPts val="400"/>
              </a:spcBef>
              <a:spcAft>
                <a:spcPts val="0"/>
              </a:spcAft>
              <a:buClr>
                <a:srgbClr val="C00000"/>
              </a:buClr>
              <a:buSzPts val="2800"/>
              <a:buFont typeface="Noto Sans Symbols"/>
              <a:buChar char="»"/>
            </a:pPr>
            <a:r>
              <a:rPr lang="es-ES" sz="2400" b="0" i="0" u="none" strike="noStrike" cap="none">
                <a:solidFill>
                  <a:schemeClr val="dk1"/>
                </a:solidFill>
                <a:latin typeface="Calibri"/>
                <a:ea typeface="Calibri"/>
                <a:cs typeface="Calibri"/>
                <a:sym typeface="Calibri"/>
              </a:rPr>
              <a:t>Interfaces Externas</a:t>
            </a:r>
            <a:endParaRPr/>
          </a:p>
          <a:p>
            <a:pPr marL="806450" marR="0" lvl="2" indent="0" algn="l" rtl="0">
              <a:lnSpc>
                <a:spcPct val="90000"/>
              </a:lnSpc>
              <a:spcBef>
                <a:spcPts val="400"/>
              </a:spcBef>
              <a:spcAft>
                <a:spcPts val="0"/>
              </a:spcAft>
              <a:buNone/>
            </a:pPr>
            <a:r>
              <a:rPr lang="es-ES" sz="2000" b="0" i="0" u="none" strike="noStrike" cap="none">
                <a:solidFill>
                  <a:schemeClr val="dk1"/>
                </a:solidFill>
                <a:latin typeface="Calibri"/>
                <a:ea typeface="Calibri"/>
                <a:cs typeface="Calibri"/>
                <a:sym typeface="Calibri"/>
              </a:rPr>
              <a:t>¿Cómo interactuará el software con el medio externo (gente, hardware, otro software)?</a:t>
            </a:r>
            <a:endParaRPr/>
          </a:p>
          <a:p>
            <a:pPr marL="806450" marR="0" lvl="2" indent="-446088" algn="l" rtl="0">
              <a:lnSpc>
                <a:spcPct val="90000"/>
              </a:lnSpc>
              <a:spcBef>
                <a:spcPts val="400"/>
              </a:spcBef>
              <a:spcAft>
                <a:spcPts val="0"/>
              </a:spcAft>
              <a:buClr>
                <a:srgbClr val="C00000"/>
              </a:buClr>
              <a:buSzPts val="2800"/>
              <a:buFont typeface="Noto Sans Symbols"/>
              <a:buChar char="»"/>
            </a:pPr>
            <a:r>
              <a:rPr lang="es-ES" sz="2400" b="0" i="0" u="none" strike="noStrike" cap="none">
                <a:solidFill>
                  <a:schemeClr val="dk1"/>
                </a:solidFill>
                <a:latin typeface="Calibri"/>
                <a:ea typeface="Calibri"/>
                <a:cs typeface="Calibri"/>
                <a:sym typeface="Calibri"/>
              </a:rPr>
              <a:t>Rendimiento</a:t>
            </a:r>
            <a:endParaRPr/>
          </a:p>
          <a:p>
            <a:pPr marL="806450" marR="0" lvl="2" indent="0" algn="l" rtl="0">
              <a:lnSpc>
                <a:spcPct val="90000"/>
              </a:lnSpc>
              <a:spcBef>
                <a:spcPts val="400"/>
              </a:spcBef>
              <a:spcAft>
                <a:spcPts val="0"/>
              </a:spcAft>
              <a:buNone/>
            </a:pPr>
            <a:r>
              <a:rPr lang="es-ES" sz="2000" b="0" i="0" u="none" strike="noStrike" cap="none">
                <a:solidFill>
                  <a:schemeClr val="dk1"/>
                </a:solidFill>
                <a:latin typeface="Calibri"/>
                <a:ea typeface="Calibri"/>
                <a:cs typeface="Calibri"/>
                <a:sym typeface="Calibri"/>
              </a:rPr>
              <a:t>Velocidad, disponibilidad, tiempo de respuesta, etc.</a:t>
            </a:r>
            <a:endParaRPr/>
          </a:p>
          <a:p>
            <a:pPr marL="806450" marR="0" lvl="2" indent="-446088" algn="l" rtl="0">
              <a:lnSpc>
                <a:spcPct val="90000"/>
              </a:lnSpc>
              <a:spcBef>
                <a:spcPts val="400"/>
              </a:spcBef>
              <a:spcAft>
                <a:spcPts val="0"/>
              </a:spcAft>
              <a:buClr>
                <a:srgbClr val="C00000"/>
              </a:buClr>
              <a:buSzPts val="2800"/>
              <a:buFont typeface="Noto Sans Symbols"/>
              <a:buChar char="»"/>
            </a:pPr>
            <a:r>
              <a:rPr lang="es-ES" sz="2400" b="0" i="0" u="none" strike="noStrike" cap="none">
                <a:solidFill>
                  <a:schemeClr val="dk1"/>
                </a:solidFill>
                <a:latin typeface="Calibri"/>
                <a:ea typeface="Calibri"/>
                <a:cs typeface="Calibri"/>
                <a:sym typeface="Calibri"/>
              </a:rPr>
              <a:t>Atributos</a:t>
            </a:r>
            <a:endParaRPr/>
          </a:p>
          <a:p>
            <a:pPr marL="806450" marR="0" lvl="2" indent="0" algn="l" rtl="0">
              <a:lnSpc>
                <a:spcPct val="90000"/>
              </a:lnSpc>
              <a:spcBef>
                <a:spcPts val="400"/>
              </a:spcBef>
              <a:spcAft>
                <a:spcPts val="0"/>
              </a:spcAft>
              <a:buNone/>
            </a:pPr>
            <a:r>
              <a:rPr lang="es-ES" sz="2000" b="0" i="0" u="none" strike="noStrike" cap="none">
                <a:solidFill>
                  <a:schemeClr val="dk1"/>
                </a:solidFill>
                <a:latin typeface="Calibri"/>
                <a:ea typeface="Calibri"/>
                <a:cs typeface="Calibri"/>
                <a:sym typeface="Calibri"/>
              </a:rPr>
              <a:t>Portabilidad, seguridad, mantenibilidad, eficiencia.</a:t>
            </a:r>
            <a:endParaRPr/>
          </a:p>
          <a:p>
            <a:pPr marL="806450" marR="0" lvl="2" indent="-446088" algn="l" rtl="0">
              <a:lnSpc>
                <a:spcPct val="90000"/>
              </a:lnSpc>
              <a:spcBef>
                <a:spcPts val="400"/>
              </a:spcBef>
              <a:spcAft>
                <a:spcPts val="0"/>
              </a:spcAft>
              <a:buClr>
                <a:srgbClr val="C00000"/>
              </a:buClr>
              <a:buSzPts val="2800"/>
              <a:buFont typeface="Noto Sans Symbols"/>
              <a:buChar char="»"/>
            </a:pPr>
            <a:r>
              <a:rPr lang="es-ES" sz="2400" b="0" i="0" u="none" strike="noStrike" cap="none">
                <a:solidFill>
                  <a:schemeClr val="dk1"/>
                </a:solidFill>
                <a:latin typeface="Calibri"/>
                <a:ea typeface="Calibri"/>
                <a:cs typeface="Calibri"/>
                <a:sym typeface="Calibri"/>
              </a:rPr>
              <a:t>Restricciones de Diseño</a:t>
            </a:r>
            <a:endParaRPr/>
          </a:p>
          <a:p>
            <a:pPr marL="806450" marR="0" lvl="2" indent="0" algn="l" rtl="0">
              <a:lnSpc>
                <a:spcPct val="90000"/>
              </a:lnSpc>
              <a:spcBef>
                <a:spcPts val="400"/>
              </a:spcBef>
              <a:spcAft>
                <a:spcPts val="0"/>
              </a:spcAft>
              <a:buNone/>
            </a:pPr>
            <a:r>
              <a:rPr lang="es-ES" sz="2000" b="0" i="0" u="none" strike="noStrike" cap="none">
                <a:solidFill>
                  <a:schemeClr val="dk1"/>
                </a:solidFill>
                <a:latin typeface="Calibri"/>
                <a:ea typeface="Calibri"/>
                <a:cs typeface="Calibri"/>
                <a:sym typeface="Calibri"/>
              </a:rPr>
              <a:t>Estándares requeridos, lenguaje, límite de recursos, etc.</a:t>
            </a:r>
            <a:endParaRPr/>
          </a:p>
          <a:p>
            <a:pPr marL="447466" marR="0" lvl="0" indent="-295701" algn="just" rtl="0">
              <a:spcBef>
                <a:spcPts val="0"/>
              </a:spcBef>
              <a:spcAft>
                <a:spcPts val="0"/>
              </a:spcAft>
              <a:buClr>
                <a:srgbClr val="C00000"/>
              </a:buClr>
              <a:buSzPts val="2390"/>
              <a:buFont typeface="Noto Sans Symbols"/>
              <a:buNone/>
            </a:pPr>
            <a:endParaRPr sz="239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30"/>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Especificación de Requerimientos</a:t>
            </a:r>
            <a:endParaRPr sz="4400">
              <a:solidFill>
                <a:schemeClr val="dk1"/>
              </a:solidFill>
              <a:latin typeface="Calibri"/>
              <a:ea typeface="Calibri"/>
              <a:cs typeface="Calibri"/>
              <a:sym typeface="Calibri"/>
            </a:endParaRPr>
          </a:p>
        </p:txBody>
      </p:sp>
      <p:sp>
        <p:nvSpPr>
          <p:cNvPr id="380" name="Google Shape;380;p3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381" name="Google Shape;381;p3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382" name="Google Shape;382;p3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24</a:t>
            </a:fld>
            <a:endParaRPr/>
          </a:p>
        </p:txBody>
      </p:sp>
      <p:sp>
        <p:nvSpPr>
          <p:cNvPr id="383" name="Google Shape;383;p30"/>
          <p:cNvSpPr/>
          <p:nvPr/>
        </p:nvSpPr>
        <p:spPr>
          <a:xfrm>
            <a:off x="1151584" y="1638337"/>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lnSpc>
                <a:spcPct val="150000"/>
              </a:lnSpc>
              <a:spcBef>
                <a:spcPts val="0"/>
              </a:spcBef>
              <a:spcAft>
                <a:spcPts val="0"/>
              </a:spcAft>
              <a:buClr>
                <a:srgbClr val="C00000"/>
              </a:buClr>
              <a:buSzPts val="2789"/>
              <a:buFont typeface="Noto Sans Symbols"/>
              <a:buChar char="❖"/>
            </a:pPr>
            <a:r>
              <a:rPr lang="es-ES" sz="2789">
                <a:solidFill>
                  <a:schemeClr val="dk1"/>
                </a:solidFill>
                <a:latin typeface="Calibri"/>
                <a:ea typeface="Calibri"/>
                <a:cs typeface="Calibri"/>
                <a:sym typeface="Calibri"/>
              </a:rPr>
              <a:t>Usuarios de un documento de requerimientos</a:t>
            </a:r>
            <a:endParaRPr sz="2390">
              <a:solidFill>
                <a:schemeClr val="dk1"/>
              </a:solidFill>
              <a:latin typeface="Calibri"/>
              <a:ea typeface="Calibri"/>
              <a:cs typeface="Calibri"/>
              <a:sym typeface="Calibri"/>
            </a:endParaRPr>
          </a:p>
        </p:txBody>
      </p:sp>
      <p:pic>
        <p:nvPicPr>
          <p:cNvPr id="384" name="Google Shape;384;p30"/>
          <p:cNvPicPr preferRelativeResize="0"/>
          <p:nvPr/>
        </p:nvPicPr>
        <p:blipFill rotWithShape="1">
          <a:blip r:embed="rId3">
            <a:alphaModFix/>
          </a:blip>
          <a:srcRect l="10242" t="3791" r="11125" b="1967"/>
          <a:stretch/>
        </p:blipFill>
        <p:spPr>
          <a:xfrm>
            <a:off x="3780550" y="2264952"/>
            <a:ext cx="4630899" cy="399097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31"/>
          <p:cNvSpPr txBox="1">
            <a:spLocks noGrp="1"/>
          </p:cNvSpPr>
          <p:nvPr>
            <p:ph type="title"/>
          </p:nvPr>
        </p:nvSpPr>
        <p:spPr>
          <a:xfrm>
            <a:off x="1086866" y="1177870"/>
            <a:ext cx="10614354"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200" dirty="0">
                <a:solidFill>
                  <a:schemeClr val="dk1"/>
                </a:solidFill>
                <a:latin typeface="Calibri"/>
                <a:ea typeface="Calibri"/>
                <a:cs typeface="Calibri"/>
                <a:sym typeface="Calibri"/>
              </a:rPr>
              <a:t>Técnicas de Especificación de Requerimientos</a:t>
            </a:r>
            <a:endParaRPr sz="4200" dirty="0">
              <a:solidFill>
                <a:schemeClr val="dk1"/>
              </a:solidFill>
              <a:latin typeface="Calibri"/>
              <a:ea typeface="Calibri"/>
              <a:cs typeface="Calibri"/>
              <a:sym typeface="Calibri"/>
            </a:endParaRPr>
          </a:p>
        </p:txBody>
      </p:sp>
      <p:sp>
        <p:nvSpPr>
          <p:cNvPr id="391" name="Google Shape;391;p3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392" name="Google Shape;392;p3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393" name="Google Shape;393;p3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25</a:t>
            </a:fld>
            <a:endParaRPr/>
          </a:p>
        </p:txBody>
      </p:sp>
      <p:sp>
        <p:nvSpPr>
          <p:cNvPr id="394" name="Google Shape;394;p31"/>
          <p:cNvSpPr/>
          <p:nvPr/>
        </p:nvSpPr>
        <p:spPr>
          <a:xfrm>
            <a:off x="1151584" y="173132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dirty="0">
                <a:solidFill>
                  <a:schemeClr val="dk1"/>
                </a:solidFill>
                <a:latin typeface="Calibri"/>
                <a:ea typeface="Calibri"/>
                <a:cs typeface="Calibri"/>
                <a:sym typeface="Calibri"/>
              </a:rPr>
              <a:t>Estáticas</a:t>
            </a:r>
            <a:endParaRPr dirty="0"/>
          </a:p>
          <a:p>
            <a:pPr marL="792163" marR="0" lvl="0" indent="-342900" algn="just" rtl="0">
              <a:spcBef>
                <a:spcPts val="0"/>
              </a:spcBef>
              <a:spcAft>
                <a:spcPts val="0"/>
              </a:spcAft>
              <a:buClr>
                <a:srgbClr val="C00000"/>
              </a:buClr>
              <a:buSzPts val="2200"/>
              <a:buFont typeface="Noto Sans Symbols"/>
              <a:buChar char="»"/>
            </a:pPr>
            <a:r>
              <a:rPr lang="es-ES" sz="2200" dirty="0">
                <a:solidFill>
                  <a:schemeClr val="dk1"/>
                </a:solidFill>
                <a:latin typeface="Calibri"/>
                <a:ea typeface="Calibri"/>
                <a:cs typeface="Calibri"/>
                <a:sym typeface="Calibri"/>
              </a:rPr>
              <a:t>Se describe el sistema a través de las entidades u objetos, sus atributos y sus relaciones con otros. No describe cómo las relaciones cambian con el tiempo. </a:t>
            </a:r>
            <a:endParaRPr dirty="0"/>
          </a:p>
          <a:p>
            <a:pPr marL="792163" marR="0" lvl="0" indent="-342900" algn="just" rtl="0">
              <a:spcBef>
                <a:spcPts val="0"/>
              </a:spcBef>
              <a:spcAft>
                <a:spcPts val="0"/>
              </a:spcAft>
              <a:buClr>
                <a:srgbClr val="C00000"/>
              </a:buClr>
              <a:buSzPts val="2200"/>
              <a:buFont typeface="Noto Sans Symbols"/>
              <a:buChar char="»"/>
            </a:pPr>
            <a:r>
              <a:rPr lang="es-ES" sz="2200" dirty="0">
                <a:solidFill>
                  <a:schemeClr val="dk1"/>
                </a:solidFill>
                <a:latin typeface="Calibri"/>
                <a:ea typeface="Calibri"/>
                <a:cs typeface="Calibri"/>
                <a:sym typeface="Calibri"/>
              </a:rPr>
              <a:t>Cuando el tiempo no es un factor mayor en la operación del sistema, es una descripción útil y adecuada.</a:t>
            </a:r>
            <a:endParaRPr dirty="0"/>
          </a:p>
          <a:p>
            <a:pPr marL="449263" marR="0" lvl="0" indent="0" algn="just" rtl="0">
              <a:spcBef>
                <a:spcPts val="0"/>
              </a:spcBef>
              <a:spcAft>
                <a:spcPts val="0"/>
              </a:spcAft>
              <a:buNone/>
            </a:pPr>
            <a:r>
              <a:rPr lang="es-ES" sz="1800" i="1" dirty="0">
                <a:solidFill>
                  <a:schemeClr val="dk1"/>
                </a:solidFill>
                <a:latin typeface="Calibri"/>
                <a:ea typeface="Calibri"/>
                <a:cs typeface="Calibri"/>
                <a:sym typeface="Calibri"/>
              </a:rPr>
              <a:t>Ejemplos: Referencia indirecta, Relaciones de recurrencia, Definición axiomática, Expresiones regulares, Abstracciones de datos, entre otras.</a:t>
            </a:r>
            <a:endParaRPr dirty="0"/>
          </a:p>
          <a:p>
            <a:pPr marL="447466" marR="0" lvl="0" indent="-447466" algn="just" rtl="0">
              <a:spcBef>
                <a:spcPts val="0"/>
              </a:spcBef>
              <a:spcAft>
                <a:spcPts val="0"/>
              </a:spcAft>
              <a:buClr>
                <a:srgbClr val="C00000"/>
              </a:buClr>
              <a:buSzPts val="2600"/>
              <a:buFont typeface="Noto Sans Symbols"/>
              <a:buChar char="❖"/>
            </a:pPr>
            <a:r>
              <a:rPr lang="es-ES" sz="2600" dirty="0">
                <a:solidFill>
                  <a:schemeClr val="dk1"/>
                </a:solidFill>
                <a:latin typeface="Calibri"/>
                <a:ea typeface="Calibri"/>
                <a:cs typeface="Calibri"/>
                <a:sym typeface="Calibri"/>
              </a:rPr>
              <a:t>Dinámicas</a:t>
            </a:r>
            <a:endParaRPr dirty="0"/>
          </a:p>
          <a:p>
            <a:pPr marL="792163" marR="0" lvl="0" indent="-342900" algn="just" rtl="0">
              <a:spcBef>
                <a:spcPts val="0"/>
              </a:spcBef>
              <a:spcAft>
                <a:spcPts val="0"/>
              </a:spcAft>
              <a:buClr>
                <a:srgbClr val="C00000"/>
              </a:buClr>
              <a:buSzPts val="2200"/>
              <a:buFont typeface="Noto Sans Symbols"/>
              <a:buChar char="»"/>
            </a:pPr>
            <a:r>
              <a:rPr lang="es-ES" sz="2200" dirty="0">
                <a:solidFill>
                  <a:schemeClr val="dk1"/>
                </a:solidFill>
                <a:latin typeface="Calibri"/>
                <a:ea typeface="Calibri"/>
                <a:cs typeface="Calibri"/>
                <a:sym typeface="Calibri"/>
              </a:rPr>
              <a:t>Se considera un sistema en función de los cambios que ocurren a lo largo del tiempo.</a:t>
            </a:r>
            <a:endParaRPr dirty="0"/>
          </a:p>
          <a:p>
            <a:pPr marL="792163" marR="0" lvl="0" indent="-342900" algn="just" rtl="0">
              <a:spcBef>
                <a:spcPts val="0"/>
              </a:spcBef>
              <a:spcAft>
                <a:spcPts val="0"/>
              </a:spcAft>
              <a:buClr>
                <a:srgbClr val="C00000"/>
              </a:buClr>
              <a:buSzPts val="2200"/>
              <a:buFont typeface="Noto Sans Symbols"/>
              <a:buChar char="»"/>
            </a:pPr>
            <a:r>
              <a:rPr lang="es-ES" sz="2200" dirty="0">
                <a:solidFill>
                  <a:schemeClr val="dk1"/>
                </a:solidFill>
                <a:latin typeface="Calibri"/>
                <a:ea typeface="Calibri"/>
                <a:cs typeface="Calibri"/>
                <a:sym typeface="Calibri"/>
              </a:rPr>
              <a:t>Se considera que el sistema está en un estado particular hasta que un estímulo lo obliga a cambiar su estado.</a:t>
            </a:r>
            <a:endParaRPr dirty="0"/>
          </a:p>
          <a:p>
            <a:pPr marL="449263" marR="0" lvl="0" indent="0" algn="just" rtl="0">
              <a:spcBef>
                <a:spcPts val="0"/>
              </a:spcBef>
              <a:spcAft>
                <a:spcPts val="0"/>
              </a:spcAft>
              <a:buNone/>
            </a:pPr>
            <a:r>
              <a:rPr lang="es-ES" sz="1800" i="1" dirty="0">
                <a:solidFill>
                  <a:schemeClr val="dk1"/>
                </a:solidFill>
                <a:latin typeface="Calibri"/>
                <a:ea typeface="Calibri"/>
                <a:cs typeface="Calibri"/>
                <a:sym typeface="Calibri"/>
              </a:rPr>
              <a:t>Ejemplos: Tablas de decisión,  Diagramas de transición de estados, Tablas de transición de estados, Diagramas de persianas, Redes de Petri, entre otras.</a:t>
            </a:r>
            <a:endParaRPr dirty="0"/>
          </a:p>
          <a:p>
            <a:pPr marL="447466" marR="0" lvl="0" indent="-295701" algn="just" rtl="0">
              <a:spcBef>
                <a:spcPts val="0"/>
              </a:spcBef>
              <a:spcAft>
                <a:spcPts val="0"/>
              </a:spcAft>
              <a:buClr>
                <a:srgbClr val="C00000"/>
              </a:buClr>
              <a:buSzPts val="2390"/>
              <a:buFont typeface="Noto Sans Symbols"/>
              <a:buNone/>
            </a:pPr>
            <a:endParaRPr sz="2390" dirty="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38"/>
          <p:cNvSpPr txBox="1">
            <a:spLocks noGrp="1"/>
          </p:cNvSpPr>
          <p:nvPr>
            <p:ph type="title"/>
          </p:nvPr>
        </p:nvSpPr>
        <p:spPr>
          <a:xfrm>
            <a:off x="457199" y="594359"/>
            <a:ext cx="3432876" cy="228600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262626"/>
              </a:buClr>
              <a:buSzPts val="4800"/>
              <a:buFont typeface="Calibri"/>
              <a:buNone/>
            </a:pPr>
            <a:r>
              <a:rPr lang="es-ES" dirty="0"/>
              <a:t>Técnicas de Especificación de Requerimientos</a:t>
            </a:r>
            <a:endParaRPr dirty="0"/>
          </a:p>
        </p:txBody>
      </p:sp>
      <p:sp>
        <p:nvSpPr>
          <p:cNvPr id="400" name="Google Shape;400;p38"/>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200"/>
              </a:spcBef>
              <a:spcAft>
                <a:spcPts val="200"/>
              </a:spcAft>
              <a:buSzPts val="3600"/>
              <a:buNone/>
            </a:pPr>
            <a:r>
              <a:rPr lang="es-ES" sz="2800">
                <a:latin typeface="Calibri"/>
                <a:ea typeface="Calibri"/>
                <a:cs typeface="Calibri"/>
                <a:sym typeface="Calibri"/>
              </a:rPr>
              <a:t>Historias de Usuario</a:t>
            </a:r>
            <a:endParaRPr sz="1200"/>
          </a:p>
        </p:txBody>
      </p:sp>
      <p:sp>
        <p:nvSpPr>
          <p:cNvPr id="401" name="Google Shape;401;p38"/>
          <p:cNvSpPr txBox="1">
            <a:spLocks noGrp="1"/>
          </p:cNvSpPr>
          <p:nvPr>
            <p:ph type="dt" idx="10"/>
          </p:nvPr>
        </p:nvSpPr>
        <p:spPr>
          <a:xfrm>
            <a:off x="465138" y="6459538"/>
            <a:ext cx="261937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02" name="Google Shape;402;p38"/>
          <p:cNvSpPr txBox="1">
            <a:spLocks noGrp="1"/>
          </p:cNvSpPr>
          <p:nvPr>
            <p:ph type="ftr" idx="11"/>
          </p:nvPr>
        </p:nvSpPr>
        <p:spPr>
          <a:xfrm>
            <a:off x="4800600" y="6459538"/>
            <a:ext cx="4648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INGENIERÍA DE SOFTWARE I</a:t>
            </a:r>
            <a:endParaRPr/>
          </a:p>
        </p:txBody>
      </p:sp>
      <p:sp>
        <p:nvSpPr>
          <p:cNvPr id="403" name="Google Shape;403;p3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C00000"/>
              </a:buClr>
              <a:buSzPts val="1050"/>
              <a:buFont typeface="Calibri"/>
              <a:buNone/>
            </a:pPr>
            <a:fld id="{00000000-1234-1234-1234-123412341234}" type="slidenum">
              <a:rPr lang="es-ES">
                <a:solidFill>
                  <a:srgbClr val="C00000"/>
                </a:solidFill>
              </a:rPr>
              <a:t>26</a:t>
            </a:fld>
            <a:endParaRPr>
              <a:solidFill>
                <a:srgbClr val="C00000"/>
              </a:solidFill>
            </a:endParaRPr>
          </a:p>
        </p:txBody>
      </p:sp>
      <p:sp>
        <p:nvSpPr>
          <p:cNvPr id="404" name="Google Shape;404;p38"/>
          <p:cNvSpPr txBox="1">
            <a:spLocks noGrp="1"/>
          </p:cNvSpPr>
          <p:nvPr>
            <p:ph type="body" idx="1"/>
          </p:nvPr>
        </p:nvSpPr>
        <p:spPr>
          <a:xfrm>
            <a:off x="4800600" y="731838"/>
            <a:ext cx="6637149" cy="5257800"/>
          </a:xfrm>
          <a:prstGeom prst="rect">
            <a:avLst/>
          </a:prstGeom>
          <a:noFill/>
          <a:ln>
            <a:noFill/>
          </a:ln>
        </p:spPr>
        <p:txBody>
          <a:bodyPr spcFirstLastPara="1" wrap="square" lIns="91425" tIns="45700" rIns="91425" bIns="45700" anchor="t" anchorCtr="0">
            <a:normAutofit/>
          </a:bodyPr>
          <a:lstStyle/>
          <a:p>
            <a:pPr marL="447466" lvl="0" indent="-447466" algn="just" rtl="0">
              <a:lnSpc>
                <a:spcPct val="90000"/>
              </a:lnSpc>
              <a:spcBef>
                <a:spcPts val="0"/>
              </a:spcBef>
              <a:spcAft>
                <a:spcPts val="0"/>
              </a:spcAft>
              <a:buClr>
                <a:srgbClr val="C00000"/>
              </a:buClr>
              <a:buSzPts val="2800"/>
              <a:buFont typeface="Noto Sans Symbols"/>
              <a:buChar char="❖"/>
            </a:pPr>
            <a:r>
              <a:rPr lang="es-ES" sz="2800">
                <a:solidFill>
                  <a:schemeClr val="dk1"/>
                </a:solidFill>
              </a:rPr>
              <a:t>Una Historia de Usuario es una descripción corta y simple de un requerimiento de un sistema, que se escribe en lenguaje común del usuario y desde su perspectiva. </a:t>
            </a:r>
            <a:endParaRPr/>
          </a:p>
          <a:p>
            <a:pPr marL="447466" lvl="0" indent="-269666" algn="just" rtl="0">
              <a:lnSpc>
                <a:spcPct val="90000"/>
              </a:lnSpc>
              <a:spcBef>
                <a:spcPts val="0"/>
              </a:spcBef>
              <a:spcAft>
                <a:spcPts val="0"/>
              </a:spcAft>
              <a:buClr>
                <a:srgbClr val="C00000"/>
              </a:buClr>
              <a:buSzPts val="2800"/>
              <a:buFont typeface="Noto Sans Symbols"/>
              <a:buNone/>
            </a:pPr>
            <a:endParaRPr sz="2800">
              <a:solidFill>
                <a:schemeClr val="dk1"/>
              </a:solidFill>
            </a:endParaRPr>
          </a:p>
          <a:p>
            <a:pPr marL="447466" lvl="0" indent="-447466" algn="just" rtl="0">
              <a:lnSpc>
                <a:spcPct val="90000"/>
              </a:lnSpc>
              <a:spcBef>
                <a:spcPts val="0"/>
              </a:spcBef>
              <a:spcAft>
                <a:spcPts val="0"/>
              </a:spcAft>
              <a:buClr>
                <a:srgbClr val="C00000"/>
              </a:buClr>
              <a:buSzPts val="2800"/>
              <a:buFont typeface="Noto Sans Symbols"/>
              <a:buChar char="❖"/>
            </a:pPr>
            <a:r>
              <a:rPr lang="es-ES" sz="2800">
                <a:solidFill>
                  <a:schemeClr val="dk1"/>
                </a:solidFill>
              </a:rPr>
              <a:t>Son utilizadas en las metodologías de desarrollo ágiles (Ejemplo: XP, SCRUM) para la especificación de requerimientos. </a:t>
            </a:r>
            <a:endParaRPr/>
          </a:p>
          <a:p>
            <a:pPr marL="449263" lvl="0" indent="0" algn="just" rtl="0">
              <a:lnSpc>
                <a:spcPct val="90000"/>
              </a:lnSpc>
              <a:spcBef>
                <a:spcPts val="0"/>
              </a:spcBef>
              <a:spcAft>
                <a:spcPts val="0"/>
              </a:spcAft>
              <a:buClr>
                <a:srgbClr val="C00000"/>
              </a:buClr>
              <a:buSzPts val="2400"/>
              <a:buNone/>
            </a:pPr>
            <a:r>
              <a:rPr lang="es-ES" sz="2400">
                <a:solidFill>
                  <a:schemeClr val="dk1"/>
                </a:solidFill>
              </a:rPr>
              <a:t>Acompañadas de las discusiones con los usuarios y las pruebas de validación.</a:t>
            </a:r>
            <a:endParaRPr>
              <a:solidFill>
                <a:schemeClr val="dk1"/>
              </a:solidFill>
            </a:endParaRPr>
          </a:p>
        </p:txBody>
      </p:sp>
      <p:pic>
        <p:nvPicPr>
          <p:cNvPr id="405" name="Google Shape;405;p38" descr="El poder de tus ideas&quot;: Nota y recado"/>
          <p:cNvPicPr preferRelativeResize="0"/>
          <p:nvPr/>
        </p:nvPicPr>
        <p:blipFill rotWithShape="1">
          <a:blip r:embed="rId3">
            <a:alphaModFix/>
          </a:blip>
          <a:srcRect l="17786" t="8378" r="19931" b="16325"/>
          <a:stretch/>
        </p:blipFill>
        <p:spPr>
          <a:xfrm>
            <a:off x="9107489" y="4897464"/>
            <a:ext cx="1691844" cy="19271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2"/>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Conceptos</a:t>
            </a:r>
            <a:endParaRPr sz="4400">
              <a:solidFill>
                <a:schemeClr val="dk1"/>
              </a:solidFill>
              <a:latin typeface="Calibri"/>
              <a:ea typeface="Calibri"/>
              <a:cs typeface="Calibri"/>
              <a:sym typeface="Calibri"/>
            </a:endParaRPr>
          </a:p>
        </p:txBody>
      </p:sp>
      <p:sp>
        <p:nvSpPr>
          <p:cNvPr id="412" name="Google Shape;412;p3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13" name="Google Shape;413;p3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414" name="Google Shape;414;p3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27</a:t>
            </a:fld>
            <a:endParaRPr/>
          </a:p>
        </p:txBody>
      </p:sp>
      <p:sp>
        <p:nvSpPr>
          <p:cNvPr id="415" name="Google Shape;415;p32"/>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400"/>
              <a:buFont typeface="Noto Sans Symbols"/>
              <a:buChar char="❖"/>
            </a:pPr>
            <a:r>
              <a:rPr lang="es-ES" sz="2400" b="1">
                <a:solidFill>
                  <a:schemeClr val="dk1"/>
                </a:solidFill>
                <a:latin typeface="Calibri"/>
                <a:ea typeface="Calibri"/>
                <a:cs typeface="Calibri"/>
                <a:sym typeface="Calibri"/>
              </a:rPr>
              <a:t>Debe ser limitada</a:t>
            </a:r>
            <a:r>
              <a:rPr lang="es-ES" sz="2400">
                <a:solidFill>
                  <a:schemeClr val="dk1"/>
                </a:solidFill>
                <a:latin typeface="Calibri"/>
                <a:ea typeface="Calibri"/>
                <a:cs typeface="Calibri"/>
                <a:sym typeface="Calibri"/>
              </a:rPr>
              <a:t>, ésta debería poder escribirse sobre una nota adhesiva pequeña. </a:t>
            </a:r>
            <a:endParaRPr/>
          </a:p>
          <a:p>
            <a:pPr marL="447466" marR="0" lvl="0" indent="-447466"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Son </a:t>
            </a:r>
            <a:r>
              <a:rPr lang="es-ES" sz="2400" b="1">
                <a:solidFill>
                  <a:schemeClr val="dk1"/>
                </a:solidFill>
                <a:latin typeface="Calibri"/>
                <a:ea typeface="Calibri"/>
                <a:cs typeface="Calibri"/>
                <a:sym typeface="Calibri"/>
              </a:rPr>
              <a:t>una forma rápida de administrar los requisitos </a:t>
            </a:r>
            <a:r>
              <a:rPr lang="es-ES" sz="2400">
                <a:solidFill>
                  <a:schemeClr val="dk1"/>
                </a:solidFill>
                <a:latin typeface="Calibri"/>
                <a:ea typeface="Calibri"/>
                <a:cs typeface="Calibri"/>
                <a:sym typeface="Calibri"/>
              </a:rPr>
              <a:t>de los usuarios sin tener que elaborar gran cantidad de documentos formales y sin requerir de mucho tiempo para administrarlos. </a:t>
            </a:r>
            <a:endParaRPr/>
          </a:p>
          <a:p>
            <a:pPr marL="447466" marR="0" lvl="0" indent="-447466"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Permiten </a:t>
            </a:r>
            <a:r>
              <a:rPr lang="es-ES" sz="2400" b="1">
                <a:solidFill>
                  <a:schemeClr val="dk1"/>
                </a:solidFill>
                <a:latin typeface="Calibri"/>
                <a:ea typeface="Calibri"/>
                <a:cs typeface="Calibri"/>
                <a:sym typeface="Calibri"/>
              </a:rPr>
              <a:t>responder rápidamente a los requisitos cambiantes</a:t>
            </a:r>
            <a:r>
              <a:rPr lang="es-ES" sz="2400">
                <a:solidFill>
                  <a:schemeClr val="dk1"/>
                </a:solidFill>
                <a:latin typeface="Calibri"/>
                <a:ea typeface="Calibri"/>
                <a:cs typeface="Calibri"/>
                <a:sym typeface="Calibri"/>
              </a:rPr>
              <a:t>.</a:t>
            </a:r>
            <a:endParaRPr/>
          </a:p>
          <a:p>
            <a:pPr marL="447466" marR="0" lvl="0" indent="-447466"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Al momento de implementar las historias, los desarrolladores deben tener la posibilidad de </a:t>
            </a:r>
            <a:r>
              <a:rPr lang="es-ES" sz="2400" b="1">
                <a:solidFill>
                  <a:schemeClr val="dk1"/>
                </a:solidFill>
                <a:latin typeface="Calibri"/>
                <a:ea typeface="Calibri"/>
                <a:cs typeface="Calibri"/>
                <a:sym typeface="Calibri"/>
              </a:rPr>
              <a:t>discutirlas con los clientes</a:t>
            </a:r>
            <a:r>
              <a:rPr lang="es-ES" sz="2400">
                <a:solidFill>
                  <a:schemeClr val="dk1"/>
                </a:solidFill>
                <a:latin typeface="Calibri"/>
                <a:ea typeface="Calibri"/>
                <a:cs typeface="Calibri"/>
                <a:sym typeface="Calibri"/>
              </a:rPr>
              <a:t>.</a:t>
            </a:r>
            <a:endParaRPr/>
          </a:p>
          <a:p>
            <a:pPr marL="447466" marR="0" lvl="0" indent="-447466"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Generalmente se espera que la </a:t>
            </a:r>
            <a:r>
              <a:rPr lang="es-ES" sz="2400" b="1">
                <a:solidFill>
                  <a:schemeClr val="dk1"/>
                </a:solidFill>
                <a:latin typeface="Calibri"/>
                <a:ea typeface="Calibri"/>
                <a:cs typeface="Calibri"/>
                <a:sym typeface="Calibri"/>
              </a:rPr>
              <a:t>estimación de tiempo </a:t>
            </a:r>
            <a:r>
              <a:rPr lang="es-ES" sz="2400">
                <a:solidFill>
                  <a:schemeClr val="dk1"/>
                </a:solidFill>
                <a:latin typeface="Calibri"/>
                <a:ea typeface="Calibri"/>
                <a:cs typeface="Calibri"/>
                <a:sym typeface="Calibri"/>
              </a:rPr>
              <a:t>de cada historia de usuario se sitúe entre unas </a:t>
            </a:r>
            <a:r>
              <a:rPr lang="es-ES" sz="2400" b="1">
                <a:solidFill>
                  <a:schemeClr val="dk1"/>
                </a:solidFill>
                <a:latin typeface="Calibri"/>
                <a:ea typeface="Calibri"/>
                <a:cs typeface="Calibri"/>
                <a:sym typeface="Calibri"/>
              </a:rPr>
              <a:t>10 horas y un par de semanas</a:t>
            </a:r>
            <a:r>
              <a:rPr lang="es-ES" sz="2400">
                <a:solidFill>
                  <a:schemeClr val="dk1"/>
                </a:solidFill>
                <a:latin typeface="Calibri"/>
                <a:ea typeface="Calibri"/>
                <a:cs typeface="Calibri"/>
                <a:sym typeface="Calibri"/>
              </a:rPr>
              <a:t>.</a:t>
            </a:r>
            <a:endParaRPr/>
          </a:p>
          <a:p>
            <a:pPr marL="447466" marR="0" lvl="0" indent="-447466" algn="just" rtl="0">
              <a:spcBef>
                <a:spcPts val="0"/>
              </a:spcBef>
              <a:spcAft>
                <a:spcPts val="0"/>
              </a:spcAft>
              <a:buClr>
                <a:srgbClr val="C00000"/>
              </a:buClr>
              <a:buSzPts val="2400"/>
              <a:buFont typeface="Noto Sans Symbols"/>
              <a:buChar char="❖"/>
            </a:pPr>
            <a:r>
              <a:rPr lang="es-ES" sz="2400">
                <a:solidFill>
                  <a:schemeClr val="dk1"/>
                </a:solidFill>
                <a:latin typeface="Calibri"/>
                <a:ea typeface="Calibri"/>
                <a:cs typeface="Calibri"/>
                <a:sym typeface="Calibri"/>
              </a:rPr>
              <a:t>Estimaciones </a:t>
            </a:r>
            <a:r>
              <a:rPr lang="es-ES" sz="2400" b="1">
                <a:solidFill>
                  <a:schemeClr val="dk1"/>
                </a:solidFill>
                <a:latin typeface="Calibri"/>
                <a:ea typeface="Calibri"/>
                <a:cs typeface="Calibri"/>
                <a:sym typeface="Calibri"/>
              </a:rPr>
              <a:t>mayores a dos semanas </a:t>
            </a:r>
            <a:r>
              <a:rPr lang="es-ES" sz="2400">
                <a:solidFill>
                  <a:schemeClr val="dk1"/>
                </a:solidFill>
                <a:latin typeface="Calibri"/>
                <a:ea typeface="Calibri"/>
                <a:cs typeface="Calibri"/>
                <a:sym typeface="Calibri"/>
              </a:rPr>
              <a:t>son indicativo de que la historia es muy compleja y debe ser </a:t>
            </a:r>
            <a:r>
              <a:rPr lang="es-ES" sz="2400" b="1">
                <a:solidFill>
                  <a:schemeClr val="dk1"/>
                </a:solidFill>
                <a:latin typeface="Calibri"/>
                <a:ea typeface="Calibri"/>
                <a:cs typeface="Calibri"/>
                <a:sym typeface="Calibri"/>
              </a:rPr>
              <a:t>dividida en varias historias</a:t>
            </a:r>
            <a:r>
              <a:rPr lang="es-ES" sz="2400">
                <a:solidFill>
                  <a:schemeClr val="dk1"/>
                </a:solidFill>
                <a:latin typeface="Calibri"/>
                <a:ea typeface="Calibri"/>
                <a:cs typeface="Calibri"/>
                <a:sym typeface="Calibri"/>
              </a:rPr>
              <a:t>.</a:t>
            </a:r>
            <a:endParaRPr/>
          </a:p>
          <a:p>
            <a:pPr marL="806450" marR="0" lvl="2" indent="-268288" algn="l" rtl="0">
              <a:spcBef>
                <a:spcPts val="0"/>
              </a:spcBef>
              <a:spcAft>
                <a:spcPts val="0"/>
              </a:spcAft>
              <a:buClr>
                <a:srgbClr val="C00000"/>
              </a:buClr>
              <a:buSzPts val="2800"/>
              <a:buFont typeface="Noto Sans Symbols"/>
              <a:buNone/>
            </a:pPr>
            <a:endParaRPr sz="2400" b="0" i="0" u="none" strike="noStrike" cap="none">
              <a:solidFill>
                <a:schemeClr val="dk1"/>
              </a:solidFill>
              <a:latin typeface="Calibri"/>
              <a:ea typeface="Calibri"/>
              <a:cs typeface="Calibri"/>
              <a:sym typeface="Calibri"/>
            </a:endParaRPr>
          </a:p>
          <a:p>
            <a:pPr marL="447466" marR="0" lvl="0" indent="-295066" algn="just" rtl="0">
              <a:spcBef>
                <a:spcPts val="0"/>
              </a:spcBef>
              <a:spcAft>
                <a:spcPts val="0"/>
              </a:spcAft>
              <a:buClr>
                <a:srgbClr val="C00000"/>
              </a:buClr>
              <a:buSzPts val="2400"/>
              <a:buFont typeface="Noto Sans Symbols"/>
              <a:buNone/>
            </a:pPr>
            <a:endParaRPr sz="2400">
              <a:solidFill>
                <a:schemeClr val="dk1"/>
              </a:solidFill>
              <a:latin typeface="Calibri"/>
              <a:ea typeface="Calibri"/>
              <a:cs typeface="Calibri"/>
              <a:sym typeface="Calibri"/>
            </a:endParaRPr>
          </a:p>
        </p:txBody>
      </p:sp>
      <p:pic>
        <p:nvPicPr>
          <p:cNvPr id="416" name="Google Shape;416;p32" descr="El poder de tus ideas&quot;: Nota y recado"/>
          <p:cNvPicPr preferRelativeResize="0"/>
          <p:nvPr/>
        </p:nvPicPr>
        <p:blipFill rotWithShape="1">
          <a:blip r:embed="rId3">
            <a:alphaModFix/>
          </a:blip>
          <a:srcRect l="17786" t="8378" r="19931" b="16325"/>
          <a:stretch/>
        </p:blipFill>
        <p:spPr>
          <a:xfrm>
            <a:off x="9348572" y="2758698"/>
            <a:ext cx="1691844" cy="1927199"/>
          </a:xfrm>
          <a:prstGeom prst="rect">
            <a:avLst/>
          </a:prstGeom>
          <a:noFill/>
          <a:ln>
            <a:noFill/>
          </a:ln>
        </p:spPr>
      </p:pic>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5">
                                            <p:txEl>
                                              <p:pRg st="1" end="1"/>
                                            </p:txEl>
                                          </p:spTgt>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1"/>
                                          </p:stCondLst>
                                        </p:cTn>
                                        <p:tgtEl>
                                          <p:spTgt spid="41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3"/>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Forma de redactarlas</a:t>
            </a:r>
            <a:endParaRPr sz="4400">
              <a:solidFill>
                <a:schemeClr val="dk1"/>
              </a:solidFill>
              <a:latin typeface="Calibri"/>
              <a:ea typeface="Calibri"/>
              <a:cs typeface="Calibri"/>
              <a:sym typeface="Calibri"/>
            </a:endParaRPr>
          </a:p>
        </p:txBody>
      </p:sp>
      <p:sp>
        <p:nvSpPr>
          <p:cNvPr id="423" name="Google Shape;423;p3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24" name="Google Shape;424;p3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425" name="Google Shape;425;p3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28</a:t>
            </a:fld>
            <a:endParaRPr/>
          </a:p>
        </p:txBody>
      </p:sp>
      <p:sp>
        <p:nvSpPr>
          <p:cNvPr id="426" name="Google Shape;426;p33"/>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800"/>
              <a:buFont typeface="Noto Sans Symbols"/>
              <a:buChar char="❖"/>
            </a:pPr>
            <a:r>
              <a:rPr lang="es-ES" sz="2800">
                <a:solidFill>
                  <a:schemeClr val="dk1"/>
                </a:solidFill>
                <a:latin typeface="Calibri"/>
                <a:ea typeface="Calibri"/>
                <a:cs typeface="Calibri"/>
                <a:sym typeface="Calibri"/>
              </a:rPr>
              <a:t>Si bien el estilo puede ser libre, la HU debe responder a tres preguntas: </a:t>
            </a:r>
            <a:endParaRPr/>
          </a:p>
          <a:p>
            <a:pPr marL="806450" marR="0" lvl="0" indent="-357188" algn="just" rtl="0">
              <a:spcBef>
                <a:spcPts val="0"/>
              </a:spcBef>
              <a:spcAft>
                <a:spcPts val="0"/>
              </a:spcAft>
              <a:buClr>
                <a:srgbClr val="C00000"/>
              </a:buClr>
              <a:buSzPts val="2400"/>
              <a:buFont typeface="Noto Sans Symbols"/>
              <a:buChar char="»"/>
            </a:pPr>
            <a:r>
              <a:rPr lang="es-ES" sz="2400" b="1">
                <a:solidFill>
                  <a:schemeClr val="dk1"/>
                </a:solidFill>
                <a:latin typeface="Calibri"/>
                <a:ea typeface="Calibri"/>
                <a:cs typeface="Calibri"/>
                <a:sym typeface="Calibri"/>
              </a:rPr>
              <a:t>¿Quién se beneficia?</a:t>
            </a:r>
            <a:endParaRPr/>
          </a:p>
          <a:p>
            <a:pPr marL="806450" marR="0" lvl="0" indent="-357188" algn="just" rtl="0">
              <a:spcBef>
                <a:spcPts val="0"/>
              </a:spcBef>
              <a:spcAft>
                <a:spcPts val="0"/>
              </a:spcAft>
              <a:buClr>
                <a:srgbClr val="C00000"/>
              </a:buClr>
              <a:buSzPts val="2400"/>
              <a:buFont typeface="Noto Sans Symbols"/>
              <a:buChar char="»"/>
            </a:pPr>
            <a:r>
              <a:rPr lang="es-ES" sz="2400" b="1">
                <a:solidFill>
                  <a:schemeClr val="dk1"/>
                </a:solidFill>
                <a:latin typeface="Calibri"/>
                <a:ea typeface="Calibri"/>
                <a:cs typeface="Calibri"/>
                <a:sym typeface="Calibri"/>
              </a:rPr>
              <a:t>¿Qué se quiere? </a:t>
            </a:r>
            <a:endParaRPr/>
          </a:p>
          <a:p>
            <a:pPr marL="806450" marR="0" lvl="0" indent="-357188" algn="just" rtl="0">
              <a:spcBef>
                <a:spcPts val="0"/>
              </a:spcBef>
              <a:spcAft>
                <a:spcPts val="0"/>
              </a:spcAft>
              <a:buClr>
                <a:srgbClr val="C00000"/>
              </a:buClr>
              <a:buSzPts val="2400"/>
              <a:buFont typeface="Noto Sans Symbols"/>
              <a:buChar char="»"/>
            </a:pPr>
            <a:r>
              <a:rPr lang="es-ES" sz="2400" b="1">
                <a:solidFill>
                  <a:schemeClr val="dk1"/>
                </a:solidFill>
                <a:latin typeface="Calibri"/>
                <a:ea typeface="Calibri"/>
                <a:cs typeface="Calibri"/>
                <a:sym typeface="Calibri"/>
              </a:rPr>
              <a:t>¿Cuál es el beneficio? </a:t>
            </a:r>
            <a:endParaRPr/>
          </a:p>
          <a:p>
            <a:pPr marL="806450" marR="0" lvl="2" indent="-268288" algn="l" rtl="0">
              <a:spcBef>
                <a:spcPts val="0"/>
              </a:spcBef>
              <a:spcAft>
                <a:spcPts val="0"/>
              </a:spcAft>
              <a:buClr>
                <a:srgbClr val="C00000"/>
              </a:buClr>
              <a:buSzPts val="2800"/>
              <a:buFont typeface="Noto Sans Symbols"/>
              <a:buNone/>
            </a:pPr>
            <a:endParaRPr sz="2400" b="0" i="0" u="none" strike="noStrike" cap="none">
              <a:solidFill>
                <a:schemeClr val="dk1"/>
              </a:solidFill>
              <a:latin typeface="Calibri"/>
              <a:ea typeface="Calibri"/>
              <a:cs typeface="Calibri"/>
              <a:sym typeface="Calibri"/>
            </a:endParaRPr>
          </a:p>
          <a:p>
            <a:pPr marL="447466" marR="0" lvl="0" indent="-295066" algn="just" rtl="0">
              <a:spcBef>
                <a:spcPts val="0"/>
              </a:spcBef>
              <a:spcAft>
                <a:spcPts val="0"/>
              </a:spcAft>
              <a:buClr>
                <a:srgbClr val="C00000"/>
              </a:buClr>
              <a:buSzPts val="2400"/>
              <a:buFont typeface="Noto Sans Symbols"/>
              <a:buNone/>
            </a:pPr>
            <a:endParaRPr sz="2400">
              <a:solidFill>
                <a:schemeClr val="dk1"/>
              </a:solidFill>
              <a:latin typeface="Calibri"/>
              <a:ea typeface="Calibri"/>
              <a:cs typeface="Calibri"/>
              <a:sym typeface="Calibri"/>
            </a:endParaRPr>
          </a:p>
        </p:txBody>
      </p:sp>
      <p:sp>
        <p:nvSpPr>
          <p:cNvPr id="427" name="Google Shape;427;p33"/>
          <p:cNvSpPr/>
          <p:nvPr/>
        </p:nvSpPr>
        <p:spPr>
          <a:xfrm>
            <a:off x="2744099" y="4138801"/>
            <a:ext cx="6944126" cy="1541329"/>
          </a:xfrm>
          <a:prstGeom prst="snip1Rect">
            <a:avLst>
              <a:gd name="adj" fmla="val 16667"/>
            </a:avLst>
          </a:prstGeom>
          <a:gradFill>
            <a:gsLst>
              <a:gs pos="0">
                <a:srgbClr val="E4968F"/>
              </a:gs>
              <a:gs pos="45000">
                <a:srgbClr val="EAA9A2"/>
              </a:gs>
              <a:gs pos="100000">
                <a:srgbClr val="F2AEA7"/>
              </a:gs>
            </a:gsLst>
            <a:path path="circle">
              <a:fillToRect l="50000" t="50000" r="50000" b="50000"/>
            </a:path>
            <a:tileRect/>
          </a:gradFill>
          <a:ln w="127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68580" marR="0" lvl="0" indent="-68580" algn="just" rtl="0">
              <a:lnSpc>
                <a:spcPct val="100000"/>
              </a:lnSpc>
              <a:spcBef>
                <a:spcPts val="0"/>
              </a:spcBef>
              <a:spcAft>
                <a:spcPts val="0"/>
              </a:spcAft>
              <a:buClr>
                <a:srgbClr val="000000"/>
              </a:buClr>
              <a:buSzPts val="2400"/>
              <a:buFont typeface="Arial"/>
              <a:buNone/>
            </a:pPr>
            <a:r>
              <a:rPr lang="es-ES" sz="2800" b="0" i="0" u="none" strike="noStrike" cap="none">
                <a:solidFill>
                  <a:schemeClr val="dk1"/>
                </a:solidFill>
                <a:latin typeface="Calibri"/>
                <a:ea typeface="Calibri"/>
                <a:cs typeface="Calibri"/>
                <a:sym typeface="Calibri"/>
              </a:rPr>
              <a:t>Esquema:     </a:t>
            </a:r>
            <a:endParaRPr sz="2800" b="0" i="0" u="none" strike="noStrike" cap="none">
              <a:solidFill>
                <a:srgbClr val="000000"/>
              </a:solidFill>
              <a:latin typeface="Calibri"/>
              <a:ea typeface="Calibri"/>
              <a:cs typeface="Calibri"/>
              <a:sym typeface="Calibri"/>
            </a:endParaRPr>
          </a:p>
          <a:p>
            <a:pPr marL="68580" marR="0" lvl="0" indent="-68580" algn="just" rtl="0">
              <a:lnSpc>
                <a:spcPct val="100000"/>
              </a:lnSpc>
              <a:spcBef>
                <a:spcPts val="0"/>
              </a:spcBef>
              <a:spcAft>
                <a:spcPts val="0"/>
              </a:spcAft>
              <a:buClr>
                <a:srgbClr val="000000"/>
              </a:buClr>
              <a:buSzPts val="2400"/>
              <a:buFont typeface="Arial"/>
              <a:buNone/>
            </a:pPr>
            <a:endParaRPr sz="1400" b="0" i="0" u="none" strike="noStrike" cap="none">
              <a:solidFill>
                <a:schemeClr val="dk1"/>
              </a:solidFill>
              <a:latin typeface="Calibri"/>
              <a:ea typeface="Calibri"/>
              <a:cs typeface="Calibri"/>
              <a:sym typeface="Calibri"/>
            </a:endParaRPr>
          </a:p>
          <a:p>
            <a:pPr marL="68580" marR="0" lvl="0" indent="-68580" algn="ctr" rtl="0">
              <a:lnSpc>
                <a:spcPct val="100000"/>
              </a:lnSpc>
              <a:spcBef>
                <a:spcPts val="0"/>
              </a:spcBef>
              <a:spcAft>
                <a:spcPts val="0"/>
              </a:spcAft>
              <a:buClr>
                <a:srgbClr val="000000"/>
              </a:buClr>
              <a:buSzPts val="2800"/>
              <a:buFont typeface="Arial"/>
              <a:buNone/>
            </a:pPr>
            <a:r>
              <a:rPr lang="es-ES" sz="2800" b="0" i="0" u="none" strike="noStrike" cap="none">
                <a:solidFill>
                  <a:schemeClr val="dk1"/>
                </a:solidFill>
                <a:latin typeface="Calibri"/>
                <a:ea typeface="Calibri"/>
                <a:cs typeface="Calibri"/>
                <a:sym typeface="Calibri"/>
              </a:rPr>
              <a:t>Como (</a:t>
            </a:r>
            <a:r>
              <a:rPr lang="es-ES" sz="2800" b="1" i="0" u="none" strike="noStrike" cap="none">
                <a:solidFill>
                  <a:schemeClr val="dk1"/>
                </a:solidFill>
                <a:latin typeface="Calibri"/>
                <a:ea typeface="Calibri"/>
                <a:cs typeface="Calibri"/>
                <a:sym typeface="Calibri"/>
              </a:rPr>
              <a:t>rol</a:t>
            </a:r>
            <a:r>
              <a:rPr lang="es-ES" sz="2800" b="0" i="0" u="none" strike="noStrike" cap="none">
                <a:solidFill>
                  <a:schemeClr val="dk1"/>
                </a:solidFill>
                <a:latin typeface="Calibri"/>
                <a:ea typeface="Calibri"/>
                <a:cs typeface="Calibri"/>
                <a:sym typeface="Calibri"/>
              </a:rPr>
              <a:t>) quiero (</a:t>
            </a:r>
            <a:r>
              <a:rPr lang="es-ES" sz="2800" b="1" i="0" u="none" strike="noStrike" cap="none">
                <a:solidFill>
                  <a:schemeClr val="dk1"/>
                </a:solidFill>
                <a:latin typeface="Calibri"/>
                <a:ea typeface="Calibri"/>
                <a:cs typeface="Calibri"/>
                <a:sym typeface="Calibri"/>
              </a:rPr>
              <a:t>algo</a:t>
            </a:r>
            <a:r>
              <a:rPr lang="es-ES" sz="2800" b="0" i="0" u="none" strike="noStrike" cap="none">
                <a:solidFill>
                  <a:schemeClr val="dk1"/>
                </a:solidFill>
                <a:latin typeface="Calibri"/>
                <a:ea typeface="Calibri"/>
                <a:cs typeface="Calibri"/>
                <a:sym typeface="Calibri"/>
              </a:rPr>
              <a:t>) para (</a:t>
            </a:r>
            <a:r>
              <a:rPr lang="es-ES" sz="2800" b="1" i="0" u="none" strike="noStrike" cap="none">
                <a:solidFill>
                  <a:schemeClr val="dk1"/>
                </a:solidFill>
                <a:latin typeface="Calibri"/>
                <a:ea typeface="Calibri"/>
                <a:cs typeface="Calibri"/>
                <a:sym typeface="Calibri"/>
              </a:rPr>
              <a:t>beneficio</a:t>
            </a:r>
            <a:r>
              <a:rPr lang="es-ES" sz="2800" b="0" i="0" u="none" strike="noStrike" cap="none">
                <a:solidFill>
                  <a:schemeClr val="dk1"/>
                </a:solidFill>
                <a:latin typeface="Calibri"/>
                <a:ea typeface="Calibri"/>
                <a:cs typeface="Calibri"/>
                <a:sym typeface="Calibri"/>
              </a:rPr>
              <a:t>).</a:t>
            </a:r>
            <a:endParaRPr/>
          </a:p>
          <a:p>
            <a:pPr marL="68580" marR="0" lvl="0" indent="-68580" algn="ctr" rtl="0">
              <a:lnSpc>
                <a:spcPct val="100000"/>
              </a:lnSpc>
              <a:spcBef>
                <a:spcPts val="0"/>
              </a:spcBef>
              <a:spcAft>
                <a:spcPts val="0"/>
              </a:spcAft>
              <a:buClr>
                <a:srgbClr val="000000"/>
              </a:buClr>
              <a:buSzPts val="2800"/>
              <a:buFont typeface="Arial"/>
              <a:buNone/>
            </a:pPr>
            <a:endParaRPr sz="2800" b="0" i="0" u="none" strike="noStrike" cap="none">
              <a:solidFill>
                <a:schemeClr val="lt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4"/>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Forma de redactarlas</a:t>
            </a:r>
            <a:endParaRPr sz="4400">
              <a:solidFill>
                <a:schemeClr val="dk1"/>
              </a:solidFill>
              <a:latin typeface="Calibri"/>
              <a:ea typeface="Calibri"/>
              <a:cs typeface="Calibri"/>
              <a:sym typeface="Calibri"/>
            </a:endParaRPr>
          </a:p>
        </p:txBody>
      </p:sp>
      <p:sp>
        <p:nvSpPr>
          <p:cNvPr id="434" name="Google Shape;434;p3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35" name="Google Shape;435;p3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436" name="Google Shape;436;p3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29</a:t>
            </a:fld>
            <a:endParaRPr/>
          </a:p>
        </p:txBody>
      </p:sp>
      <p:sp>
        <p:nvSpPr>
          <p:cNvPr id="437" name="Google Shape;437;p34"/>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0" marR="0" lvl="0" indent="0" algn="just" rtl="0">
              <a:lnSpc>
                <a:spcPct val="90000"/>
              </a:lnSpc>
              <a:spcBef>
                <a:spcPts val="0"/>
              </a:spcBef>
              <a:spcAft>
                <a:spcPts val="0"/>
              </a:spcAft>
              <a:buNone/>
            </a:pPr>
            <a:r>
              <a:rPr lang="es-ES" sz="2600">
                <a:solidFill>
                  <a:schemeClr val="dk1"/>
                </a:solidFill>
                <a:latin typeface="Calibri"/>
                <a:ea typeface="Calibri"/>
                <a:cs typeface="Calibri"/>
                <a:sym typeface="Calibri"/>
              </a:rPr>
              <a:t>Como </a:t>
            </a:r>
            <a:r>
              <a:rPr lang="es-ES" sz="2600" b="1">
                <a:solidFill>
                  <a:schemeClr val="dk1"/>
                </a:solidFill>
                <a:latin typeface="Calibri"/>
                <a:ea typeface="Calibri"/>
                <a:cs typeface="Calibri"/>
                <a:sym typeface="Calibri"/>
              </a:rPr>
              <a:t>Cliente</a:t>
            </a:r>
            <a:r>
              <a:rPr lang="es-ES" sz="2600">
                <a:solidFill>
                  <a:schemeClr val="dk1"/>
                </a:solidFill>
                <a:latin typeface="Calibri"/>
                <a:ea typeface="Calibri"/>
                <a:cs typeface="Calibri"/>
                <a:sym typeface="Calibri"/>
              </a:rPr>
              <a:t> quiero </a:t>
            </a:r>
            <a:r>
              <a:rPr lang="es-ES" sz="2600">
                <a:solidFill>
                  <a:srgbClr val="FF0000"/>
                </a:solidFill>
                <a:latin typeface="Calibri"/>
                <a:ea typeface="Calibri"/>
                <a:cs typeface="Calibri"/>
                <a:sym typeface="Calibri"/>
              </a:rPr>
              <a:t>suscribirme por medio del sitio web </a:t>
            </a:r>
            <a:r>
              <a:rPr lang="es-ES" sz="2600">
                <a:solidFill>
                  <a:schemeClr val="dk1"/>
                </a:solidFill>
                <a:latin typeface="Calibri"/>
                <a:ea typeface="Calibri"/>
                <a:cs typeface="Calibri"/>
                <a:sym typeface="Calibri"/>
              </a:rPr>
              <a:t>para </a:t>
            </a:r>
            <a:r>
              <a:rPr lang="es-ES" sz="2600" b="1">
                <a:solidFill>
                  <a:srgbClr val="00B050"/>
                </a:solidFill>
                <a:latin typeface="Calibri"/>
                <a:ea typeface="Calibri"/>
                <a:cs typeface="Calibri"/>
                <a:sym typeface="Calibri"/>
              </a:rPr>
              <a:t>obtener un nuevo plan de T.V. por cable</a:t>
            </a:r>
            <a:r>
              <a:rPr lang="es-ES" sz="2600">
                <a:solidFill>
                  <a:schemeClr val="dk1"/>
                </a:solidFill>
                <a:latin typeface="Calibri"/>
                <a:ea typeface="Calibri"/>
                <a:cs typeface="Calibri"/>
                <a:sym typeface="Calibri"/>
              </a:rPr>
              <a:t>.</a:t>
            </a:r>
            <a:r>
              <a:rPr lang="es-ES" sz="2600" b="1">
                <a:solidFill>
                  <a:srgbClr val="00B050"/>
                </a:solidFill>
                <a:latin typeface="Calibri"/>
                <a:ea typeface="Calibri"/>
                <a:cs typeface="Calibri"/>
                <a:sym typeface="Calibri"/>
              </a:rPr>
              <a:t> </a:t>
            </a:r>
            <a:endParaRPr sz="2600">
              <a:solidFill>
                <a:schemeClr val="dk1"/>
              </a:solidFill>
              <a:latin typeface="Calibri"/>
              <a:ea typeface="Calibri"/>
              <a:cs typeface="Calibri"/>
              <a:sym typeface="Calibri"/>
            </a:endParaRPr>
          </a:p>
          <a:p>
            <a:pPr marL="68580" marR="0" lvl="0" indent="0" algn="just" rtl="0">
              <a:lnSpc>
                <a:spcPct val="90000"/>
              </a:lnSpc>
              <a:spcBef>
                <a:spcPts val="1400"/>
              </a:spcBef>
              <a:spcAft>
                <a:spcPts val="0"/>
              </a:spcAft>
              <a:buNone/>
            </a:pPr>
            <a:endParaRPr sz="2600">
              <a:solidFill>
                <a:schemeClr val="dk1"/>
              </a:solidFill>
              <a:latin typeface="Calibri"/>
              <a:ea typeface="Calibri"/>
              <a:cs typeface="Calibri"/>
              <a:sym typeface="Calibri"/>
            </a:endParaRPr>
          </a:p>
          <a:p>
            <a:pPr marL="0" marR="0" lvl="0" indent="0" algn="just" rtl="0">
              <a:lnSpc>
                <a:spcPct val="90000"/>
              </a:lnSpc>
              <a:spcBef>
                <a:spcPts val="1400"/>
              </a:spcBef>
              <a:spcAft>
                <a:spcPts val="0"/>
              </a:spcAft>
              <a:buNone/>
            </a:pPr>
            <a:r>
              <a:rPr lang="es-ES" sz="2600">
                <a:solidFill>
                  <a:schemeClr val="dk1"/>
                </a:solidFill>
                <a:latin typeface="Calibri"/>
                <a:ea typeface="Calibri"/>
                <a:cs typeface="Calibri"/>
                <a:sym typeface="Calibri"/>
              </a:rPr>
              <a:t>Como </a:t>
            </a:r>
            <a:r>
              <a:rPr lang="es-ES" sz="2600" b="1">
                <a:solidFill>
                  <a:schemeClr val="dk1"/>
                </a:solidFill>
                <a:latin typeface="Calibri"/>
                <a:ea typeface="Calibri"/>
                <a:cs typeface="Calibri"/>
                <a:sym typeface="Calibri"/>
              </a:rPr>
              <a:t>Vendedor</a:t>
            </a:r>
            <a:r>
              <a:rPr lang="es-ES" sz="2600">
                <a:solidFill>
                  <a:schemeClr val="dk1"/>
                </a:solidFill>
                <a:latin typeface="Calibri"/>
                <a:ea typeface="Calibri"/>
                <a:cs typeface="Calibri"/>
                <a:sym typeface="Calibri"/>
              </a:rPr>
              <a:t> quiero </a:t>
            </a:r>
            <a:r>
              <a:rPr lang="es-ES" sz="2600">
                <a:solidFill>
                  <a:srgbClr val="FF0000"/>
                </a:solidFill>
                <a:latin typeface="Calibri"/>
                <a:ea typeface="Calibri"/>
                <a:cs typeface="Calibri"/>
                <a:sym typeface="Calibri"/>
              </a:rPr>
              <a:t>registrar los productos y cantidades que me solicita un cliente</a:t>
            </a:r>
            <a:r>
              <a:rPr lang="es-ES" sz="2600">
                <a:solidFill>
                  <a:schemeClr val="dk1"/>
                </a:solidFill>
                <a:latin typeface="Calibri"/>
                <a:ea typeface="Calibri"/>
                <a:cs typeface="Calibri"/>
                <a:sym typeface="Calibri"/>
              </a:rPr>
              <a:t> para </a:t>
            </a:r>
            <a:r>
              <a:rPr lang="es-ES" sz="2600" b="1">
                <a:solidFill>
                  <a:srgbClr val="00B050"/>
                </a:solidFill>
                <a:latin typeface="Calibri"/>
                <a:ea typeface="Calibri"/>
                <a:cs typeface="Calibri"/>
                <a:sym typeface="Calibri"/>
              </a:rPr>
              <a:t>crear un pedido de venta</a:t>
            </a:r>
            <a:r>
              <a:rPr lang="es-ES" sz="2600">
                <a:solidFill>
                  <a:schemeClr val="dk1"/>
                </a:solidFill>
                <a:latin typeface="Calibri"/>
                <a:ea typeface="Calibri"/>
                <a:cs typeface="Calibri"/>
                <a:sym typeface="Calibri"/>
              </a:rPr>
              <a:t>.</a:t>
            </a:r>
            <a:endParaRPr/>
          </a:p>
          <a:p>
            <a:pPr marL="68580" marR="0" lvl="0" indent="0" algn="just" rtl="0">
              <a:lnSpc>
                <a:spcPct val="90000"/>
              </a:lnSpc>
              <a:spcBef>
                <a:spcPts val="1400"/>
              </a:spcBef>
              <a:spcAft>
                <a:spcPts val="0"/>
              </a:spcAft>
              <a:buNone/>
            </a:pPr>
            <a:endParaRPr sz="2600">
              <a:solidFill>
                <a:schemeClr val="dk1"/>
              </a:solidFill>
              <a:latin typeface="Calibri"/>
              <a:ea typeface="Calibri"/>
              <a:cs typeface="Calibri"/>
              <a:sym typeface="Calibri"/>
            </a:endParaRPr>
          </a:p>
          <a:p>
            <a:pPr marL="0" marR="0" lvl="0" indent="0" algn="just" rtl="0">
              <a:lnSpc>
                <a:spcPct val="90000"/>
              </a:lnSpc>
              <a:spcBef>
                <a:spcPts val="1400"/>
              </a:spcBef>
              <a:spcAft>
                <a:spcPts val="0"/>
              </a:spcAft>
              <a:buNone/>
            </a:pPr>
            <a:r>
              <a:rPr lang="es-ES" sz="2600">
                <a:solidFill>
                  <a:schemeClr val="dk1"/>
                </a:solidFill>
                <a:latin typeface="Calibri"/>
                <a:ea typeface="Calibri"/>
                <a:cs typeface="Calibri"/>
                <a:sym typeface="Calibri"/>
              </a:rPr>
              <a:t>Como </a:t>
            </a:r>
            <a:r>
              <a:rPr lang="es-ES" sz="2600" b="1">
                <a:solidFill>
                  <a:schemeClr val="dk1"/>
                </a:solidFill>
                <a:latin typeface="Calibri"/>
                <a:ea typeface="Calibri"/>
                <a:cs typeface="Calibri"/>
                <a:sym typeface="Calibri"/>
              </a:rPr>
              <a:t>Analista de compras</a:t>
            </a:r>
            <a:r>
              <a:rPr lang="es-ES" sz="2600">
                <a:solidFill>
                  <a:schemeClr val="dk1"/>
                </a:solidFill>
                <a:latin typeface="Calibri"/>
                <a:ea typeface="Calibri"/>
                <a:cs typeface="Calibri"/>
                <a:sym typeface="Calibri"/>
              </a:rPr>
              <a:t> quiero </a:t>
            </a:r>
            <a:r>
              <a:rPr lang="es-ES" sz="2600">
                <a:solidFill>
                  <a:srgbClr val="FF0000"/>
                </a:solidFill>
                <a:latin typeface="Calibri"/>
                <a:ea typeface="Calibri"/>
                <a:cs typeface="Calibri"/>
                <a:sym typeface="Calibri"/>
              </a:rPr>
              <a:t>notificar vía correo electrónico a los proveedores </a:t>
            </a:r>
            <a:r>
              <a:rPr lang="es-ES" sz="2600">
                <a:solidFill>
                  <a:schemeClr val="dk1"/>
                </a:solidFill>
                <a:latin typeface="Calibri"/>
                <a:ea typeface="Calibri"/>
                <a:cs typeface="Calibri"/>
                <a:sym typeface="Calibri"/>
              </a:rPr>
              <a:t>para </a:t>
            </a:r>
            <a:r>
              <a:rPr lang="es-ES" sz="2600" b="1">
                <a:solidFill>
                  <a:srgbClr val="00B050"/>
                </a:solidFill>
                <a:latin typeface="Calibri"/>
                <a:ea typeface="Calibri"/>
                <a:cs typeface="Calibri"/>
                <a:sym typeface="Calibri"/>
              </a:rPr>
              <a:t>avisar que se ha enviado una cotización de licitación</a:t>
            </a:r>
            <a:r>
              <a:rPr lang="es-ES" sz="2600">
                <a:solidFill>
                  <a:schemeClr val="dk1"/>
                </a:solidFill>
                <a:latin typeface="Calibri"/>
                <a:ea typeface="Calibri"/>
                <a:cs typeface="Calibri"/>
                <a:sym typeface="Calibri"/>
              </a:rPr>
              <a:t>.</a:t>
            </a:r>
            <a:endParaRPr sz="2600" b="1">
              <a:solidFill>
                <a:srgbClr val="00B050"/>
              </a:solidFill>
              <a:latin typeface="Calibri"/>
              <a:ea typeface="Calibri"/>
              <a:cs typeface="Calibri"/>
              <a:sym typeface="Calibri"/>
            </a:endParaRPr>
          </a:p>
          <a:p>
            <a:pPr marL="806450" marR="0" lvl="2" indent="-268288" algn="l" rtl="0">
              <a:spcBef>
                <a:spcPts val="200"/>
              </a:spcBef>
              <a:spcAft>
                <a:spcPts val="0"/>
              </a:spcAft>
              <a:buClr>
                <a:srgbClr val="C00000"/>
              </a:buClr>
              <a:buSzPts val="2800"/>
              <a:buFont typeface="Noto Sans Symbols"/>
              <a:buNone/>
            </a:pPr>
            <a:endParaRPr sz="2600" b="0" i="0" u="none" strike="noStrike" cap="none">
              <a:solidFill>
                <a:schemeClr val="dk1"/>
              </a:solidFill>
              <a:latin typeface="Calibri"/>
              <a:ea typeface="Calibri"/>
              <a:cs typeface="Calibri"/>
              <a:sym typeface="Calibri"/>
            </a:endParaRPr>
          </a:p>
          <a:p>
            <a:pPr marL="447466" marR="0" lvl="0" indent="-282366" algn="just" rtl="0">
              <a:spcBef>
                <a:spcPts val="0"/>
              </a:spcBef>
              <a:spcAft>
                <a:spcPts val="0"/>
              </a:spcAft>
              <a:buClr>
                <a:srgbClr val="C00000"/>
              </a:buClr>
              <a:buSzPts val="2600"/>
              <a:buFont typeface="Noto Sans Symbols"/>
              <a:buNone/>
            </a:pPr>
            <a:endParaRPr sz="26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86"/>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Características</a:t>
            </a:r>
            <a:endParaRPr sz="4400">
              <a:solidFill>
                <a:schemeClr val="dk1"/>
              </a:solidFill>
              <a:latin typeface="Calibri"/>
              <a:ea typeface="Calibri"/>
              <a:cs typeface="Calibri"/>
              <a:sym typeface="Calibri"/>
            </a:endParaRPr>
          </a:p>
        </p:txBody>
      </p:sp>
      <p:sp>
        <p:nvSpPr>
          <p:cNvPr id="444" name="Google Shape;444;p86"/>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45" name="Google Shape;445;p86"/>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446" name="Google Shape;446;p86"/>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30</a:t>
            </a:fld>
            <a:endParaRPr/>
          </a:p>
        </p:txBody>
      </p:sp>
      <p:sp>
        <p:nvSpPr>
          <p:cNvPr id="447" name="Google Shape;447;p86"/>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Independientes unas de otras </a:t>
            </a:r>
            <a:endParaRPr/>
          </a:p>
          <a:p>
            <a:pPr marL="449263" marR="0" lvl="0" indent="0" algn="just" rtl="0">
              <a:spcBef>
                <a:spcPts val="0"/>
              </a:spcBef>
              <a:spcAft>
                <a:spcPts val="0"/>
              </a:spcAft>
              <a:buNone/>
            </a:pPr>
            <a:r>
              <a:rPr lang="es-ES" sz="2200">
                <a:solidFill>
                  <a:schemeClr val="dk1"/>
                </a:solidFill>
                <a:latin typeface="Calibri"/>
                <a:ea typeface="Calibri"/>
                <a:cs typeface="Calibri"/>
                <a:sym typeface="Calibri"/>
              </a:rPr>
              <a:t>De ser necesario, combinar las historias dependientes o buscar otra forma de dividir las historias de manera que resulten independientes. </a:t>
            </a:r>
            <a:endParaRPr/>
          </a:p>
          <a:p>
            <a:pPr marL="447466" marR="0" lvl="0" indent="-371266" algn="just" rtl="0">
              <a:spcBef>
                <a:spcPts val="0"/>
              </a:spcBef>
              <a:spcAft>
                <a:spcPts val="0"/>
              </a:spcAft>
              <a:buClr>
                <a:srgbClr val="C00000"/>
              </a:buClr>
              <a:buSzPts val="1200"/>
              <a:buFont typeface="Noto Sans Symbols"/>
              <a:buNone/>
            </a:pPr>
            <a:endParaRPr sz="12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Negociables</a:t>
            </a:r>
            <a:endParaRPr/>
          </a:p>
          <a:p>
            <a:pPr marL="449263" marR="0" lvl="0" indent="0" algn="just" rtl="0">
              <a:spcBef>
                <a:spcPts val="0"/>
              </a:spcBef>
              <a:spcAft>
                <a:spcPts val="0"/>
              </a:spcAft>
              <a:buNone/>
            </a:pPr>
            <a:r>
              <a:rPr lang="es-ES" sz="2200">
                <a:solidFill>
                  <a:schemeClr val="dk1"/>
                </a:solidFill>
                <a:latin typeface="Calibri"/>
                <a:ea typeface="Calibri"/>
                <a:cs typeface="Calibri"/>
                <a:sym typeface="Calibri"/>
              </a:rPr>
              <a:t>La HU en sí misma no es lo suficientemente explícita como para considerarse un contrato, la discusión con los usuarios debe permitir esclarecer su alcance y éste debe dejarse explícito bajo la forma de pruebas de validación.</a:t>
            </a:r>
            <a:endParaRPr/>
          </a:p>
          <a:p>
            <a:pPr marL="447466" marR="0" lvl="0" indent="-371266" algn="just" rtl="0">
              <a:spcBef>
                <a:spcPts val="0"/>
              </a:spcBef>
              <a:spcAft>
                <a:spcPts val="0"/>
              </a:spcAft>
              <a:buClr>
                <a:srgbClr val="C00000"/>
              </a:buClr>
              <a:buSzPts val="1200"/>
              <a:buFont typeface="Noto Sans Symbols"/>
              <a:buNone/>
            </a:pPr>
            <a:endParaRPr sz="12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Valoradas por los clientes o usuarios</a:t>
            </a:r>
            <a:endParaRPr/>
          </a:p>
          <a:p>
            <a:pPr marL="449263" marR="0" lvl="0" indent="0" algn="just" rtl="0">
              <a:spcBef>
                <a:spcPts val="0"/>
              </a:spcBef>
              <a:spcAft>
                <a:spcPts val="0"/>
              </a:spcAft>
              <a:buNone/>
            </a:pPr>
            <a:r>
              <a:rPr lang="es-ES" sz="2200">
                <a:solidFill>
                  <a:schemeClr val="dk1"/>
                </a:solidFill>
                <a:latin typeface="Calibri"/>
                <a:ea typeface="Calibri"/>
                <a:cs typeface="Calibri"/>
                <a:sym typeface="Calibri"/>
              </a:rPr>
              <a:t>Los intereses de los clientes y de los usuarios no siempre coinciden, pero en todo caso, cada historia debe ser importante para alguno de ellos más que para el desarrollador.</a:t>
            </a:r>
            <a:endParaRPr/>
          </a:p>
          <a:p>
            <a:pPr marL="447466" marR="0" lvl="0" indent="-295066" algn="just" rtl="0">
              <a:spcBef>
                <a:spcPts val="0"/>
              </a:spcBef>
              <a:spcAft>
                <a:spcPts val="0"/>
              </a:spcAft>
              <a:buClr>
                <a:srgbClr val="C00000"/>
              </a:buClr>
              <a:buSzPts val="2400"/>
              <a:buFont typeface="Noto Sans Symbols"/>
              <a:buNone/>
            </a:pPr>
            <a:endParaRPr sz="24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87"/>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Características</a:t>
            </a:r>
            <a:endParaRPr sz="4400">
              <a:solidFill>
                <a:schemeClr val="dk1"/>
              </a:solidFill>
              <a:latin typeface="Calibri"/>
              <a:ea typeface="Calibri"/>
              <a:cs typeface="Calibri"/>
              <a:sym typeface="Calibri"/>
            </a:endParaRPr>
          </a:p>
        </p:txBody>
      </p:sp>
      <p:sp>
        <p:nvSpPr>
          <p:cNvPr id="454" name="Google Shape;454;p87"/>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55" name="Google Shape;455;p87"/>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456" name="Google Shape;456;p87"/>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31</a:t>
            </a:fld>
            <a:endParaRPr/>
          </a:p>
        </p:txBody>
      </p:sp>
      <p:sp>
        <p:nvSpPr>
          <p:cNvPr id="457" name="Google Shape;457;p87"/>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Estimables</a:t>
            </a:r>
            <a:endParaRPr/>
          </a:p>
          <a:p>
            <a:pPr marL="449263" marR="0" lvl="0" indent="0" algn="just" rtl="0">
              <a:spcBef>
                <a:spcPts val="0"/>
              </a:spcBef>
              <a:spcAft>
                <a:spcPts val="0"/>
              </a:spcAft>
              <a:buNone/>
            </a:pPr>
            <a:r>
              <a:rPr lang="es-ES" sz="2200">
                <a:solidFill>
                  <a:schemeClr val="dk1"/>
                </a:solidFill>
                <a:latin typeface="Calibri"/>
                <a:ea typeface="Calibri"/>
                <a:cs typeface="Calibri"/>
                <a:sym typeface="Calibri"/>
              </a:rPr>
              <a:t>Un resultado de la discusión de una historia de usuario es la estimación del tiempo que tomará completarla. Esto permite estimar el tiempo total del proyecto.</a:t>
            </a:r>
            <a:endParaRPr/>
          </a:p>
          <a:p>
            <a:pPr marL="447466" marR="0" lvl="0" indent="-371266" algn="just" rtl="0">
              <a:spcBef>
                <a:spcPts val="0"/>
              </a:spcBef>
              <a:spcAft>
                <a:spcPts val="0"/>
              </a:spcAft>
              <a:buClr>
                <a:srgbClr val="C00000"/>
              </a:buClr>
              <a:buSzPts val="1200"/>
              <a:buFont typeface="Noto Sans Symbols"/>
              <a:buNone/>
            </a:pPr>
            <a:endParaRPr sz="12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Pequeñas</a:t>
            </a:r>
            <a:endParaRPr/>
          </a:p>
          <a:p>
            <a:pPr marL="449263" marR="0" lvl="0" indent="0" algn="just" rtl="0">
              <a:spcBef>
                <a:spcPts val="0"/>
              </a:spcBef>
              <a:spcAft>
                <a:spcPts val="0"/>
              </a:spcAft>
              <a:buNone/>
            </a:pPr>
            <a:r>
              <a:rPr lang="es-ES" sz="2200">
                <a:solidFill>
                  <a:schemeClr val="dk1"/>
                </a:solidFill>
                <a:latin typeface="Calibri"/>
                <a:ea typeface="Calibri"/>
                <a:cs typeface="Calibri"/>
                <a:sym typeface="Calibri"/>
              </a:rPr>
              <a:t>Las HU muy largas son difíciles de estimar e imponen restricciones sobre la planificación de un desarrollo iterativo. Generalmente se recomienda la consolidación de historias muy cortas en una sola historia.</a:t>
            </a:r>
            <a:endParaRPr/>
          </a:p>
          <a:p>
            <a:pPr marL="447466" marR="0" lvl="0" indent="-371266" algn="just" rtl="0">
              <a:spcBef>
                <a:spcPts val="0"/>
              </a:spcBef>
              <a:spcAft>
                <a:spcPts val="0"/>
              </a:spcAft>
              <a:buClr>
                <a:srgbClr val="C00000"/>
              </a:buClr>
              <a:buSzPts val="1200"/>
              <a:buFont typeface="Noto Sans Symbols"/>
              <a:buNone/>
            </a:pPr>
            <a:endParaRPr sz="12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Verificables</a:t>
            </a:r>
            <a:endParaRPr/>
          </a:p>
          <a:p>
            <a:pPr marL="449263" marR="0" lvl="0" indent="0" algn="just" rtl="0">
              <a:spcBef>
                <a:spcPts val="0"/>
              </a:spcBef>
              <a:spcAft>
                <a:spcPts val="0"/>
              </a:spcAft>
              <a:buNone/>
            </a:pPr>
            <a:r>
              <a:rPr lang="es-ES" sz="2200">
                <a:solidFill>
                  <a:schemeClr val="dk1"/>
                </a:solidFill>
                <a:latin typeface="Calibri"/>
                <a:ea typeface="Calibri"/>
                <a:cs typeface="Calibri"/>
                <a:sym typeface="Calibri"/>
              </a:rPr>
              <a:t>Las historias de usuario cubren requerimientos funcionales, por lo que generalmente son verificables. Cuando sea posible, la verificación debe automatizarse, de manera que pueda ser verificada en cada entrega del proyecto.</a:t>
            </a:r>
            <a:endParaRPr sz="24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88"/>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200" dirty="0">
                <a:solidFill>
                  <a:schemeClr val="dk1"/>
                </a:solidFill>
                <a:latin typeface="Calibri"/>
                <a:ea typeface="Calibri"/>
                <a:cs typeface="Calibri"/>
                <a:sym typeface="Calibri"/>
              </a:rPr>
              <a:t>Historias de Usuario – Criterios de aceptación</a:t>
            </a:r>
            <a:endParaRPr sz="4200" dirty="0">
              <a:solidFill>
                <a:schemeClr val="dk1"/>
              </a:solidFill>
              <a:latin typeface="Calibri"/>
              <a:ea typeface="Calibri"/>
              <a:cs typeface="Calibri"/>
              <a:sym typeface="Calibri"/>
            </a:endParaRPr>
          </a:p>
        </p:txBody>
      </p:sp>
      <p:sp>
        <p:nvSpPr>
          <p:cNvPr id="464" name="Google Shape;464;p8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65" name="Google Shape;465;p8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466" name="Google Shape;466;p8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32</a:t>
            </a:fld>
            <a:endParaRPr/>
          </a:p>
        </p:txBody>
      </p:sp>
      <p:sp>
        <p:nvSpPr>
          <p:cNvPr id="467" name="Google Shape;467;p88"/>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dirty="0">
                <a:solidFill>
                  <a:schemeClr val="dk1"/>
                </a:solidFill>
                <a:latin typeface="Calibri"/>
                <a:ea typeface="Calibri"/>
                <a:cs typeface="Calibri"/>
                <a:sym typeface="Calibri"/>
              </a:rPr>
              <a:t>Un criterio de aceptación es el criterio por el cual se define si una historia de usuario fue desarrollada según la expectativa del </a:t>
            </a:r>
            <a:r>
              <a:rPr lang="es-ES" sz="2600" dirty="0" err="1">
                <a:solidFill>
                  <a:schemeClr val="dk1"/>
                </a:solidFill>
                <a:latin typeface="Calibri"/>
                <a:ea typeface="Calibri"/>
                <a:cs typeface="Calibri"/>
                <a:sym typeface="Calibri"/>
              </a:rPr>
              <a:t>Product</a:t>
            </a:r>
            <a:r>
              <a:rPr lang="es-ES" sz="2600" dirty="0">
                <a:solidFill>
                  <a:schemeClr val="dk1"/>
                </a:solidFill>
                <a:latin typeface="Calibri"/>
                <a:ea typeface="Calibri"/>
                <a:cs typeface="Calibri"/>
                <a:sym typeface="Calibri"/>
              </a:rPr>
              <a:t> Manager/Owner (como representante de los criterios del cliente) y se si puede dar como hecha.</a:t>
            </a:r>
            <a:endParaRPr dirty="0"/>
          </a:p>
          <a:p>
            <a:pPr marL="447466" marR="0" lvl="0" indent="-358566" algn="just" rtl="0">
              <a:spcBef>
                <a:spcPts val="0"/>
              </a:spcBef>
              <a:spcAft>
                <a:spcPts val="0"/>
              </a:spcAft>
              <a:buClr>
                <a:srgbClr val="C00000"/>
              </a:buClr>
              <a:buSzPts val="1400"/>
              <a:buFont typeface="Noto Sans Symbols"/>
              <a:buNone/>
            </a:pPr>
            <a:endParaRPr sz="1400" dirty="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600"/>
              <a:buFont typeface="Noto Sans Symbols"/>
              <a:buChar char="❖"/>
            </a:pPr>
            <a:r>
              <a:rPr lang="es-ES" sz="2600" dirty="0">
                <a:solidFill>
                  <a:schemeClr val="dk1"/>
                </a:solidFill>
                <a:latin typeface="Calibri"/>
                <a:ea typeface="Calibri"/>
                <a:cs typeface="Calibri"/>
                <a:sym typeface="Calibri"/>
              </a:rPr>
              <a:t>Deben ser definidos durante la etapa inicial antes de la codificación, acompañan a la historia de usuario, porque complementan la historia de usuario y ayudan al equipo de desarrollo a entender mejor cómo se espera que el producto se comporte. </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89"/>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200">
                <a:solidFill>
                  <a:schemeClr val="dk1"/>
                </a:solidFill>
                <a:latin typeface="Calibri"/>
                <a:ea typeface="Calibri"/>
                <a:cs typeface="Calibri"/>
                <a:sym typeface="Calibri"/>
              </a:rPr>
              <a:t>Historias de Usuario – Criterios de aceptación</a:t>
            </a:r>
            <a:endParaRPr sz="4200">
              <a:solidFill>
                <a:schemeClr val="dk1"/>
              </a:solidFill>
              <a:latin typeface="Calibri"/>
              <a:ea typeface="Calibri"/>
              <a:cs typeface="Calibri"/>
              <a:sym typeface="Calibri"/>
            </a:endParaRPr>
          </a:p>
        </p:txBody>
      </p:sp>
      <p:sp>
        <p:nvSpPr>
          <p:cNvPr id="474" name="Google Shape;474;p8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75" name="Google Shape;475;p8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476" name="Google Shape;476;p8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33</a:t>
            </a:fld>
            <a:endParaRPr/>
          </a:p>
        </p:txBody>
      </p:sp>
      <p:sp>
        <p:nvSpPr>
          <p:cNvPr id="477" name="Google Shape;477;p89"/>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Los criterios de aceptación son utilizados para expresar el resultado de las conversaciones del cliente con el desarrollador. El cliente debería ser quien las escriba, más que el desarrollador.</a:t>
            </a:r>
            <a:endParaRPr/>
          </a:p>
          <a:p>
            <a:pPr marL="447466" marR="0" lvl="0" indent="-358566" algn="just" rtl="0">
              <a:spcBef>
                <a:spcPts val="0"/>
              </a:spcBef>
              <a:spcAft>
                <a:spcPts val="0"/>
              </a:spcAft>
              <a:buClr>
                <a:srgbClr val="C00000"/>
              </a:buClr>
              <a:buSzPts val="1400"/>
              <a:buFont typeface="Noto Sans Symbols"/>
              <a:buNone/>
            </a:pPr>
            <a:endParaRPr sz="14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Representan el inicio de la definición del cómo. No están diseñados para ser tan detallados como una especificación de diseño tradicional. </a:t>
            </a:r>
            <a:endParaRPr/>
          </a:p>
          <a:p>
            <a:pPr marL="447466" marR="0" lvl="0" indent="-358566" algn="just" rtl="0">
              <a:spcBef>
                <a:spcPts val="0"/>
              </a:spcBef>
              <a:spcAft>
                <a:spcPts val="0"/>
              </a:spcAft>
              <a:buClr>
                <a:srgbClr val="C00000"/>
              </a:buClr>
              <a:buSzPts val="1400"/>
              <a:buFont typeface="Noto Sans Symbols"/>
              <a:buNone/>
            </a:pPr>
            <a:endParaRPr sz="14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Si una historia de usuario tiene más de 4 criterios de aceptación, debe evaluarse subdividir la historia.</a:t>
            </a:r>
            <a:endParaRPr/>
          </a:p>
          <a:p>
            <a:pPr marL="447466" marR="0" lvl="0" indent="-358566" algn="just" rtl="0">
              <a:spcBef>
                <a:spcPts val="0"/>
              </a:spcBef>
              <a:spcAft>
                <a:spcPts val="0"/>
              </a:spcAft>
              <a:buClr>
                <a:srgbClr val="C00000"/>
              </a:buClr>
              <a:buSzPts val="1400"/>
              <a:buFont typeface="Noto Sans Symbols"/>
              <a:buNone/>
            </a:pPr>
            <a:endParaRPr sz="1400">
              <a:solidFill>
                <a:schemeClr val="dk1"/>
              </a:solidFill>
              <a:latin typeface="Calibri"/>
              <a:ea typeface="Calibri"/>
              <a:cs typeface="Calibri"/>
              <a:sym typeface="Calibri"/>
            </a:endParaRPr>
          </a:p>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Puede añadirse un número de escenario para identificar al criterio, asociado a la historia de usuario en cuestión.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90"/>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Plantilla</a:t>
            </a:r>
            <a:endParaRPr sz="4400">
              <a:solidFill>
                <a:schemeClr val="dk1"/>
              </a:solidFill>
              <a:latin typeface="Calibri"/>
              <a:ea typeface="Calibri"/>
              <a:cs typeface="Calibri"/>
              <a:sym typeface="Calibri"/>
            </a:endParaRPr>
          </a:p>
        </p:txBody>
      </p:sp>
      <p:sp>
        <p:nvSpPr>
          <p:cNvPr id="484" name="Google Shape;484;p90"/>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85" name="Google Shape;485;p90"/>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486" name="Google Shape;486;p90"/>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34</a:t>
            </a:fld>
            <a:endParaRPr/>
          </a:p>
        </p:txBody>
      </p:sp>
      <p:sp>
        <p:nvSpPr>
          <p:cNvPr id="487" name="Google Shape;487;p90"/>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282366" algn="just" rtl="0">
              <a:spcBef>
                <a:spcPts val="0"/>
              </a:spcBef>
              <a:spcAft>
                <a:spcPts val="0"/>
              </a:spcAft>
              <a:buClr>
                <a:srgbClr val="C00000"/>
              </a:buClr>
              <a:buSzPts val="2600"/>
              <a:buFont typeface="Noto Sans Symbols"/>
              <a:buNone/>
            </a:pPr>
            <a:endParaRPr sz="2600">
              <a:solidFill>
                <a:schemeClr val="dk1"/>
              </a:solidFill>
              <a:latin typeface="Calibri"/>
              <a:ea typeface="Calibri"/>
              <a:cs typeface="Calibri"/>
              <a:sym typeface="Calibri"/>
            </a:endParaRPr>
          </a:p>
        </p:txBody>
      </p:sp>
      <p:sp>
        <p:nvSpPr>
          <p:cNvPr id="488" name="Google Shape;488;p90"/>
          <p:cNvSpPr/>
          <p:nvPr/>
        </p:nvSpPr>
        <p:spPr>
          <a:xfrm>
            <a:off x="1722179" y="2169501"/>
            <a:ext cx="8034638" cy="3624562"/>
          </a:xfrm>
          <a:prstGeom prst="snip1Rect">
            <a:avLst>
              <a:gd name="adj" fmla="val 15123"/>
            </a:avLst>
          </a:prstGeom>
          <a:solidFill>
            <a:srgbClr val="FFFF66"/>
          </a:solidFill>
          <a:ln w="25400" cap="flat" cmpd="sng">
            <a:solidFill>
              <a:schemeClr val="lt1"/>
            </a:solidFill>
            <a:prstDash val="solid"/>
            <a:round/>
            <a:headEnd type="none" w="sm" len="sm"/>
            <a:tailEnd type="none" w="sm" len="sm"/>
          </a:ln>
          <a:effectLst>
            <a:outerShdw blurRad="38100" dist="25400" dir="5400000"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Gill Sans"/>
              <a:ea typeface="Gill Sans"/>
              <a:cs typeface="Gill Sans"/>
              <a:sym typeface="Gill Sans"/>
            </a:endParaRPr>
          </a:p>
        </p:txBody>
      </p:sp>
      <p:sp>
        <p:nvSpPr>
          <p:cNvPr id="489" name="Google Shape;489;p90"/>
          <p:cNvSpPr txBox="1"/>
          <p:nvPr/>
        </p:nvSpPr>
        <p:spPr>
          <a:xfrm>
            <a:off x="1950020" y="2689620"/>
            <a:ext cx="7506882" cy="3104446"/>
          </a:xfrm>
          <a:prstGeom prst="rect">
            <a:avLst/>
          </a:prstGeom>
          <a:noFill/>
          <a:ln>
            <a:noFill/>
          </a:ln>
        </p:spPr>
        <p:txBody>
          <a:bodyPr spcFirstLastPara="1" wrap="square" lIns="91425" tIns="45700" rIns="91425" bIns="45700" anchor="t" anchorCtr="0">
            <a:normAutofit lnSpcReduction="10000"/>
          </a:bodyPr>
          <a:lstStyle/>
          <a:p>
            <a:pPr marL="342900" marR="0" lvl="0" indent="-342900" algn="l" rtl="0">
              <a:lnSpc>
                <a:spcPct val="100000"/>
              </a:lnSpc>
              <a:spcBef>
                <a:spcPts val="0"/>
              </a:spcBef>
              <a:spcAft>
                <a:spcPts val="0"/>
              </a:spcAft>
              <a:buClr>
                <a:schemeClr val="accent1"/>
              </a:buClr>
              <a:buSzPts val="1824"/>
              <a:buFont typeface="Arial"/>
              <a:buChar char="•"/>
            </a:pPr>
            <a:r>
              <a:rPr lang="es-ES" sz="2400" b="1" i="0" u="none" strike="noStrike" cap="none">
                <a:solidFill>
                  <a:schemeClr val="dk1"/>
                </a:solidFill>
                <a:latin typeface="Calibri"/>
                <a:ea typeface="Calibri"/>
                <a:cs typeface="Calibri"/>
                <a:sym typeface="Calibri"/>
              </a:rPr>
              <a:t>ID</a:t>
            </a:r>
            <a:r>
              <a:rPr lang="es-ES" sz="2400" b="0" i="0" u="none" strike="noStrike" cap="none">
                <a:solidFill>
                  <a:schemeClr val="dk1"/>
                </a:solidFill>
                <a:latin typeface="Calibri"/>
                <a:ea typeface="Calibri"/>
                <a:cs typeface="Calibri"/>
                <a:sym typeface="Calibri"/>
              </a:rPr>
              <a:t>: Identificador unívoco de la historia expresado como texto generalmente de la forma &lt;verbo&gt; &lt;sustantivo&gt;</a:t>
            </a:r>
            <a:endParaRPr sz="2000" b="0" i="0" u="none" strike="noStrike" cap="none">
              <a:solidFill>
                <a:schemeClr val="dk1"/>
              </a:solidFill>
              <a:latin typeface="Calibri"/>
              <a:ea typeface="Calibri"/>
              <a:cs typeface="Calibri"/>
              <a:sym typeface="Calibri"/>
            </a:endParaRPr>
          </a:p>
          <a:p>
            <a:pPr marL="342900" marR="0" lvl="0" indent="-227076" algn="l" rtl="0">
              <a:lnSpc>
                <a:spcPct val="100000"/>
              </a:lnSpc>
              <a:spcBef>
                <a:spcPts val="600"/>
              </a:spcBef>
              <a:spcAft>
                <a:spcPts val="0"/>
              </a:spcAft>
              <a:buClr>
                <a:schemeClr val="accent1"/>
              </a:buClr>
              <a:buSzPts val="1824"/>
              <a:buFont typeface="Arial"/>
              <a:buNone/>
            </a:pPr>
            <a:endParaRPr sz="2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00"/>
              </a:spcBef>
              <a:spcAft>
                <a:spcPts val="0"/>
              </a:spcAft>
              <a:buClr>
                <a:schemeClr val="accent1"/>
              </a:buClr>
              <a:buSzPts val="1824"/>
              <a:buFont typeface="Arial"/>
              <a:buChar char="•"/>
            </a:pPr>
            <a:r>
              <a:rPr lang="es-ES" sz="2400" b="1" i="0" u="none" strike="noStrike" cap="none">
                <a:solidFill>
                  <a:schemeClr val="dk1"/>
                </a:solidFill>
                <a:latin typeface="Calibri"/>
                <a:ea typeface="Calibri"/>
                <a:cs typeface="Calibri"/>
                <a:sym typeface="Calibri"/>
              </a:rPr>
              <a:t>TÍTULO</a:t>
            </a:r>
            <a:r>
              <a:rPr lang="es-ES" sz="2400" b="0" i="0" u="none" strike="noStrike" cap="none">
                <a:solidFill>
                  <a:schemeClr val="dk1"/>
                </a:solidFill>
                <a:latin typeface="Calibri"/>
                <a:ea typeface="Calibri"/>
                <a:cs typeface="Calibri"/>
                <a:sym typeface="Calibri"/>
              </a:rPr>
              <a:t>:  Descripción de la historia de la forma:  </a:t>
            </a:r>
            <a:r>
              <a:rPr lang="es-ES" sz="2400" b="1" i="0" u="none" strike="noStrike" cap="none">
                <a:solidFill>
                  <a:schemeClr val="dk1"/>
                </a:solidFill>
                <a:latin typeface="Calibri"/>
                <a:ea typeface="Calibri"/>
                <a:cs typeface="Calibri"/>
                <a:sym typeface="Calibri"/>
              </a:rPr>
              <a:t>Como</a:t>
            </a:r>
            <a:r>
              <a:rPr lang="es-ES" sz="2400" b="0" i="0" u="none" strike="noStrike" cap="none">
                <a:solidFill>
                  <a:schemeClr val="dk1"/>
                </a:solidFill>
                <a:latin typeface="Calibri"/>
                <a:ea typeface="Calibri"/>
                <a:cs typeface="Calibri"/>
                <a:sym typeface="Calibri"/>
              </a:rPr>
              <a:t> &lt;rol&gt; </a:t>
            </a:r>
            <a:r>
              <a:rPr lang="es-ES" sz="2400" b="1" i="0" u="none" strike="noStrike" cap="none">
                <a:solidFill>
                  <a:schemeClr val="dk1"/>
                </a:solidFill>
                <a:latin typeface="Calibri"/>
                <a:ea typeface="Calibri"/>
                <a:cs typeface="Calibri"/>
                <a:sym typeface="Calibri"/>
              </a:rPr>
              <a:t>quiero</a:t>
            </a:r>
            <a:r>
              <a:rPr lang="es-ES" sz="2400" b="0" i="0" u="none" strike="noStrike" cap="none">
                <a:solidFill>
                  <a:schemeClr val="dk1"/>
                </a:solidFill>
                <a:latin typeface="Calibri"/>
                <a:ea typeface="Calibri"/>
                <a:cs typeface="Calibri"/>
                <a:sym typeface="Calibri"/>
              </a:rPr>
              <a:t> &lt;algo&gt; </a:t>
            </a:r>
            <a:r>
              <a:rPr lang="es-ES" sz="2400" b="1" i="0" u="none" strike="noStrike" cap="none">
                <a:solidFill>
                  <a:schemeClr val="dk1"/>
                </a:solidFill>
                <a:latin typeface="Calibri"/>
                <a:ea typeface="Calibri"/>
                <a:cs typeface="Calibri"/>
                <a:sym typeface="Calibri"/>
              </a:rPr>
              <a:t>para </a:t>
            </a:r>
            <a:r>
              <a:rPr lang="es-ES" sz="2400" b="0" i="0" u="none" strike="noStrike" cap="none">
                <a:solidFill>
                  <a:schemeClr val="dk1"/>
                </a:solidFill>
                <a:latin typeface="Calibri"/>
                <a:ea typeface="Calibri"/>
                <a:cs typeface="Calibri"/>
                <a:sym typeface="Calibri"/>
              </a:rPr>
              <a:t>&lt;beneficio&gt;. </a:t>
            </a:r>
            <a:endParaRPr sz="2000" b="0" i="0" u="none" strike="noStrike" cap="none">
              <a:solidFill>
                <a:schemeClr val="dk1"/>
              </a:solidFill>
              <a:latin typeface="Calibri"/>
              <a:ea typeface="Calibri"/>
              <a:cs typeface="Calibri"/>
              <a:sym typeface="Calibri"/>
            </a:endParaRPr>
          </a:p>
          <a:p>
            <a:pPr marL="342900" marR="0" lvl="0" indent="-227076" algn="l" rtl="0">
              <a:lnSpc>
                <a:spcPct val="100000"/>
              </a:lnSpc>
              <a:spcBef>
                <a:spcPts val="600"/>
              </a:spcBef>
              <a:spcAft>
                <a:spcPts val="0"/>
              </a:spcAft>
              <a:buClr>
                <a:schemeClr val="accent1"/>
              </a:buClr>
              <a:buSzPts val="1824"/>
              <a:buFont typeface="Arial"/>
              <a:buNone/>
            </a:pPr>
            <a:endParaRPr sz="24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00"/>
              </a:spcBef>
              <a:spcAft>
                <a:spcPts val="0"/>
              </a:spcAft>
              <a:buClr>
                <a:schemeClr val="accent1"/>
              </a:buClr>
              <a:buSzPts val="1824"/>
              <a:buFont typeface="Arial"/>
              <a:buChar char="•"/>
            </a:pPr>
            <a:r>
              <a:rPr lang="es-ES" sz="2400" b="1" i="0" u="none" strike="noStrike" cap="none">
                <a:solidFill>
                  <a:schemeClr val="dk1"/>
                </a:solidFill>
                <a:latin typeface="Calibri"/>
                <a:ea typeface="Calibri"/>
                <a:cs typeface="Calibri"/>
                <a:sym typeface="Calibri"/>
              </a:rPr>
              <a:t>REGLAS DE NEGOCIO</a:t>
            </a:r>
            <a:r>
              <a:rPr lang="es-ES" sz="2400" b="0" i="0" u="none" strike="noStrike" cap="none">
                <a:solidFill>
                  <a:schemeClr val="dk1"/>
                </a:solidFill>
                <a:latin typeface="Calibri"/>
                <a:ea typeface="Calibri"/>
                <a:cs typeface="Calibri"/>
                <a:sym typeface="Calibri"/>
              </a:rPr>
              <a:t>: Conjunto de reglas, normas, políticas, etc. que condicionan el modo de operación. </a:t>
            </a:r>
            <a:endParaRPr sz="2000" b="0" i="0" u="none" strike="noStrike" cap="none">
              <a:solidFill>
                <a:schemeClr val="dk1"/>
              </a:solidFill>
              <a:latin typeface="Calibri"/>
              <a:ea typeface="Calibri"/>
              <a:cs typeface="Calibri"/>
              <a:sym typeface="Calibri"/>
            </a:endParaRPr>
          </a:p>
          <a:p>
            <a:pPr marL="594372" marR="0" lvl="2" indent="0" algn="l" rtl="0">
              <a:lnSpc>
                <a:spcPct val="100000"/>
              </a:lnSpc>
              <a:spcBef>
                <a:spcPts val="500"/>
              </a:spcBef>
              <a:spcAft>
                <a:spcPts val="0"/>
              </a:spcAft>
              <a:buClr>
                <a:schemeClr val="accent1"/>
              </a:buClr>
              <a:buSzPts val="1824"/>
              <a:buFont typeface="Calibri"/>
              <a:buNone/>
            </a:pPr>
            <a:endParaRPr sz="2400" b="0" i="0" u="none" strike="noStrike" cap="none">
              <a:solidFill>
                <a:schemeClr val="dk1"/>
              </a:solidFill>
              <a:latin typeface="Calibri"/>
              <a:ea typeface="Calibri"/>
              <a:cs typeface="Calibri"/>
              <a:sym typeface="Calibri"/>
            </a:endParaRPr>
          </a:p>
          <a:p>
            <a:pPr marL="274325" marR="0" lvl="0" indent="-139196" algn="l" rtl="0">
              <a:lnSpc>
                <a:spcPct val="100000"/>
              </a:lnSpc>
              <a:spcBef>
                <a:spcPts val="600"/>
              </a:spcBef>
              <a:spcAft>
                <a:spcPts val="0"/>
              </a:spcAft>
              <a:buClr>
                <a:schemeClr val="accent1"/>
              </a:buClr>
              <a:buSzPts val="2128"/>
              <a:buFont typeface="Calibri"/>
              <a:buNone/>
            </a:pPr>
            <a:endParaRPr sz="2000" b="0" i="0" u="none" strike="noStrike" cap="none">
              <a:solidFill>
                <a:schemeClr val="dk1"/>
              </a:solidFill>
              <a:latin typeface="Calibri"/>
              <a:ea typeface="Calibri"/>
              <a:cs typeface="Calibri"/>
              <a:sym typeface="Calibri"/>
            </a:endParaRPr>
          </a:p>
          <a:p>
            <a:pPr marL="548651" marR="0" lvl="1" indent="-158501" algn="l" rtl="0">
              <a:lnSpc>
                <a:spcPct val="100000"/>
              </a:lnSpc>
              <a:spcBef>
                <a:spcPts val="500"/>
              </a:spcBef>
              <a:spcAft>
                <a:spcPts val="0"/>
              </a:spcAft>
              <a:buClr>
                <a:schemeClr val="accent1"/>
              </a:buClr>
              <a:buSzPts val="1824"/>
              <a:buFont typeface="Calibri"/>
              <a:buNone/>
            </a:pPr>
            <a:endParaRPr sz="1800" b="0" i="0" u="none" strike="noStrike" cap="none">
              <a:solidFill>
                <a:schemeClr val="dk1"/>
              </a:solidFill>
              <a:latin typeface="Calibri"/>
              <a:ea typeface="Calibri"/>
              <a:cs typeface="Calibri"/>
              <a:sym typeface="Calibri"/>
            </a:endParaRPr>
          </a:p>
        </p:txBody>
      </p:sp>
      <p:sp>
        <p:nvSpPr>
          <p:cNvPr id="490" name="Google Shape;490;p90"/>
          <p:cNvSpPr txBox="1"/>
          <p:nvPr/>
        </p:nvSpPr>
        <p:spPr>
          <a:xfrm>
            <a:off x="1722179" y="2096392"/>
            <a:ext cx="8179060" cy="4040244"/>
          </a:xfrm>
          <a:prstGeom prst="rect">
            <a:avLst/>
          </a:prstGeom>
          <a:solidFill>
            <a:srgbClr val="A5A1A1"/>
          </a:solidFill>
          <a:ln>
            <a:noFill/>
          </a:ln>
        </p:spPr>
        <p:txBody>
          <a:bodyPr spcFirstLastPara="1" wrap="square" lIns="91425" tIns="45700" rIns="91425" bIns="45700" anchor="t" anchorCtr="0">
            <a:noAutofit/>
          </a:bodyPr>
          <a:lstStyle/>
          <a:p>
            <a:pPr marL="0" marR="0" lvl="0" indent="0" algn="l" rtl="0">
              <a:lnSpc>
                <a:spcPct val="80000"/>
              </a:lnSpc>
              <a:spcBef>
                <a:spcPts val="0"/>
              </a:spcBef>
              <a:spcAft>
                <a:spcPts val="0"/>
              </a:spcAft>
              <a:buClr>
                <a:srgbClr val="727CA3"/>
              </a:buClr>
              <a:buSzPts val="904"/>
              <a:buFont typeface="Noto Sans Symbols"/>
              <a:buNone/>
            </a:pPr>
            <a:endParaRPr sz="1050" b="0" i="0" u="none" strike="noStrike" cap="none">
              <a:solidFill>
                <a:schemeClr val="dk1"/>
              </a:solidFill>
              <a:latin typeface="Calibri"/>
              <a:ea typeface="Calibri"/>
              <a:cs typeface="Calibri"/>
              <a:sym typeface="Calibri"/>
            </a:endParaRPr>
          </a:p>
          <a:p>
            <a:pPr marL="342900" marR="0" lvl="0" indent="-342900" algn="l" rtl="0">
              <a:lnSpc>
                <a:spcPct val="80000"/>
              </a:lnSpc>
              <a:spcBef>
                <a:spcPts val="600"/>
              </a:spcBef>
              <a:spcAft>
                <a:spcPts val="0"/>
              </a:spcAft>
              <a:buClr>
                <a:srgbClr val="727CA3"/>
              </a:buClr>
              <a:buSzPts val="1809"/>
              <a:buFont typeface="Arial"/>
              <a:buChar char="•"/>
            </a:pPr>
            <a:r>
              <a:rPr lang="es-ES" sz="1800" b="1" i="0" u="none" strike="noStrike" cap="none">
                <a:solidFill>
                  <a:schemeClr val="dk1"/>
                </a:solidFill>
                <a:latin typeface="Calibri"/>
                <a:ea typeface="Calibri"/>
                <a:cs typeface="Calibri"/>
                <a:sym typeface="Calibri"/>
              </a:rPr>
              <a:t>CRITERIOS DE ACEPTACIÓN</a:t>
            </a:r>
            <a:r>
              <a:rPr lang="es-ES" sz="1800" b="0" i="0" u="none" strike="noStrike" cap="none">
                <a:solidFill>
                  <a:schemeClr val="dk1"/>
                </a:solidFill>
                <a:latin typeface="Calibri"/>
                <a:ea typeface="Calibri"/>
                <a:cs typeface="Calibri"/>
                <a:sym typeface="Calibri"/>
              </a:rPr>
              <a:t>: </a:t>
            </a:r>
            <a:endParaRPr sz="2000" b="0" i="0" u="none" strike="noStrike" cap="none">
              <a:solidFill>
                <a:schemeClr val="dk1"/>
              </a:solidFill>
              <a:latin typeface="Calibri"/>
              <a:ea typeface="Calibri"/>
              <a:cs typeface="Calibri"/>
              <a:sym typeface="Calibri"/>
            </a:endParaRPr>
          </a:p>
          <a:p>
            <a:pPr marL="617226" marR="0" lvl="1" indent="-342900" algn="l" rtl="0">
              <a:lnSpc>
                <a:spcPct val="80000"/>
              </a:lnSpc>
              <a:spcBef>
                <a:spcPts val="500"/>
              </a:spcBef>
              <a:spcAft>
                <a:spcPts val="0"/>
              </a:spcAft>
              <a:buClr>
                <a:srgbClr val="9FB8CD"/>
              </a:buClr>
              <a:buSzPts val="1550"/>
              <a:buFont typeface="Arial"/>
              <a:buChar char="•"/>
            </a:pPr>
            <a:r>
              <a:rPr lang="es-ES" sz="1800" b="1" i="0" u="none" strike="noStrike" cap="none">
                <a:solidFill>
                  <a:schemeClr val="dk1"/>
                </a:solidFill>
                <a:latin typeface="Calibri"/>
                <a:ea typeface="Calibri"/>
                <a:cs typeface="Calibri"/>
                <a:sym typeface="Calibri"/>
              </a:rPr>
              <a:t>Escenario</a:t>
            </a:r>
            <a:r>
              <a:rPr lang="es-ES" sz="1800" b="0" i="0" u="none" strike="noStrike" cap="none">
                <a:solidFill>
                  <a:schemeClr val="dk1"/>
                </a:solidFill>
                <a:latin typeface="Calibri"/>
                <a:ea typeface="Calibri"/>
                <a:cs typeface="Calibri"/>
                <a:sym typeface="Calibri"/>
              </a:rPr>
              <a:t> 1: título del criterio.</a:t>
            </a:r>
            <a:endParaRPr sz="1800" b="0" i="0" u="none" strike="noStrike" cap="none">
              <a:solidFill>
                <a:schemeClr val="dk1"/>
              </a:solidFill>
              <a:latin typeface="Calibri"/>
              <a:ea typeface="Calibri"/>
              <a:cs typeface="Calibri"/>
              <a:sym typeface="Calibri"/>
            </a:endParaRPr>
          </a:p>
          <a:p>
            <a:pPr marL="868696" marR="0" lvl="3" indent="0" algn="l" rtl="0">
              <a:lnSpc>
                <a:spcPct val="80000"/>
              </a:lnSpc>
              <a:spcBef>
                <a:spcPts val="400"/>
              </a:spcBef>
              <a:spcAft>
                <a:spcPts val="0"/>
              </a:spcAft>
              <a:buClr>
                <a:srgbClr val="8BA1B3"/>
              </a:buClr>
              <a:buSzPts val="1428"/>
              <a:buFont typeface="Noto Sans Symbols"/>
              <a:buNone/>
            </a:pPr>
            <a:r>
              <a:rPr lang="es-ES" sz="1800" b="0" i="0" u="none" strike="noStrike" cap="none">
                <a:solidFill>
                  <a:schemeClr val="dk1"/>
                </a:solidFill>
                <a:latin typeface="Calibri"/>
                <a:ea typeface="Calibri"/>
                <a:cs typeface="Calibri"/>
                <a:sym typeface="Calibri"/>
              </a:rPr>
              <a:t>Dado &lt;un contexto inicial&gt;,</a:t>
            </a:r>
            <a:br>
              <a:rPr lang="es-ES" sz="1800" b="0" i="0" u="none" strike="noStrike" cap="none">
                <a:solidFill>
                  <a:schemeClr val="dk1"/>
                </a:solidFill>
                <a:latin typeface="Calibri"/>
                <a:ea typeface="Calibri"/>
                <a:cs typeface="Calibri"/>
                <a:sym typeface="Calibri"/>
              </a:rPr>
            </a:br>
            <a:r>
              <a:rPr lang="es-ES" sz="1800" b="0" i="0" u="none" strike="noStrike" cap="none">
                <a:solidFill>
                  <a:schemeClr val="dk1"/>
                </a:solidFill>
                <a:latin typeface="Calibri"/>
                <a:ea typeface="Calibri"/>
                <a:cs typeface="Calibri"/>
                <a:sym typeface="Calibri"/>
              </a:rPr>
              <a:t>Cuando &lt;ocurre un evento&gt;,</a:t>
            </a:r>
            <a:br>
              <a:rPr lang="es-ES" sz="1800" b="0" i="0" u="none" strike="noStrike" cap="none">
                <a:solidFill>
                  <a:schemeClr val="dk1"/>
                </a:solidFill>
                <a:latin typeface="Calibri"/>
                <a:ea typeface="Calibri"/>
                <a:cs typeface="Calibri"/>
                <a:sym typeface="Calibri"/>
              </a:rPr>
            </a:br>
            <a:r>
              <a:rPr lang="es-ES" sz="1800" b="0" i="0" u="none" strike="noStrike" cap="none">
                <a:solidFill>
                  <a:schemeClr val="dk1"/>
                </a:solidFill>
                <a:latin typeface="Calibri"/>
                <a:ea typeface="Calibri"/>
                <a:cs typeface="Calibri"/>
                <a:sym typeface="Calibri"/>
              </a:rPr>
              <a:t>Entonces &lt;garantiza uno o más resultados&gt;</a:t>
            </a:r>
            <a:endParaRPr sz="1400" b="0" i="0" u="none" strike="noStrike" cap="none">
              <a:solidFill>
                <a:schemeClr val="dk1"/>
              </a:solidFill>
              <a:latin typeface="Calibri"/>
              <a:ea typeface="Calibri"/>
              <a:cs typeface="Calibri"/>
              <a:sym typeface="Calibri"/>
            </a:endParaRPr>
          </a:p>
          <a:p>
            <a:pPr marL="765822" marR="0" lvl="2" indent="-146812" algn="l" rtl="0">
              <a:lnSpc>
                <a:spcPct val="80000"/>
              </a:lnSpc>
              <a:spcBef>
                <a:spcPts val="500"/>
              </a:spcBef>
              <a:spcAft>
                <a:spcPts val="0"/>
              </a:spcAft>
              <a:buClr>
                <a:srgbClr val="BABABA"/>
              </a:buClr>
              <a:buSzPts val="388"/>
              <a:buFont typeface="Arial"/>
              <a:buNone/>
            </a:pPr>
            <a:endParaRPr sz="300" b="0" i="0" u="none" strike="noStrike" cap="none">
              <a:solidFill>
                <a:schemeClr val="dk1"/>
              </a:solidFill>
              <a:latin typeface="Calibri"/>
              <a:ea typeface="Calibri"/>
              <a:cs typeface="Calibri"/>
              <a:sym typeface="Calibri"/>
            </a:endParaRPr>
          </a:p>
          <a:p>
            <a:pPr marL="617226" marR="0" lvl="1" indent="-342900" algn="l" rtl="0">
              <a:lnSpc>
                <a:spcPct val="80000"/>
              </a:lnSpc>
              <a:spcBef>
                <a:spcPts val="500"/>
              </a:spcBef>
              <a:spcAft>
                <a:spcPts val="0"/>
              </a:spcAft>
              <a:buClr>
                <a:srgbClr val="9FB8CD"/>
              </a:buClr>
              <a:buSzPts val="1550"/>
              <a:buFont typeface="Arial"/>
              <a:buChar char="•"/>
            </a:pPr>
            <a:r>
              <a:rPr lang="es-ES" sz="1800" b="1" i="0" u="none" strike="noStrike" cap="none">
                <a:solidFill>
                  <a:schemeClr val="dk1"/>
                </a:solidFill>
                <a:latin typeface="Calibri"/>
                <a:ea typeface="Calibri"/>
                <a:cs typeface="Calibri"/>
                <a:sym typeface="Calibri"/>
              </a:rPr>
              <a:t>Escenario</a:t>
            </a:r>
            <a:r>
              <a:rPr lang="es-ES" sz="1800" b="0" i="0" u="none" strike="noStrike" cap="none">
                <a:solidFill>
                  <a:schemeClr val="dk1"/>
                </a:solidFill>
                <a:latin typeface="Calibri"/>
                <a:ea typeface="Calibri"/>
                <a:cs typeface="Calibri"/>
                <a:sym typeface="Calibri"/>
              </a:rPr>
              <a:t> 2: título del criterio.</a:t>
            </a:r>
            <a:endParaRPr sz="1800" b="0" i="0" u="none" strike="noStrike" cap="none">
              <a:solidFill>
                <a:schemeClr val="dk1"/>
              </a:solidFill>
              <a:latin typeface="Calibri"/>
              <a:ea typeface="Calibri"/>
              <a:cs typeface="Calibri"/>
              <a:sym typeface="Calibri"/>
            </a:endParaRPr>
          </a:p>
          <a:p>
            <a:pPr marL="868696" marR="0" lvl="3" indent="0" algn="l" rtl="0">
              <a:lnSpc>
                <a:spcPct val="80000"/>
              </a:lnSpc>
              <a:spcBef>
                <a:spcPts val="400"/>
              </a:spcBef>
              <a:spcAft>
                <a:spcPts val="0"/>
              </a:spcAft>
              <a:buClr>
                <a:srgbClr val="8BA1B3"/>
              </a:buClr>
              <a:buSzPts val="1428"/>
              <a:buFont typeface="Noto Sans Symbols"/>
              <a:buNone/>
            </a:pPr>
            <a:r>
              <a:rPr lang="es-ES" sz="1800" b="0" i="0" u="none" strike="noStrike" cap="none">
                <a:solidFill>
                  <a:schemeClr val="dk1"/>
                </a:solidFill>
                <a:latin typeface="Calibri"/>
                <a:ea typeface="Calibri"/>
                <a:cs typeface="Calibri"/>
                <a:sym typeface="Calibri"/>
              </a:rPr>
              <a:t>Dado &lt;un contexto inicial&gt;,</a:t>
            </a:r>
            <a:br>
              <a:rPr lang="es-ES" sz="1800" b="0" i="0" u="none" strike="noStrike" cap="none">
                <a:solidFill>
                  <a:schemeClr val="dk1"/>
                </a:solidFill>
                <a:latin typeface="Calibri"/>
                <a:ea typeface="Calibri"/>
                <a:cs typeface="Calibri"/>
                <a:sym typeface="Calibri"/>
              </a:rPr>
            </a:br>
            <a:r>
              <a:rPr lang="es-ES" sz="1800" b="0" i="0" u="none" strike="noStrike" cap="none">
                <a:solidFill>
                  <a:schemeClr val="dk1"/>
                </a:solidFill>
                <a:latin typeface="Calibri"/>
                <a:ea typeface="Calibri"/>
                <a:cs typeface="Calibri"/>
                <a:sym typeface="Calibri"/>
              </a:rPr>
              <a:t>Cuando &lt;ocurre un evento&gt;,</a:t>
            </a:r>
            <a:br>
              <a:rPr lang="es-ES" sz="1800" b="0" i="0" u="none" strike="noStrike" cap="none">
                <a:solidFill>
                  <a:schemeClr val="dk1"/>
                </a:solidFill>
                <a:latin typeface="Calibri"/>
                <a:ea typeface="Calibri"/>
                <a:cs typeface="Calibri"/>
                <a:sym typeface="Calibri"/>
              </a:rPr>
            </a:br>
            <a:r>
              <a:rPr lang="es-ES" sz="1800" b="0" i="0" u="none" strike="noStrike" cap="none">
                <a:solidFill>
                  <a:schemeClr val="dk1"/>
                </a:solidFill>
                <a:latin typeface="Calibri"/>
                <a:ea typeface="Calibri"/>
                <a:cs typeface="Calibri"/>
                <a:sym typeface="Calibri"/>
              </a:rPr>
              <a:t>Entonces &lt;garantiza uno o más resultados&gt;</a:t>
            </a:r>
            <a:endParaRPr sz="1400" b="0" i="0" u="none" strike="noStrike" cap="none">
              <a:solidFill>
                <a:schemeClr val="dk1"/>
              </a:solidFill>
              <a:latin typeface="Calibri"/>
              <a:ea typeface="Calibri"/>
              <a:cs typeface="Calibri"/>
              <a:sym typeface="Calibri"/>
            </a:endParaRPr>
          </a:p>
          <a:p>
            <a:pPr marL="622300" marR="0" lvl="1" indent="-342900" algn="l" rtl="0">
              <a:lnSpc>
                <a:spcPct val="80000"/>
              </a:lnSpc>
              <a:spcBef>
                <a:spcPts val="500"/>
              </a:spcBef>
              <a:spcAft>
                <a:spcPts val="0"/>
              </a:spcAft>
              <a:buClr>
                <a:srgbClr val="9FB8CD"/>
              </a:buClr>
              <a:buSzPts val="1485"/>
              <a:buFont typeface="Arial"/>
              <a:buChar char="•"/>
            </a:pPr>
            <a:r>
              <a:rPr lang="es-ES"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a:p>
            <a:pPr marL="617226" marR="0" lvl="1" indent="-342900" algn="l" rtl="0">
              <a:lnSpc>
                <a:spcPct val="80000"/>
              </a:lnSpc>
              <a:spcBef>
                <a:spcPts val="500"/>
              </a:spcBef>
              <a:spcAft>
                <a:spcPts val="0"/>
              </a:spcAft>
              <a:buClr>
                <a:srgbClr val="9FB8CD"/>
              </a:buClr>
              <a:buSzPts val="1550"/>
              <a:buFont typeface="Arial"/>
              <a:buChar char="•"/>
            </a:pPr>
            <a:r>
              <a:rPr lang="es-ES" sz="1800" b="1" i="0" u="none" strike="noStrike" cap="none">
                <a:solidFill>
                  <a:schemeClr val="dk1"/>
                </a:solidFill>
                <a:latin typeface="Calibri"/>
                <a:ea typeface="Calibri"/>
                <a:cs typeface="Calibri"/>
                <a:sym typeface="Calibri"/>
              </a:rPr>
              <a:t>Escenario</a:t>
            </a:r>
            <a:r>
              <a:rPr lang="es-ES" sz="1800" b="0" i="0" u="none" strike="noStrike" cap="none">
                <a:solidFill>
                  <a:schemeClr val="dk1"/>
                </a:solidFill>
                <a:latin typeface="Calibri"/>
                <a:ea typeface="Calibri"/>
                <a:cs typeface="Calibri"/>
                <a:sym typeface="Calibri"/>
              </a:rPr>
              <a:t> N: título del criterio.</a:t>
            </a:r>
            <a:endParaRPr sz="1800" b="0" i="0" u="none" strike="noStrike" cap="none">
              <a:solidFill>
                <a:schemeClr val="dk1"/>
              </a:solidFill>
              <a:latin typeface="Calibri"/>
              <a:ea typeface="Calibri"/>
              <a:cs typeface="Calibri"/>
              <a:sym typeface="Calibri"/>
            </a:endParaRPr>
          </a:p>
          <a:p>
            <a:pPr marL="868696" marR="0" lvl="3" indent="0" algn="l" rtl="0">
              <a:lnSpc>
                <a:spcPct val="80000"/>
              </a:lnSpc>
              <a:spcBef>
                <a:spcPts val="400"/>
              </a:spcBef>
              <a:spcAft>
                <a:spcPts val="0"/>
              </a:spcAft>
              <a:buClr>
                <a:srgbClr val="8BA1B3"/>
              </a:buClr>
              <a:buSzPts val="1428"/>
              <a:buFont typeface="Noto Sans Symbols"/>
              <a:buNone/>
            </a:pPr>
            <a:r>
              <a:rPr lang="es-ES" sz="1800" b="0" i="0" u="none" strike="noStrike" cap="none">
                <a:solidFill>
                  <a:schemeClr val="dk1"/>
                </a:solidFill>
                <a:latin typeface="Calibri"/>
                <a:ea typeface="Calibri"/>
                <a:cs typeface="Calibri"/>
                <a:sym typeface="Calibri"/>
              </a:rPr>
              <a:t>Dado &lt;un contexto inicial&gt;,</a:t>
            </a:r>
            <a:br>
              <a:rPr lang="es-ES" sz="1800" b="0" i="0" u="none" strike="noStrike" cap="none">
                <a:solidFill>
                  <a:schemeClr val="dk1"/>
                </a:solidFill>
                <a:latin typeface="Calibri"/>
                <a:ea typeface="Calibri"/>
                <a:cs typeface="Calibri"/>
                <a:sym typeface="Calibri"/>
              </a:rPr>
            </a:br>
            <a:r>
              <a:rPr lang="es-ES" sz="1800" b="0" i="0" u="none" strike="noStrike" cap="none">
                <a:solidFill>
                  <a:schemeClr val="dk1"/>
                </a:solidFill>
                <a:latin typeface="Calibri"/>
                <a:ea typeface="Calibri"/>
                <a:cs typeface="Calibri"/>
                <a:sym typeface="Calibri"/>
              </a:rPr>
              <a:t>Cuando &lt;ocurre un evento&gt;,</a:t>
            </a:r>
            <a:br>
              <a:rPr lang="es-ES" sz="1800" b="0" i="0" u="none" strike="noStrike" cap="none">
                <a:solidFill>
                  <a:schemeClr val="dk1"/>
                </a:solidFill>
                <a:latin typeface="Calibri"/>
                <a:ea typeface="Calibri"/>
                <a:cs typeface="Calibri"/>
                <a:sym typeface="Calibri"/>
              </a:rPr>
            </a:br>
            <a:r>
              <a:rPr lang="es-ES" sz="1800" b="0" i="0" u="none" strike="noStrike" cap="none">
                <a:solidFill>
                  <a:schemeClr val="dk1"/>
                </a:solidFill>
                <a:latin typeface="Calibri"/>
                <a:ea typeface="Calibri"/>
                <a:cs typeface="Calibri"/>
                <a:sym typeface="Calibri"/>
              </a:rPr>
              <a:t>Entonces &lt;garantiza uno o más resultados&gt;</a:t>
            </a:r>
            <a:endParaRPr sz="1400" b="0" i="0" u="none" strike="noStrike" cap="none">
              <a:solidFill>
                <a:schemeClr val="dk1"/>
              </a:solidFill>
              <a:latin typeface="Calibri"/>
              <a:ea typeface="Calibri"/>
              <a:cs typeface="Calibri"/>
              <a:sym typeface="Calibri"/>
            </a:endParaRPr>
          </a:p>
        </p:txBody>
      </p:sp>
      <p:sp>
        <p:nvSpPr>
          <p:cNvPr id="491" name="Google Shape;491;p90"/>
          <p:cNvSpPr/>
          <p:nvPr/>
        </p:nvSpPr>
        <p:spPr>
          <a:xfrm>
            <a:off x="7973802" y="2206838"/>
            <a:ext cx="1855225" cy="264666"/>
          </a:xfrm>
          <a:prstGeom prst="rect">
            <a:avLst/>
          </a:prstGeom>
          <a:solidFill>
            <a:schemeClr val="accent1"/>
          </a:solidFill>
          <a:ln w="19050" cap="flat" cmpd="sng">
            <a:solidFill>
              <a:srgbClr val="535A7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0" u="none" strike="noStrike" cap="none">
                <a:solidFill>
                  <a:srgbClr val="FFFFFF"/>
                </a:solidFill>
                <a:latin typeface="Gill Sans"/>
                <a:ea typeface="Gill Sans"/>
                <a:cs typeface="Gill Sans"/>
                <a:sym typeface="Gill Sans"/>
              </a:rPr>
              <a:t>Reverso</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8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8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9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91"/>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a:t>
            </a:r>
            <a:endParaRPr sz="4400">
              <a:solidFill>
                <a:schemeClr val="dk1"/>
              </a:solidFill>
              <a:latin typeface="Calibri"/>
              <a:ea typeface="Calibri"/>
              <a:cs typeface="Calibri"/>
              <a:sym typeface="Calibri"/>
            </a:endParaRPr>
          </a:p>
        </p:txBody>
      </p:sp>
      <p:sp>
        <p:nvSpPr>
          <p:cNvPr id="498" name="Google Shape;498;p91"/>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499" name="Google Shape;499;p91"/>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500" name="Google Shape;500;p91"/>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35</a:t>
            </a:fld>
            <a:endParaRPr/>
          </a:p>
        </p:txBody>
      </p:sp>
      <p:sp>
        <p:nvSpPr>
          <p:cNvPr id="501" name="Google Shape;501;p91"/>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282366" algn="just" rtl="0">
              <a:spcBef>
                <a:spcPts val="0"/>
              </a:spcBef>
              <a:spcAft>
                <a:spcPts val="0"/>
              </a:spcAft>
              <a:buClr>
                <a:srgbClr val="C00000"/>
              </a:buClr>
              <a:buSzPts val="2600"/>
              <a:buFont typeface="Noto Sans Symbols"/>
              <a:buNone/>
            </a:pPr>
            <a:endParaRPr sz="2600">
              <a:solidFill>
                <a:schemeClr val="dk1"/>
              </a:solidFill>
              <a:latin typeface="Calibri"/>
              <a:ea typeface="Calibri"/>
              <a:cs typeface="Calibri"/>
              <a:sym typeface="Calibri"/>
            </a:endParaRPr>
          </a:p>
        </p:txBody>
      </p:sp>
      <p:sp>
        <p:nvSpPr>
          <p:cNvPr id="502" name="Google Shape;502;p91"/>
          <p:cNvSpPr/>
          <p:nvPr/>
        </p:nvSpPr>
        <p:spPr>
          <a:xfrm>
            <a:off x="1749820" y="1773489"/>
            <a:ext cx="8692360" cy="4460411"/>
          </a:xfrm>
          <a:prstGeom prst="snip1Rect">
            <a:avLst>
              <a:gd name="adj" fmla="val 15123"/>
            </a:avLst>
          </a:prstGeom>
          <a:solidFill>
            <a:srgbClr val="FFFF66"/>
          </a:solidFill>
          <a:ln w="25400" cap="flat" cmpd="sng">
            <a:solidFill>
              <a:schemeClr val="lt1"/>
            </a:solidFill>
            <a:prstDash val="solid"/>
            <a:round/>
            <a:headEnd type="none" w="sm" len="sm"/>
            <a:tailEnd type="none" w="sm" len="sm"/>
          </a:ln>
          <a:effectLst>
            <a:outerShdw blurRad="38100" dist="25400" dir="5400000"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503" name="Google Shape;503;p91"/>
          <p:cNvSpPr txBox="1"/>
          <p:nvPr/>
        </p:nvSpPr>
        <p:spPr>
          <a:xfrm>
            <a:off x="2034542" y="2154263"/>
            <a:ext cx="8519161" cy="4208437"/>
          </a:xfrm>
          <a:prstGeom prst="rect">
            <a:avLst/>
          </a:prstGeom>
          <a:noFill/>
          <a:ln>
            <a:noFill/>
          </a:ln>
        </p:spPr>
        <p:txBody>
          <a:bodyPr spcFirstLastPara="1" wrap="square" lIns="91425" tIns="45700" rIns="91425" bIns="45700" anchor="t" anchorCtr="0">
            <a:normAutofit/>
          </a:bodyPr>
          <a:lstStyle/>
          <a:p>
            <a:pPr marL="0" marR="0" lvl="0" indent="0" algn="l" rtl="0">
              <a:lnSpc>
                <a:spcPct val="150000"/>
              </a:lnSpc>
              <a:spcBef>
                <a:spcPts val="0"/>
              </a:spcBef>
              <a:spcAft>
                <a:spcPts val="0"/>
              </a:spcAft>
              <a:buClr>
                <a:schemeClr val="accent1"/>
              </a:buClr>
              <a:buSzPts val="2128"/>
              <a:buFont typeface="Calibri"/>
              <a:buNone/>
            </a:pPr>
            <a:r>
              <a:rPr lang="es-ES" sz="2400" b="1">
                <a:solidFill>
                  <a:schemeClr val="dk1"/>
                </a:solidFill>
                <a:latin typeface="Calibri"/>
                <a:ea typeface="Calibri"/>
                <a:cs typeface="Calibri"/>
                <a:sym typeface="Calibri"/>
              </a:rPr>
              <a:t>Id</a:t>
            </a:r>
            <a:r>
              <a:rPr lang="es-ES" sz="2400">
                <a:solidFill>
                  <a:schemeClr val="dk1"/>
                </a:solidFill>
                <a:latin typeface="Calibri"/>
                <a:ea typeface="Calibri"/>
                <a:cs typeface="Calibri"/>
                <a:sym typeface="Calibri"/>
              </a:rPr>
              <a:t>: Matricular persona</a:t>
            </a:r>
            <a:endParaRPr/>
          </a:p>
          <a:p>
            <a:pPr marL="0" marR="0" lvl="0" indent="0" algn="l" rtl="0">
              <a:lnSpc>
                <a:spcPct val="100000"/>
              </a:lnSpc>
              <a:spcBef>
                <a:spcPts val="600"/>
              </a:spcBef>
              <a:spcAft>
                <a:spcPts val="0"/>
              </a:spcAft>
              <a:buClr>
                <a:schemeClr val="accent1"/>
              </a:buClr>
              <a:buSzPts val="2128"/>
              <a:buFont typeface="Calibri"/>
              <a:buNone/>
            </a:pPr>
            <a:r>
              <a:rPr lang="es-ES" sz="2400" b="1">
                <a:solidFill>
                  <a:schemeClr val="dk1"/>
                </a:solidFill>
                <a:latin typeface="Calibri"/>
                <a:ea typeface="Calibri"/>
                <a:cs typeface="Calibri"/>
                <a:sym typeface="Calibri"/>
              </a:rPr>
              <a:t>Título</a:t>
            </a:r>
            <a:r>
              <a:rPr lang="es-ES" sz="2400">
                <a:solidFill>
                  <a:schemeClr val="dk1"/>
                </a:solidFill>
                <a:latin typeface="Calibri"/>
                <a:ea typeface="Calibri"/>
                <a:cs typeface="Calibri"/>
                <a:sym typeface="Calibri"/>
              </a:rPr>
              <a:t>: Como </a:t>
            </a:r>
            <a:r>
              <a:rPr lang="es-ES" sz="2400" i="1">
                <a:solidFill>
                  <a:schemeClr val="dk1"/>
                </a:solidFill>
                <a:latin typeface="Calibri"/>
                <a:ea typeface="Calibri"/>
                <a:cs typeface="Calibri"/>
                <a:sym typeface="Calibri"/>
              </a:rPr>
              <a:t>persona</a:t>
            </a:r>
            <a:r>
              <a:rPr lang="es-ES" sz="2400">
                <a:solidFill>
                  <a:schemeClr val="dk1"/>
                </a:solidFill>
                <a:latin typeface="Calibri"/>
                <a:ea typeface="Calibri"/>
                <a:cs typeface="Calibri"/>
                <a:sym typeface="Calibri"/>
              </a:rPr>
              <a:t> quiero matricularme al instituto para poder hacer los cursos.</a:t>
            </a:r>
            <a:endParaRPr/>
          </a:p>
          <a:p>
            <a:pPr marL="0" marR="0" lvl="0" indent="0" algn="l" rtl="0">
              <a:lnSpc>
                <a:spcPct val="150000"/>
              </a:lnSpc>
              <a:spcBef>
                <a:spcPts val="600"/>
              </a:spcBef>
              <a:spcAft>
                <a:spcPts val="0"/>
              </a:spcAft>
              <a:buClr>
                <a:schemeClr val="accent1"/>
              </a:buClr>
              <a:buSzPts val="2128"/>
              <a:buFont typeface="Calibri"/>
              <a:buNone/>
            </a:pPr>
            <a:r>
              <a:rPr lang="es-ES" sz="2400" b="1">
                <a:solidFill>
                  <a:schemeClr val="dk1"/>
                </a:solidFill>
                <a:latin typeface="Calibri"/>
                <a:ea typeface="Calibri"/>
                <a:cs typeface="Calibri"/>
                <a:sym typeface="Calibri"/>
              </a:rPr>
              <a:t>Reglas de Negocio</a:t>
            </a:r>
            <a:r>
              <a:rPr lang="es-ES" sz="2400">
                <a:solidFill>
                  <a:schemeClr val="dk1"/>
                </a:solidFill>
                <a:latin typeface="Calibri"/>
                <a:ea typeface="Calibri"/>
                <a:cs typeface="Calibri"/>
                <a:sym typeface="Calibri"/>
              </a:rPr>
              <a:t>:</a:t>
            </a:r>
            <a:endParaRPr/>
          </a:p>
          <a:p>
            <a:pPr marL="617226" marR="0" lvl="1" indent="-342900" algn="l" rtl="0">
              <a:lnSpc>
                <a:spcPct val="100000"/>
              </a:lnSpc>
              <a:spcBef>
                <a:spcPts val="500"/>
              </a:spcBef>
              <a:spcAft>
                <a:spcPts val="0"/>
              </a:spcAft>
              <a:buClr>
                <a:schemeClr val="accent1"/>
              </a:buClr>
              <a:buSzPts val="1824"/>
              <a:buFont typeface="Arial"/>
              <a:buChar char="•"/>
            </a:pPr>
            <a:r>
              <a:rPr lang="es-ES" sz="2400" b="0" i="0" u="none" strike="noStrike" cap="none">
                <a:solidFill>
                  <a:schemeClr val="dk1"/>
                </a:solidFill>
                <a:latin typeface="Calibri"/>
                <a:ea typeface="Calibri"/>
                <a:cs typeface="Calibri"/>
                <a:sym typeface="Calibri"/>
              </a:rPr>
              <a:t>Un DNI no puede estar registrado dos veces con diferentes matrículas.</a:t>
            </a:r>
            <a:endParaRPr/>
          </a:p>
          <a:p>
            <a:pPr marL="617226" marR="0" lvl="1" indent="-342900" algn="l" rtl="0">
              <a:lnSpc>
                <a:spcPct val="100000"/>
              </a:lnSpc>
              <a:spcBef>
                <a:spcPts val="500"/>
              </a:spcBef>
              <a:spcAft>
                <a:spcPts val="0"/>
              </a:spcAft>
              <a:buClr>
                <a:schemeClr val="accent1"/>
              </a:buClr>
              <a:buSzPts val="1824"/>
              <a:buFont typeface="Arial"/>
              <a:buChar char="•"/>
            </a:pPr>
            <a:r>
              <a:rPr lang="es-ES" sz="2400" b="0" i="0" u="none" strike="noStrike" cap="none">
                <a:solidFill>
                  <a:schemeClr val="dk1"/>
                </a:solidFill>
                <a:latin typeface="Calibri"/>
                <a:ea typeface="Calibri"/>
                <a:cs typeface="Calibri"/>
                <a:sym typeface="Calibri"/>
              </a:rPr>
              <a:t>El pago debe realizarse con tarjeta de crédito.</a:t>
            </a:r>
            <a:endParaRPr/>
          </a:p>
          <a:p>
            <a:pPr marL="548651" marR="0" lvl="1" indent="-158501" algn="l" rtl="0">
              <a:lnSpc>
                <a:spcPct val="100000"/>
              </a:lnSpc>
              <a:spcBef>
                <a:spcPts val="500"/>
              </a:spcBef>
              <a:spcAft>
                <a:spcPts val="0"/>
              </a:spcAft>
              <a:buClr>
                <a:schemeClr val="accent1"/>
              </a:buClr>
              <a:buSzPts val="1824"/>
              <a:buFont typeface="Calibri"/>
              <a:buNone/>
            </a:pPr>
            <a:endParaRPr sz="24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92"/>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a:t>
            </a:r>
            <a:endParaRPr sz="4400">
              <a:solidFill>
                <a:schemeClr val="dk1"/>
              </a:solidFill>
              <a:latin typeface="Calibri"/>
              <a:ea typeface="Calibri"/>
              <a:cs typeface="Calibri"/>
              <a:sym typeface="Calibri"/>
            </a:endParaRPr>
          </a:p>
        </p:txBody>
      </p:sp>
      <p:sp>
        <p:nvSpPr>
          <p:cNvPr id="510" name="Google Shape;510;p92"/>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511" name="Google Shape;511;p92"/>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512" name="Google Shape;512;p92"/>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36</a:t>
            </a:fld>
            <a:endParaRPr/>
          </a:p>
        </p:txBody>
      </p:sp>
      <p:sp>
        <p:nvSpPr>
          <p:cNvPr id="513" name="Google Shape;513;p92"/>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282366" algn="just" rtl="0">
              <a:spcBef>
                <a:spcPts val="0"/>
              </a:spcBef>
              <a:spcAft>
                <a:spcPts val="0"/>
              </a:spcAft>
              <a:buClr>
                <a:srgbClr val="C00000"/>
              </a:buClr>
              <a:buSzPts val="2600"/>
              <a:buFont typeface="Noto Sans Symbols"/>
              <a:buNone/>
            </a:pPr>
            <a:endParaRPr sz="2600">
              <a:solidFill>
                <a:schemeClr val="dk1"/>
              </a:solidFill>
              <a:latin typeface="Calibri"/>
              <a:ea typeface="Calibri"/>
              <a:cs typeface="Calibri"/>
              <a:sym typeface="Calibri"/>
            </a:endParaRPr>
          </a:p>
        </p:txBody>
      </p:sp>
      <p:pic>
        <p:nvPicPr>
          <p:cNvPr id="514" name="Google Shape;514;p92"/>
          <p:cNvPicPr preferRelativeResize="0"/>
          <p:nvPr/>
        </p:nvPicPr>
        <p:blipFill rotWithShape="1">
          <a:blip r:embed="rId3">
            <a:alphaModFix/>
          </a:blip>
          <a:srcRect t="8507"/>
          <a:stretch/>
        </p:blipFill>
        <p:spPr>
          <a:xfrm>
            <a:off x="911260" y="1773489"/>
            <a:ext cx="10129156" cy="453583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93"/>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Beneficios</a:t>
            </a:r>
            <a:endParaRPr sz="4400">
              <a:solidFill>
                <a:schemeClr val="dk1"/>
              </a:solidFill>
              <a:latin typeface="Calibri"/>
              <a:ea typeface="Calibri"/>
              <a:cs typeface="Calibri"/>
              <a:sym typeface="Calibri"/>
            </a:endParaRPr>
          </a:p>
        </p:txBody>
      </p:sp>
      <p:sp>
        <p:nvSpPr>
          <p:cNvPr id="521" name="Google Shape;521;p93"/>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522" name="Google Shape;522;p93"/>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523" name="Google Shape;523;p93"/>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37</a:t>
            </a:fld>
            <a:endParaRPr/>
          </a:p>
        </p:txBody>
      </p:sp>
      <p:sp>
        <p:nvSpPr>
          <p:cNvPr id="524" name="Google Shape;524;p93"/>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Al ser muy cortas, éstas representan requisitos del modelo de negocio que pueden implementarse rápidamente (días o semanas).</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Necesitan poco mantenimiento.</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Mantienen una relación cercana con el cliente.</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Permiten dividir los proyectos en pequeñas entregas.</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Permiten estimar fácilmente el esfuerzo de desarrollo.</a:t>
            </a:r>
            <a:endParaRPr/>
          </a:p>
          <a:p>
            <a:pPr marL="447466" marR="0" lvl="0" indent="-447466" algn="just" rtl="0">
              <a:spcBef>
                <a:spcPts val="1200"/>
              </a:spcBef>
              <a:spcAft>
                <a:spcPts val="1200"/>
              </a:spcAft>
              <a:buClr>
                <a:srgbClr val="C00000"/>
              </a:buClr>
              <a:buSzPts val="2600"/>
              <a:buFont typeface="Noto Sans Symbols"/>
              <a:buChar char="❖"/>
            </a:pPr>
            <a:r>
              <a:rPr lang="es-ES" sz="2600">
                <a:solidFill>
                  <a:schemeClr val="dk1"/>
                </a:solidFill>
                <a:latin typeface="Calibri"/>
                <a:ea typeface="Calibri"/>
                <a:cs typeface="Calibri"/>
                <a:sym typeface="Calibri"/>
              </a:rPr>
              <a:t>Es ideal para proyectos con requisitos volátiles o no muy claros.</a:t>
            </a:r>
            <a:endParaRPr/>
          </a:p>
        </p:txBody>
      </p:sp>
      <p:pic>
        <p:nvPicPr>
          <p:cNvPr id="525" name="Google Shape;525;p93"/>
          <p:cNvPicPr preferRelativeResize="0"/>
          <p:nvPr/>
        </p:nvPicPr>
        <p:blipFill rotWithShape="1">
          <a:blip r:embed="rId3">
            <a:alphaModFix/>
          </a:blip>
          <a:srcRect/>
          <a:stretch/>
        </p:blipFill>
        <p:spPr>
          <a:xfrm>
            <a:off x="9657966" y="3364708"/>
            <a:ext cx="1127708" cy="150361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94"/>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Limitaciones</a:t>
            </a:r>
            <a:endParaRPr sz="4400">
              <a:solidFill>
                <a:schemeClr val="dk1"/>
              </a:solidFill>
              <a:latin typeface="Calibri"/>
              <a:ea typeface="Calibri"/>
              <a:cs typeface="Calibri"/>
              <a:sym typeface="Calibri"/>
            </a:endParaRPr>
          </a:p>
        </p:txBody>
      </p:sp>
      <p:sp>
        <p:nvSpPr>
          <p:cNvPr id="532" name="Google Shape;532;p94"/>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533" name="Google Shape;533;p94"/>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534" name="Google Shape;534;p94"/>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38</a:t>
            </a:fld>
            <a:endParaRPr/>
          </a:p>
        </p:txBody>
      </p:sp>
      <p:sp>
        <p:nvSpPr>
          <p:cNvPr id="535" name="Google Shape;535;p94"/>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Sin criterios de aceptación pueden quedar abiertas a distintas interpretaciones, haciendo difícil utilizarlas como base para un contrato.</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Se requiere un contacto permanente con el cliente durante el proyecto, lo cual puede ser difícil o costoso.</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Podría resultar difícil escalar a proyectos grandes.</a:t>
            </a:r>
            <a:endParaRPr/>
          </a:p>
          <a:p>
            <a:pPr marL="447466" marR="0" lvl="0" indent="-447466" algn="just" rtl="0">
              <a:spcBef>
                <a:spcPts val="1200"/>
              </a:spcBef>
              <a:spcAft>
                <a:spcPts val="1200"/>
              </a:spcAft>
              <a:buClr>
                <a:srgbClr val="C00000"/>
              </a:buClr>
              <a:buSzPts val="2600"/>
              <a:buFont typeface="Noto Sans Symbols"/>
              <a:buChar char="❖"/>
            </a:pPr>
            <a:r>
              <a:rPr lang="es-ES" sz="2600">
                <a:solidFill>
                  <a:schemeClr val="dk1"/>
                </a:solidFill>
                <a:latin typeface="Calibri"/>
                <a:ea typeface="Calibri"/>
                <a:cs typeface="Calibri"/>
                <a:sym typeface="Calibri"/>
              </a:rPr>
              <a:t>Requieren desarrolladores muy competentes.</a:t>
            </a:r>
            <a:endParaRPr/>
          </a:p>
        </p:txBody>
      </p:sp>
      <p:pic>
        <p:nvPicPr>
          <p:cNvPr id="536" name="Google Shape;536;p94"/>
          <p:cNvPicPr preferRelativeResize="0"/>
          <p:nvPr/>
        </p:nvPicPr>
        <p:blipFill rotWithShape="1">
          <a:blip r:embed="rId3">
            <a:alphaModFix/>
          </a:blip>
          <a:srcRect/>
          <a:stretch/>
        </p:blipFill>
        <p:spPr>
          <a:xfrm>
            <a:off x="9231402" y="3802286"/>
            <a:ext cx="1981111" cy="173389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95"/>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Épicas</a:t>
            </a:r>
            <a:endParaRPr sz="4400">
              <a:solidFill>
                <a:schemeClr val="dk1"/>
              </a:solidFill>
              <a:latin typeface="Calibri"/>
              <a:ea typeface="Calibri"/>
              <a:cs typeface="Calibri"/>
              <a:sym typeface="Calibri"/>
            </a:endParaRPr>
          </a:p>
        </p:txBody>
      </p:sp>
      <p:sp>
        <p:nvSpPr>
          <p:cNvPr id="543" name="Google Shape;543;p95"/>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544" name="Google Shape;544;p95"/>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545" name="Google Shape;545;p95"/>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39</a:t>
            </a:fld>
            <a:endParaRPr/>
          </a:p>
        </p:txBody>
      </p:sp>
      <p:sp>
        <p:nvSpPr>
          <p:cNvPr id="546" name="Google Shape;546;p95"/>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Se denomina Épica a un conjunto de Historias de Usuario que se agrupan por algún denominador común.</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La épica representa un objetivo alcanzable que nace de la necesidad del cliente. </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Es un objetivo al que nos aproximamos y que esperamos alcanzar algún día. </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La épica </a:t>
            </a:r>
            <a:r>
              <a:rPr lang="es-ES" sz="2600" u="sng">
                <a:solidFill>
                  <a:schemeClr val="dk1"/>
                </a:solidFill>
                <a:latin typeface="Calibri"/>
                <a:ea typeface="Calibri"/>
                <a:cs typeface="Calibri"/>
                <a:sym typeface="Calibri"/>
              </a:rPr>
              <a:t>no es</a:t>
            </a:r>
            <a:r>
              <a:rPr lang="es-ES" sz="2600">
                <a:solidFill>
                  <a:schemeClr val="dk1"/>
                </a:solidFill>
                <a:latin typeface="Calibri"/>
                <a:ea typeface="Calibri"/>
                <a:cs typeface="Calibri"/>
                <a:sym typeface="Calibri"/>
              </a:rPr>
              <a:t> la funcionalidad.</a:t>
            </a:r>
            <a:endParaRPr/>
          </a:p>
          <a:p>
            <a:pPr marL="447466" marR="0" lvl="0" indent="-282366" algn="just" rtl="0">
              <a:spcBef>
                <a:spcPts val="1200"/>
              </a:spcBef>
              <a:spcAft>
                <a:spcPts val="1200"/>
              </a:spcAft>
              <a:buClr>
                <a:srgbClr val="C00000"/>
              </a:buClr>
              <a:buSzPts val="2600"/>
              <a:buFont typeface="Noto Sans Symbols"/>
              <a:buNone/>
            </a:pPr>
            <a:endParaRPr sz="2600">
              <a:solidFill>
                <a:schemeClr val="dk1"/>
              </a:solidFill>
              <a:latin typeface="Calibri"/>
              <a:ea typeface="Calibri"/>
              <a:cs typeface="Calibri"/>
              <a:sym typeface="Calibri"/>
            </a:endParaRPr>
          </a:p>
        </p:txBody>
      </p:sp>
      <p:pic>
        <p:nvPicPr>
          <p:cNvPr id="547" name="Google Shape;547;p95" descr="Scrum con Jira – Relación entre Épicas, Historias y Tareas Técnicas. | |  Blog Personal Diego Acosta"/>
          <p:cNvPicPr preferRelativeResize="0"/>
          <p:nvPr/>
        </p:nvPicPr>
        <p:blipFill rotWithShape="1">
          <a:blip r:embed="rId3">
            <a:alphaModFix/>
          </a:blip>
          <a:srcRect/>
          <a:stretch/>
        </p:blipFill>
        <p:spPr>
          <a:xfrm>
            <a:off x="9113003" y="4277531"/>
            <a:ext cx="2099510" cy="196053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96"/>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Ejemplo de épicas</a:t>
            </a:r>
            <a:endParaRPr sz="4400">
              <a:solidFill>
                <a:schemeClr val="dk1"/>
              </a:solidFill>
              <a:latin typeface="Calibri"/>
              <a:ea typeface="Calibri"/>
              <a:cs typeface="Calibri"/>
              <a:sym typeface="Calibri"/>
            </a:endParaRPr>
          </a:p>
        </p:txBody>
      </p:sp>
      <p:sp>
        <p:nvSpPr>
          <p:cNvPr id="554" name="Google Shape;554;p96"/>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555" name="Google Shape;555;p96"/>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556" name="Google Shape;556;p96"/>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40</a:t>
            </a:fld>
            <a:endParaRPr/>
          </a:p>
        </p:txBody>
      </p:sp>
      <p:sp>
        <p:nvSpPr>
          <p:cNvPr id="557" name="Google Shape;557;p96"/>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0" marR="0" lvl="0" indent="0" algn="just" rtl="0">
              <a:spcBef>
                <a:spcPts val="0"/>
              </a:spcBef>
              <a:spcAft>
                <a:spcPts val="0"/>
              </a:spcAft>
              <a:buNone/>
            </a:pPr>
            <a:r>
              <a:rPr lang="es-ES" sz="2400">
                <a:solidFill>
                  <a:schemeClr val="dk1"/>
                </a:solidFill>
                <a:latin typeface="Calibri"/>
                <a:ea typeface="Calibri"/>
                <a:cs typeface="Calibri"/>
                <a:sym typeface="Calibri"/>
              </a:rPr>
              <a:t>Épica:</a:t>
            </a:r>
            <a:endParaRPr/>
          </a:p>
          <a:p>
            <a:pPr marL="0" marR="0" lvl="0" indent="0" algn="just" rtl="0">
              <a:spcBef>
                <a:spcPts val="0"/>
              </a:spcBef>
              <a:spcAft>
                <a:spcPts val="0"/>
              </a:spcAft>
              <a:buNone/>
            </a:pPr>
            <a:r>
              <a:rPr lang="es-ES" sz="2200" i="1" u="sng">
                <a:solidFill>
                  <a:schemeClr val="dk1"/>
                </a:solidFill>
                <a:latin typeface="Calibri"/>
                <a:ea typeface="Calibri"/>
                <a:cs typeface="Calibri"/>
                <a:sym typeface="Calibri"/>
              </a:rPr>
              <a:t>Como</a:t>
            </a:r>
            <a:r>
              <a:rPr lang="es-ES" sz="2200" i="1">
                <a:solidFill>
                  <a:schemeClr val="dk1"/>
                </a:solidFill>
                <a:latin typeface="Calibri"/>
                <a:ea typeface="Calibri"/>
                <a:cs typeface="Calibri"/>
                <a:sym typeface="Calibri"/>
              </a:rPr>
              <a:t> Vicepresidente de mercadeo y ventas </a:t>
            </a:r>
            <a:r>
              <a:rPr lang="es-ES" sz="2200" i="1" u="sng">
                <a:solidFill>
                  <a:schemeClr val="dk1"/>
                </a:solidFill>
                <a:latin typeface="Calibri"/>
                <a:ea typeface="Calibri"/>
                <a:cs typeface="Calibri"/>
                <a:sym typeface="Calibri"/>
              </a:rPr>
              <a:t>quiero</a:t>
            </a:r>
            <a:r>
              <a:rPr lang="es-ES" sz="2200" i="1">
                <a:solidFill>
                  <a:schemeClr val="dk1"/>
                </a:solidFill>
                <a:latin typeface="Calibri"/>
                <a:ea typeface="Calibri"/>
                <a:cs typeface="Calibri"/>
                <a:sym typeface="Calibri"/>
              </a:rPr>
              <a:t> revisar el desempeño histórico de las ventas </a:t>
            </a:r>
            <a:r>
              <a:rPr lang="es-ES" sz="2200" i="1" u="sng">
                <a:solidFill>
                  <a:schemeClr val="dk1"/>
                </a:solidFill>
                <a:latin typeface="Calibri"/>
                <a:ea typeface="Calibri"/>
                <a:cs typeface="Calibri"/>
                <a:sym typeface="Calibri"/>
              </a:rPr>
              <a:t>para</a:t>
            </a:r>
            <a:r>
              <a:rPr lang="es-ES" sz="2200" i="1">
                <a:solidFill>
                  <a:schemeClr val="dk1"/>
                </a:solidFill>
                <a:latin typeface="Calibri"/>
                <a:ea typeface="Calibri"/>
                <a:cs typeface="Calibri"/>
                <a:sym typeface="Calibri"/>
              </a:rPr>
              <a:t> identificar las regiones geográficas y productos de mejor desempeño.</a:t>
            </a:r>
            <a:endParaRPr/>
          </a:p>
          <a:p>
            <a:pPr marL="0" marR="0" lvl="0" indent="0" algn="just" rtl="0">
              <a:spcBef>
                <a:spcPts val="1200"/>
              </a:spcBef>
              <a:spcAft>
                <a:spcPts val="0"/>
              </a:spcAft>
              <a:buNone/>
            </a:pPr>
            <a:endParaRPr sz="2400">
              <a:solidFill>
                <a:schemeClr val="dk1"/>
              </a:solidFill>
              <a:latin typeface="Calibri"/>
              <a:ea typeface="Calibri"/>
              <a:cs typeface="Calibri"/>
              <a:sym typeface="Calibri"/>
            </a:endParaRPr>
          </a:p>
          <a:p>
            <a:pPr marL="0" marR="0" lvl="0" indent="0" algn="just" rtl="0">
              <a:spcBef>
                <a:spcPts val="1200"/>
              </a:spcBef>
              <a:spcAft>
                <a:spcPts val="0"/>
              </a:spcAft>
              <a:buNone/>
            </a:pPr>
            <a:r>
              <a:rPr lang="es-ES" sz="2400">
                <a:solidFill>
                  <a:schemeClr val="dk1"/>
                </a:solidFill>
                <a:latin typeface="Calibri"/>
                <a:ea typeface="Calibri"/>
                <a:cs typeface="Calibri"/>
                <a:sym typeface="Calibri"/>
              </a:rPr>
              <a:t>Esta épica se puede subdividir en:</a:t>
            </a:r>
            <a:endParaRPr/>
          </a:p>
          <a:p>
            <a:pPr marL="342900" marR="0" lvl="0" indent="-342900" algn="just" rtl="0">
              <a:spcBef>
                <a:spcPts val="0"/>
              </a:spcBef>
              <a:spcAft>
                <a:spcPts val="0"/>
              </a:spcAft>
              <a:buClr>
                <a:srgbClr val="C00000"/>
              </a:buClr>
              <a:buSzPts val="2200"/>
              <a:buFont typeface="Arial"/>
              <a:buChar char="•"/>
            </a:pPr>
            <a:r>
              <a:rPr lang="es-ES" sz="2200" u="sng">
                <a:solidFill>
                  <a:schemeClr val="dk1"/>
                </a:solidFill>
                <a:latin typeface="Calibri"/>
                <a:ea typeface="Calibri"/>
                <a:cs typeface="Calibri"/>
                <a:sym typeface="Calibri"/>
              </a:rPr>
              <a:t>Como</a:t>
            </a:r>
            <a:r>
              <a:rPr lang="es-ES" sz="2200">
                <a:solidFill>
                  <a:schemeClr val="dk1"/>
                </a:solidFill>
                <a:latin typeface="Calibri"/>
                <a:ea typeface="Calibri"/>
                <a:cs typeface="Calibri"/>
                <a:sym typeface="Calibri"/>
              </a:rPr>
              <a:t> VP de Mercadeo </a:t>
            </a:r>
            <a:r>
              <a:rPr lang="es-ES" sz="2200" u="sng">
                <a:solidFill>
                  <a:schemeClr val="dk1"/>
                </a:solidFill>
                <a:latin typeface="Calibri"/>
                <a:ea typeface="Calibri"/>
                <a:cs typeface="Calibri"/>
                <a:sym typeface="Calibri"/>
              </a:rPr>
              <a:t>quiero</a:t>
            </a:r>
            <a:r>
              <a:rPr lang="es-ES" sz="2200">
                <a:solidFill>
                  <a:schemeClr val="dk1"/>
                </a:solidFill>
                <a:latin typeface="Calibri"/>
                <a:ea typeface="Calibri"/>
                <a:cs typeface="Calibri"/>
                <a:sym typeface="Calibri"/>
              </a:rPr>
              <a:t> seleccionar el período de tiempo en el cual realizaré la revisión de las ventas </a:t>
            </a:r>
            <a:r>
              <a:rPr lang="es-ES" sz="2200" u="sng">
                <a:solidFill>
                  <a:schemeClr val="dk1"/>
                </a:solidFill>
                <a:latin typeface="Calibri"/>
                <a:ea typeface="Calibri"/>
                <a:cs typeface="Calibri"/>
                <a:sym typeface="Calibri"/>
              </a:rPr>
              <a:t>para</a:t>
            </a:r>
            <a:r>
              <a:rPr lang="es-ES" sz="2200">
                <a:solidFill>
                  <a:schemeClr val="dk1"/>
                </a:solidFill>
                <a:latin typeface="Calibri"/>
                <a:ea typeface="Calibri"/>
                <a:cs typeface="Calibri"/>
                <a:sym typeface="Calibri"/>
              </a:rPr>
              <a:t> analizar el desempeño.</a:t>
            </a:r>
            <a:endParaRPr/>
          </a:p>
          <a:p>
            <a:pPr marL="342900" marR="0" lvl="0" indent="-342900" algn="just" rtl="0">
              <a:spcBef>
                <a:spcPts val="0"/>
              </a:spcBef>
              <a:spcAft>
                <a:spcPts val="0"/>
              </a:spcAft>
              <a:buClr>
                <a:srgbClr val="C00000"/>
              </a:buClr>
              <a:buSzPts val="2200"/>
              <a:buFont typeface="Arial"/>
              <a:buChar char="•"/>
            </a:pPr>
            <a:r>
              <a:rPr lang="es-ES" sz="2200" u="sng">
                <a:solidFill>
                  <a:schemeClr val="dk1"/>
                </a:solidFill>
                <a:latin typeface="Calibri"/>
                <a:ea typeface="Calibri"/>
                <a:cs typeface="Calibri"/>
                <a:sym typeface="Calibri"/>
              </a:rPr>
              <a:t>Como</a:t>
            </a:r>
            <a:r>
              <a:rPr lang="es-ES" sz="2200">
                <a:solidFill>
                  <a:schemeClr val="dk1"/>
                </a:solidFill>
                <a:latin typeface="Calibri"/>
                <a:ea typeface="Calibri"/>
                <a:cs typeface="Calibri"/>
                <a:sym typeface="Calibri"/>
              </a:rPr>
              <a:t> VP de Mercadeo </a:t>
            </a:r>
            <a:r>
              <a:rPr lang="es-ES" sz="2200" u="sng">
                <a:solidFill>
                  <a:schemeClr val="dk1"/>
                </a:solidFill>
                <a:latin typeface="Calibri"/>
                <a:ea typeface="Calibri"/>
                <a:cs typeface="Calibri"/>
                <a:sym typeface="Calibri"/>
              </a:rPr>
              <a:t>quiero</a:t>
            </a:r>
            <a:r>
              <a:rPr lang="es-ES" sz="2200">
                <a:solidFill>
                  <a:schemeClr val="dk1"/>
                </a:solidFill>
                <a:latin typeface="Calibri"/>
                <a:ea typeface="Calibri"/>
                <a:cs typeface="Calibri"/>
                <a:sym typeface="Calibri"/>
              </a:rPr>
              <a:t> clasificar la información de ventas por región geográfica y productos </a:t>
            </a:r>
            <a:r>
              <a:rPr lang="es-ES" sz="2200" u="sng">
                <a:solidFill>
                  <a:schemeClr val="dk1"/>
                </a:solidFill>
                <a:latin typeface="Calibri"/>
                <a:ea typeface="Calibri"/>
                <a:cs typeface="Calibri"/>
                <a:sym typeface="Calibri"/>
              </a:rPr>
              <a:t>para</a:t>
            </a:r>
            <a:r>
              <a:rPr lang="es-ES" sz="2200">
                <a:solidFill>
                  <a:schemeClr val="dk1"/>
                </a:solidFill>
                <a:latin typeface="Calibri"/>
                <a:ea typeface="Calibri"/>
                <a:cs typeface="Calibri"/>
                <a:sym typeface="Calibri"/>
              </a:rPr>
              <a:t> obtener la mejor zona de ventas.</a:t>
            </a:r>
            <a:endParaRPr/>
          </a:p>
          <a:p>
            <a:pPr marL="0" marR="0" lvl="0" indent="0" algn="just" rtl="0">
              <a:spcBef>
                <a:spcPts val="0"/>
              </a:spcBef>
              <a:spcAft>
                <a:spcPts val="1200"/>
              </a:spcAft>
              <a:buNone/>
            </a:pPr>
            <a:endParaRPr sz="2400">
              <a:solidFill>
                <a:schemeClr val="dk1"/>
              </a:solidFill>
              <a:latin typeface="Calibri"/>
              <a:ea typeface="Calibri"/>
              <a:cs typeface="Calibri"/>
              <a:sym typeface="Calibri"/>
            </a:endParaRPr>
          </a:p>
        </p:txBody>
      </p:sp>
      <p:sp>
        <p:nvSpPr>
          <p:cNvPr id="558" name="Google Shape;558;p96"/>
          <p:cNvSpPr txBox="1"/>
          <p:nvPr/>
        </p:nvSpPr>
        <p:spPr>
          <a:xfrm>
            <a:off x="6398425" y="5977417"/>
            <a:ext cx="5793575" cy="36930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s-ES" sz="1200" b="0" i="1" u="none" strike="noStrike" cap="none">
                <a:solidFill>
                  <a:schemeClr val="dk1"/>
                </a:solidFill>
                <a:highlight>
                  <a:srgbClr val="FFFFFF"/>
                </a:highlight>
                <a:latin typeface="Calibri"/>
                <a:ea typeface="Calibri"/>
                <a:cs typeface="Calibri"/>
                <a:sym typeface="Calibri"/>
              </a:rPr>
              <a:t>Este ejemplo fue obtenido de </a:t>
            </a:r>
            <a:r>
              <a:rPr lang="es-ES" sz="1200" b="1" i="1" u="none" strike="noStrike" cap="none">
                <a:solidFill>
                  <a:schemeClr val="dk1"/>
                </a:solidFill>
                <a:highlight>
                  <a:srgbClr val="FFFFFF"/>
                </a:highlight>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Mountain Goat Software. Two Examples of Spliting Epics</a:t>
            </a:r>
            <a:endParaRPr sz="2000" b="0" i="1" u="none" strike="noStrike" cap="non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97"/>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Historias de Usuario – Ejemplo de épicas</a:t>
            </a:r>
            <a:endParaRPr sz="4400">
              <a:solidFill>
                <a:schemeClr val="dk1"/>
              </a:solidFill>
              <a:latin typeface="Calibri"/>
              <a:ea typeface="Calibri"/>
              <a:cs typeface="Calibri"/>
              <a:sym typeface="Calibri"/>
            </a:endParaRPr>
          </a:p>
        </p:txBody>
      </p:sp>
      <p:sp>
        <p:nvSpPr>
          <p:cNvPr id="565" name="Google Shape;565;p97"/>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566" name="Google Shape;566;p97"/>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567" name="Google Shape;567;p97"/>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41</a:t>
            </a:fld>
            <a:endParaRPr/>
          </a:p>
        </p:txBody>
      </p:sp>
      <p:sp>
        <p:nvSpPr>
          <p:cNvPr id="568" name="Google Shape;568;p97"/>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0" marR="0" lvl="0" indent="0" algn="just" rtl="0">
              <a:spcBef>
                <a:spcPts val="0"/>
              </a:spcBef>
              <a:spcAft>
                <a:spcPts val="0"/>
              </a:spcAft>
              <a:buNone/>
            </a:pPr>
            <a:r>
              <a:rPr lang="es-ES" sz="2400">
                <a:solidFill>
                  <a:schemeClr val="dk1"/>
                </a:solidFill>
                <a:latin typeface="Calibri"/>
                <a:ea typeface="Calibri"/>
                <a:cs typeface="Calibri"/>
                <a:sym typeface="Calibri"/>
              </a:rPr>
              <a:t>Épica:</a:t>
            </a:r>
            <a:endParaRPr/>
          </a:p>
          <a:p>
            <a:pPr marL="0" marR="0" lvl="0" indent="0" algn="just" rtl="0">
              <a:spcBef>
                <a:spcPts val="0"/>
              </a:spcBef>
              <a:spcAft>
                <a:spcPts val="0"/>
              </a:spcAft>
              <a:buNone/>
            </a:pPr>
            <a:r>
              <a:rPr lang="es-ES" sz="2200" i="1" u="sng">
                <a:solidFill>
                  <a:schemeClr val="dk1"/>
                </a:solidFill>
                <a:latin typeface="Calibri"/>
                <a:ea typeface="Calibri"/>
                <a:cs typeface="Calibri"/>
                <a:sym typeface="Calibri"/>
              </a:rPr>
              <a:t>Como</a:t>
            </a:r>
            <a:r>
              <a:rPr lang="es-ES" sz="2200" i="1">
                <a:solidFill>
                  <a:schemeClr val="dk1"/>
                </a:solidFill>
                <a:latin typeface="Calibri"/>
                <a:ea typeface="Calibri"/>
                <a:cs typeface="Calibri"/>
                <a:sym typeface="Calibri"/>
              </a:rPr>
              <a:t> un operador hotelero </a:t>
            </a:r>
            <a:r>
              <a:rPr lang="es-ES" sz="2200" i="1" u="sng">
                <a:solidFill>
                  <a:schemeClr val="dk1"/>
                </a:solidFill>
                <a:latin typeface="Calibri"/>
                <a:ea typeface="Calibri"/>
                <a:cs typeface="Calibri"/>
                <a:sym typeface="Calibri"/>
              </a:rPr>
              <a:t>quiero</a:t>
            </a:r>
            <a:r>
              <a:rPr lang="es-ES" sz="2200" i="1">
                <a:solidFill>
                  <a:schemeClr val="dk1"/>
                </a:solidFill>
                <a:latin typeface="Calibri"/>
                <a:ea typeface="Calibri"/>
                <a:cs typeface="Calibri"/>
                <a:sym typeface="Calibri"/>
              </a:rPr>
              <a:t> establecer las tarifas óptimas para las habitaciones de mi hotel.</a:t>
            </a:r>
            <a:endParaRPr/>
          </a:p>
          <a:p>
            <a:pPr marL="0" marR="0" lvl="0" indent="0" algn="just" rtl="0">
              <a:spcBef>
                <a:spcPts val="1200"/>
              </a:spcBef>
              <a:spcAft>
                <a:spcPts val="0"/>
              </a:spcAft>
              <a:buNone/>
            </a:pPr>
            <a:endParaRPr sz="2400">
              <a:solidFill>
                <a:schemeClr val="dk1"/>
              </a:solidFill>
              <a:latin typeface="Calibri"/>
              <a:ea typeface="Calibri"/>
              <a:cs typeface="Calibri"/>
              <a:sym typeface="Calibri"/>
            </a:endParaRPr>
          </a:p>
          <a:p>
            <a:pPr marL="0" marR="0" lvl="0" indent="0" algn="just" rtl="0">
              <a:spcBef>
                <a:spcPts val="1200"/>
              </a:spcBef>
              <a:spcAft>
                <a:spcPts val="0"/>
              </a:spcAft>
              <a:buNone/>
            </a:pPr>
            <a:r>
              <a:rPr lang="es-ES" sz="2400">
                <a:solidFill>
                  <a:schemeClr val="dk1"/>
                </a:solidFill>
                <a:latin typeface="Calibri"/>
                <a:ea typeface="Calibri"/>
                <a:cs typeface="Calibri"/>
                <a:sym typeface="Calibri"/>
              </a:rPr>
              <a:t>Esta épica contiene las siguientes HU:</a:t>
            </a:r>
            <a:endParaRPr/>
          </a:p>
          <a:p>
            <a:pPr marL="342900" marR="0" lvl="0" indent="-342900" algn="just" rtl="0">
              <a:spcBef>
                <a:spcPts val="0"/>
              </a:spcBef>
              <a:spcAft>
                <a:spcPts val="0"/>
              </a:spcAft>
              <a:buClr>
                <a:srgbClr val="C00000"/>
              </a:buClr>
              <a:buSzPts val="2200"/>
              <a:buFont typeface="Arial"/>
              <a:buChar char="•"/>
            </a:pPr>
            <a:r>
              <a:rPr lang="es-ES" sz="2200" u="sng">
                <a:solidFill>
                  <a:schemeClr val="dk1"/>
                </a:solidFill>
                <a:latin typeface="Calibri"/>
                <a:ea typeface="Calibri"/>
                <a:cs typeface="Calibri"/>
                <a:sym typeface="Calibri"/>
              </a:rPr>
              <a:t>Como</a:t>
            </a:r>
            <a:r>
              <a:rPr lang="es-ES" sz="2200">
                <a:solidFill>
                  <a:schemeClr val="dk1"/>
                </a:solidFill>
                <a:latin typeface="Calibri"/>
                <a:ea typeface="Calibri"/>
                <a:cs typeface="Calibri"/>
                <a:sym typeface="Calibri"/>
              </a:rPr>
              <a:t> un operador hotelero </a:t>
            </a:r>
            <a:r>
              <a:rPr lang="es-ES" sz="2200" u="sng">
                <a:solidFill>
                  <a:schemeClr val="dk1"/>
                </a:solidFill>
                <a:latin typeface="Calibri"/>
                <a:ea typeface="Calibri"/>
                <a:cs typeface="Calibri"/>
                <a:sym typeface="Calibri"/>
              </a:rPr>
              <a:t>quiero</a:t>
            </a:r>
            <a:r>
              <a:rPr lang="es-ES" sz="2200">
                <a:solidFill>
                  <a:schemeClr val="dk1"/>
                </a:solidFill>
                <a:latin typeface="Calibri"/>
                <a:ea typeface="Calibri"/>
                <a:cs typeface="Calibri"/>
                <a:sym typeface="Calibri"/>
              </a:rPr>
              <a:t> establecer la tarifa óptima </a:t>
            </a:r>
            <a:r>
              <a:rPr lang="es-ES" sz="2200" u="sng">
                <a:solidFill>
                  <a:schemeClr val="dk1"/>
                </a:solidFill>
                <a:latin typeface="Calibri"/>
                <a:ea typeface="Calibri"/>
                <a:cs typeface="Calibri"/>
                <a:sym typeface="Calibri"/>
              </a:rPr>
              <a:t>para</a:t>
            </a:r>
            <a:r>
              <a:rPr lang="es-ES" sz="2200">
                <a:solidFill>
                  <a:schemeClr val="dk1"/>
                </a:solidFill>
                <a:latin typeface="Calibri"/>
                <a:ea typeface="Calibri"/>
                <a:cs typeface="Calibri"/>
                <a:sym typeface="Calibri"/>
              </a:rPr>
              <a:t> cotizar las habitaciones en base a los precios del año anterior.</a:t>
            </a:r>
            <a:endParaRPr/>
          </a:p>
          <a:p>
            <a:pPr marL="342900" marR="0" lvl="0" indent="-342900" algn="just" rtl="0">
              <a:spcBef>
                <a:spcPts val="0"/>
              </a:spcBef>
              <a:spcAft>
                <a:spcPts val="0"/>
              </a:spcAft>
              <a:buClr>
                <a:srgbClr val="C00000"/>
              </a:buClr>
              <a:buSzPts val="2200"/>
              <a:buFont typeface="Arial"/>
              <a:buChar char="•"/>
            </a:pPr>
            <a:r>
              <a:rPr lang="es-ES" sz="2200" u="sng">
                <a:solidFill>
                  <a:schemeClr val="dk1"/>
                </a:solidFill>
                <a:latin typeface="Calibri"/>
                <a:ea typeface="Calibri"/>
                <a:cs typeface="Calibri"/>
                <a:sym typeface="Calibri"/>
              </a:rPr>
              <a:t>Como</a:t>
            </a:r>
            <a:r>
              <a:rPr lang="es-ES" sz="2200">
                <a:solidFill>
                  <a:schemeClr val="dk1"/>
                </a:solidFill>
                <a:latin typeface="Calibri"/>
                <a:ea typeface="Calibri"/>
                <a:cs typeface="Calibri"/>
                <a:sym typeface="Calibri"/>
              </a:rPr>
              <a:t> un operador hotelero </a:t>
            </a:r>
            <a:r>
              <a:rPr lang="es-ES" sz="2200" u="sng">
                <a:solidFill>
                  <a:schemeClr val="dk1"/>
                </a:solidFill>
                <a:latin typeface="Calibri"/>
                <a:ea typeface="Calibri"/>
                <a:cs typeface="Calibri"/>
                <a:sym typeface="Calibri"/>
              </a:rPr>
              <a:t>quiero</a:t>
            </a:r>
            <a:r>
              <a:rPr lang="es-ES" sz="2200">
                <a:solidFill>
                  <a:schemeClr val="dk1"/>
                </a:solidFill>
                <a:latin typeface="Calibri"/>
                <a:ea typeface="Calibri"/>
                <a:cs typeface="Calibri"/>
                <a:sym typeface="Calibri"/>
              </a:rPr>
              <a:t> establecer la tarifa óptima </a:t>
            </a:r>
            <a:r>
              <a:rPr lang="es-ES" sz="2200" u="sng">
                <a:solidFill>
                  <a:schemeClr val="dk1"/>
                </a:solidFill>
                <a:latin typeface="Calibri"/>
                <a:ea typeface="Calibri"/>
                <a:cs typeface="Calibri"/>
                <a:sym typeface="Calibri"/>
              </a:rPr>
              <a:t>para</a:t>
            </a:r>
            <a:r>
              <a:rPr lang="es-ES" sz="2200">
                <a:solidFill>
                  <a:schemeClr val="dk1"/>
                </a:solidFill>
                <a:latin typeface="Calibri"/>
                <a:ea typeface="Calibri"/>
                <a:cs typeface="Calibri"/>
                <a:sym typeface="Calibri"/>
              </a:rPr>
              <a:t> cotizar las habitaciones en base a las tarifas de otros hoteles comparables con el mío.</a:t>
            </a:r>
            <a:endParaRPr/>
          </a:p>
          <a:p>
            <a:pPr marL="0" marR="0" lvl="0" indent="0" algn="just" rtl="0">
              <a:spcBef>
                <a:spcPts val="0"/>
              </a:spcBef>
              <a:spcAft>
                <a:spcPts val="1200"/>
              </a:spcAft>
              <a:buNone/>
            </a:pPr>
            <a:endParaRPr sz="2400">
              <a:solidFill>
                <a:schemeClr val="dk1"/>
              </a:solidFill>
              <a:latin typeface="Calibri"/>
              <a:ea typeface="Calibri"/>
              <a:cs typeface="Calibri"/>
              <a:sym typeface="Calibri"/>
            </a:endParaRPr>
          </a:p>
        </p:txBody>
      </p:sp>
      <p:sp>
        <p:nvSpPr>
          <p:cNvPr id="569" name="Google Shape;569;p97"/>
          <p:cNvSpPr txBox="1"/>
          <p:nvPr/>
        </p:nvSpPr>
        <p:spPr>
          <a:xfrm>
            <a:off x="6398425" y="5977417"/>
            <a:ext cx="5793575" cy="369302"/>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s-ES" sz="1200" b="0" i="1" u="none" strike="noStrike" cap="none">
                <a:solidFill>
                  <a:schemeClr val="dk1"/>
                </a:solidFill>
                <a:highlight>
                  <a:srgbClr val="FFFFFF"/>
                </a:highlight>
                <a:latin typeface="Calibri"/>
                <a:ea typeface="Calibri"/>
                <a:cs typeface="Calibri"/>
                <a:sym typeface="Calibri"/>
              </a:rPr>
              <a:t>Este ejemplo fue obtenido de </a:t>
            </a:r>
            <a:r>
              <a:rPr lang="es-ES" sz="1200" b="1" i="1" u="none" strike="noStrike" cap="none">
                <a:solidFill>
                  <a:schemeClr val="dk1"/>
                </a:solidFill>
                <a:highlight>
                  <a:srgbClr val="FFFFFF"/>
                </a:highlight>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Mountain Goat Software. Two Examples of Spliting Epics</a:t>
            </a:r>
            <a:endParaRPr sz="2000" b="0" i="1" u="none" strike="noStrike" cap="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98"/>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HU – Características de las épicas</a:t>
            </a:r>
            <a:endParaRPr sz="4400">
              <a:solidFill>
                <a:schemeClr val="dk1"/>
              </a:solidFill>
              <a:latin typeface="Calibri"/>
              <a:ea typeface="Calibri"/>
              <a:cs typeface="Calibri"/>
              <a:sym typeface="Calibri"/>
            </a:endParaRPr>
          </a:p>
        </p:txBody>
      </p:sp>
      <p:sp>
        <p:nvSpPr>
          <p:cNvPr id="576" name="Google Shape;576;p98"/>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577" name="Google Shape;577;p98"/>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578" name="Google Shape;578;p98"/>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42</a:t>
            </a:fld>
            <a:endParaRPr/>
          </a:p>
        </p:txBody>
      </p:sp>
      <p:sp>
        <p:nvSpPr>
          <p:cNvPr id="579" name="Google Shape;579;p98"/>
          <p:cNvSpPr/>
          <p:nvPr/>
        </p:nvSpPr>
        <p:spPr>
          <a:xfrm>
            <a:off x="1151584" y="1886309"/>
            <a:ext cx="10129156" cy="4460410"/>
          </a:xfrm>
          <a:prstGeom prst="rect">
            <a:avLst/>
          </a:prstGeom>
          <a:noFill/>
          <a:ln>
            <a:noFill/>
          </a:ln>
        </p:spPr>
        <p:txBody>
          <a:bodyPr spcFirstLastPara="1" wrap="square" lIns="89625" tIns="44800" rIns="89625" bIns="44800" anchor="t" anchorCtr="0">
            <a:noAutofit/>
          </a:bodyPr>
          <a:lstStyle/>
          <a:p>
            <a:pPr marL="447466" marR="0" lvl="0" indent="-447466" algn="just" rtl="0">
              <a:spcBef>
                <a:spcPts val="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Las épicas suelen abarcar varios equipos de desarrollo.</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Recogen normalmente muchas historias de usuario.</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Los clientes determinan si eliminan o añaden historias dentro de cada épica.</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Una épica sirve para estructurar los temas e iniciativas (objetivos).</a:t>
            </a:r>
            <a:endParaRPr/>
          </a:p>
          <a:p>
            <a:pPr marL="447466" marR="0" lvl="0" indent="-447466" algn="just" rtl="0">
              <a:spcBef>
                <a:spcPts val="1200"/>
              </a:spcBef>
              <a:spcAft>
                <a:spcPts val="0"/>
              </a:spcAft>
              <a:buClr>
                <a:srgbClr val="C00000"/>
              </a:buClr>
              <a:buSzPts val="2600"/>
              <a:buFont typeface="Noto Sans Symbols"/>
              <a:buChar char="❖"/>
            </a:pPr>
            <a:r>
              <a:rPr lang="es-ES" sz="2600">
                <a:solidFill>
                  <a:schemeClr val="dk1"/>
                </a:solidFill>
                <a:latin typeface="Calibri"/>
                <a:ea typeface="Calibri"/>
                <a:cs typeface="Calibri"/>
                <a:sym typeface="Calibri"/>
              </a:rPr>
              <a:t>Las épicas también sirven para dar flexibilidad y agilidad al proyecto.</a:t>
            </a:r>
            <a:endParaRPr/>
          </a:p>
          <a:p>
            <a:pPr marL="447466" marR="0" lvl="0" indent="-282366" algn="just" rtl="0">
              <a:spcBef>
                <a:spcPts val="1200"/>
              </a:spcBef>
              <a:spcAft>
                <a:spcPts val="1200"/>
              </a:spcAft>
              <a:buClr>
                <a:srgbClr val="C00000"/>
              </a:buClr>
              <a:buSzPts val="2600"/>
              <a:buFont typeface="Noto Sans Symbols"/>
              <a:buNone/>
            </a:pPr>
            <a:endParaRPr sz="26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99"/>
          <p:cNvSpPr txBox="1">
            <a:spLocks noGrp="1"/>
          </p:cNvSpPr>
          <p:nvPr>
            <p:ph type="title"/>
          </p:nvPr>
        </p:nvSpPr>
        <p:spPr>
          <a:xfrm>
            <a:off x="1086866" y="1177870"/>
            <a:ext cx="10428375" cy="595619"/>
          </a:xfrm>
          <a:prstGeom prst="rect">
            <a:avLst/>
          </a:prstGeom>
          <a:noFill/>
          <a:ln>
            <a:noFill/>
          </a:ln>
        </p:spPr>
        <p:txBody>
          <a:bodyPr spcFirstLastPara="1" wrap="square" lIns="71675" tIns="35825" rIns="71675" bIns="35825" anchor="t" anchorCtr="0">
            <a:noAutofit/>
          </a:bodyPr>
          <a:lstStyle/>
          <a:p>
            <a:pPr marL="0" lvl="0" indent="0" algn="l" rtl="0">
              <a:lnSpc>
                <a:spcPct val="84000"/>
              </a:lnSpc>
              <a:spcBef>
                <a:spcPts val="0"/>
              </a:spcBef>
              <a:spcAft>
                <a:spcPts val="0"/>
              </a:spcAft>
              <a:buNone/>
            </a:pPr>
            <a:r>
              <a:rPr lang="es-ES" sz="4400">
                <a:solidFill>
                  <a:schemeClr val="dk1"/>
                </a:solidFill>
                <a:latin typeface="Calibri"/>
                <a:ea typeface="Calibri"/>
                <a:cs typeface="Calibri"/>
                <a:sym typeface="Calibri"/>
              </a:rPr>
              <a:t>Bibliografía</a:t>
            </a:r>
            <a:endParaRPr sz="4400">
              <a:solidFill>
                <a:schemeClr val="dk1"/>
              </a:solidFill>
              <a:latin typeface="Calibri"/>
              <a:ea typeface="Calibri"/>
              <a:cs typeface="Calibri"/>
              <a:sym typeface="Calibri"/>
            </a:endParaRPr>
          </a:p>
        </p:txBody>
      </p:sp>
      <p:sp>
        <p:nvSpPr>
          <p:cNvPr id="586" name="Google Shape;586;p99"/>
          <p:cNvSpPr txBox="1">
            <a:spLocks noGrp="1"/>
          </p:cNvSpPr>
          <p:nvPr>
            <p:ph type="dt" idx="10"/>
          </p:nvPr>
        </p:nvSpPr>
        <p:spPr>
          <a:xfrm>
            <a:off x="1096963" y="6459538"/>
            <a:ext cx="2473325"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s-ES"/>
              <a:t>2026</a:t>
            </a:r>
            <a:endParaRPr/>
          </a:p>
        </p:txBody>
      </p:sp>
      <p:sp>
        <p:nvSpPr>
          <p:cNvPr id="587" name="Google Shape;587;p99"/>
          <p:cNvSpPr txBox="1">
            <a:spLocks noGrp="1"/>
          </p:cNvSpPr>
          <p:nvPr>
            <p:ph type="ftr" idx="11"/>
          </p:nvPr>
        </p:nvSpPr>
        <p:spPr>
          <a:xfrm>
            <a:off x="3686175" y="6459538"/>
            <a:ext cx="4822825"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s-ES"/>
              <a:t>INGENIERÍA DE SOFTWARE I</a:t>
            </a:r>
            <a:endParaRPr/>
          </a:p>
        </p:txBody>
      </p:sp>
      <p:sp>
        <p:nvSpPr>
          <p:cNvPr id="588" name="Google Shape;588;p99"/>
          <p:cNvSpPr txBox="1">
            <a:spLocks noGrp="1"/>
          </p:cNvSpPr>
          <p:nvPr>
            <p:ph type="sldNum" idx="12"/>
          </p:nvPr>
        </p:nvSpPr>
        <p:spPr>
          <a:xfrm>
            <a:off x="9901238" y="6459538"/>
            <a:ext cx="1311275"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ES"/>
              <a:t>43</a:t>
            </a:fld>
            <a:endParaRPr/>
          </a:p>
        </p:txBody>
      </p:sp>
      <p:sp>
        <p:nvSpPr>
          <p:cNvPr id="589" name="Google Shape;589;p99"/>
          <p:cNvSpPr/>
          <p:nvPr/>
        </p:nvSpPr>
        <p:spPr>
          <a:xfrm>
            <a:off x="1151584" y="1886309"/>
            <a:ext cx="9945202" cy="4460410"/>
          </a:xfrm>
          <a:prstGeom prst="rect">
            <a:avLst/>
          </a:prstGeom>
          <a:noFill/>
          <a:ln>
            <a:noFill/>
          </a:ln>
        </p:spPr>
        <p:txBody>
          <a:bodyPr spcFirstLastPara="1" wrap="square" lIns="89625" tIns="44800" rIns="89625" bIns="44800" anchor="t" anchorCtr="0">
            <a:noAutofit/>
          </a:bodyPr>
          <a:lstStyle/>
          <a:p>
            <a:pPr marL="263525" marR="0" lvl="0" indent="-263525" algn="just" rtl="0">
              <a:spcBef>
                <a:spcPts val="0"/>
              </a:spcBef>
              <a:spcAft>
                <a:spcPts val="0"/>
              </a:spcAft>
              <a:buClr>
                <a:schemeClr val="dk1"/>
              </a:buClr>
              <a:buSzPts val="2400"/>
              <a:buFont typeface="Times New Roman"/>
              <a:buChar char="-"/>
            </a:pPr>
            <a:r>
              <a:rPr lang="es-ES" sz="2400">
                <a:solidFill>
                  <a:schemeClr val="dk1"/>
                </a:solidFill>
                <a:latin typeface="Calibri"/>
                <a:ea typeface="Calibri"/>
                <a:cs typeface="Calibri"/>
                <a:sym typeface="Calibri"/>
              </a:rPr>
              <a:t>Pfleeger, Capítulo 4 , Ingeniería de Software, Pearson Prentice Hall 2002 </a:t>
            </a:r>
            <a:endParaRPr/>
          </a:p>
          <a:p>
            <a:pPr marL="263525" marR="0" lvl="0" indent="-263525" algn="just" rtl="0">
              <a:spcBef>
                <a:spcPts val="300"/>
              </a:spcBef>
              <a:spcAft>
                <a:spcPts val="0"/>
              </a:spcAft>
              <a:buClr>
                <a:schemeClr val="dk1"/>
              </a:buClr>
              <a:buSzPts val="2400"/>
              <a:buFont typeface="Times New Roman"/>
              <a:buChar char="-"/>
            </a:pPr>
            <a:r>
              <a:rPr lang="es-ES" sz="2400">
                <a:solidFill>
                  <a:schemeClr val="dk1"/>
                </a:solidFill>
                <a:latin typeface="Calibri"/>
                <a:ea typeface="Calibri"/>
                <a:cs typeface="Calibri"/>
                <a:sym typeface="Calibri"/>
              </a:rPr>
              <a:t>Sommerville Ian,  Capítulo 4, Ingeniería de software, Addison Wesley 2011</a:t>
            </a:r>
            <a:endParaRPr/>
          </a:p>
          <a:p>
            <a:pPr marL="263525" marR="0" lvl="0" indent="-263525" algn="just" rtl="0">
              <a:spcBef>
                <a:spcPts val="300"/>
              </a:spcBef>
              <a:spcAft>
                <a:spcPts val="0"/>
              </a:spcAft>
              <a:buClr>
                <a:schemeClr val="dk1"/>
              </a:buClr>
              <a:buSzPts val="2400"/>
              <a:buFont typeface="Times New Roman"/>
              <a:buChar char="-"/>
            </a:pPr>
            <a:r>
              <a:rPr lang="es-ES" sz="2400">
                <a:solidFill>
                  <a:schemeClr val="dk1"/>
                </a:solidFill>
                <a:latin typeface="Calibri"/>
                <a:ea typeface="Calibri"/>
                <a:cs typeface="Calibri"/>
                <a:sym typeface="Calibri"/>
              </a:rPr>
              <a:t>Whitten y Bentley, Análisis de Sistemas Diseño y Métodos, Capítulo 6, Mc Graw Hill 2008</a:t>
            </a:r>
            <a:endParaRPr/>
          </a:p>
          <a:p>
            <a:pPr marL="263525" marR="0" lvl="0" indent="-263525" algn="just" rtl="0">
              <a:spcBef>
                <a:spcPts val="300"/>
              </a:spcBef>
              <a:spcAft>
                <a:spcPts val="300"/>
              </a:spcAft>
              <a:buClr>
                <a:schemeClr val="dk1"/>
              </a:buClr>
              <a:buSzPts val="2400"/>
              <a:buFont typeface="Times New Roman"/>
              <a:buChar char="-"/>
            </a:pPr>
            <a:r>
              <a:rPr lang="es-ES" sz="2400">
                <a:solidFill>
                  <a:schemeClr val="dk1"/>
                </a:solidFill>
                <a:latin typeface="Calibri"/>
                <a:ea typeface="Calibri"/>
                <a:cs typeface="Calibri"/>
                <a:sym typeface="Calibri"/>
              </a:rPr>
              <a:t>Mike Cohn, User Stories Applied, Addison Wesley 2004</a:t>
            </a:r>
            <a:endParaRPr/>
          </a:p>
        </p:txBody>
      </p:sp>
    </p:spTree>
  </p:cSld>
  <p:clrMapOvr>
    <a:masterClrMapping/>
  </p:clrMapOvr>
</p:sld>
</file>

<file path=ppt/theme/theme1.xml><?xml version="1.0" encoding="utf-8"?>
<a:theme xmlns:a="http://schemas.openxmlformats.org/drawingml/2006/main" name="Retrospección">
  <a:themeElements>
    <a:clrScheme name="Naranja rojo">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3156</Words>
  <Application>Microsoft Office PowerPoint</Application>
  <PresentationFormat>Panorámica</PresentationFormat>
  <Paragraphs>474</Paragraphs>
  <Slides>43</Slides>
  <Notes>43</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43</vt:i4>
      </vt:variant>
    </vt:vector>
  </HeadingPairs>
  <TitlesOfParts>
    <vt:vector size="49" baseType="lpstr">
      <vt:lpstr>Times New Roman</vt:lpstr>
      <vt:lpstr>Calibri</vt:lpstr>
      <vt:lpstr>Noto Sans Symbols</vt:lpstr>
      <vt:lpstr>Arial</vt:lpstr>
      <vt:lpstr>Gill Sans</vt:lpstr>
      <vt:lpstr>Retrospección</vt:lpstr>
      <vt:lpstr>Ingeniería de Software I</vt:lpstr>
      <vt:lpstr>Contenidos</vt:lpstr>
      <vt:lpstr>Técnicas de Elicitación</vt:lpstr>
      <vt:lpstr>Métodos interactivos - JRP</vt:lpstr>
      <vt:lpstr>Métodos interactivos - JRP</vt:lpstr>
      <vt:lpstr>Presentación de PowerPoint</vt:lpstr>
      <vt:lpstr>Métodos interactivos - Brainstorming</vt:lpstr>
      <vt:lpstr>Métodos interactivos - Brainstorming</vt:lpstr>
      <vt:lpstr>Métodos interactivos - Brainstorming</vt:lpstr>
      <vt:lpstr>Presentación de PowerPoint</vt:lpstr>
      <vt:lpstr>MÉTODOS DISCRETOS</vt:lpstr>
      <vt:lpstr>Métodos discretos</vt:lpstr>
      <vt:lpstr>Métodos discretos - Muestreo de la documentación,  los formularios y los datos existentes</vt:lpstr>
      <vt:lpstr>Métodos discretos - Muestreo de la documentación,  los formularios y los datos existentes</vt:lpstr>
      <vt:lpstr>Métodos discretos - Investigación y visitas al lugar</vt:lpstr>
      <vt:lpstr>Métodos discretos - Observación del ambiente  de trabajo</vt:lpstr>
      <vt:lpstr>Métodos discretos - Observación del ambiente  de trabajo</vt:lpstr>
      <vt:lpstr>Presentación de PowerPoint</vt:lpstr>
      <vt:lpstr>Especificación de Requerimientos </vt:lpstr>
      <vt:lpstr>Especificación de Requerimientos</vt:lpstr>
      <vt:lpstr>Especificación de Requerimientos</vt:lpstr>
      <vt:lpstr>Especificación de Requerimientos</vt:lpstr>
      <vt:lpstr>Especificación de Requerimientos</vt:lpstr>
      <vt:lpstr>Especificación de Requerimientos</vt:lpstr>
      <vt:lpstr>Técnicas de Especificación de Requerimientos</vt:lpstr>
      <vt:lpstr>Técnicas de Especificación de Requerimientos</vt:lpstr>
      <vt:lpstr>Historias de Usuario - Conceptos</vt:lpstr>
      <vt:lpstr>Historias de Usuario – Forma de redactarlas</vt:lpstr>
      <vt:lpstr>Historias de Usuario – Forma de redactarlas</vt:lpstr>
      <vt:lpstr>Historias de Usuario – Características</vt:lpstr>
      <vt:lpstr>Historias de Usuario – Características</vt:lpstr>
      <vt:lpstr>Historias de Usuario – Criterios de aceptación</vt:lpstr>
      <vt:lpstr>Historias de Usuario – Criterios de aceptación</vt:lpstr>
      <vt:lpstr>Historias de Usuario – Plantilla</vt:lpstr>
      <vt:lpstr>Historias de Usuario</vt:lpstr>
      <vt:lpstr>Historias de Usuario</vt:lpstr>
      <vt:lpstr>Historias de Usuario – Beneficios</vt:lpstr>
      <vt:lpstr>Historias de Usuario – Limitaciones</vt:lpstr>
      <vt:lpstr>Historias de Usuario – Épicas</vt:lpstr>
      <vt:lpstr>Historias de Usuario – Ejemplo de épicas</vt:lpstr>
      <vt:lpstr>Historias de Usuario – Ejemplo de épicas</vt:lpstr>
      <vt:lpstr>HU – Características de las épicas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Luffi</dc:creator>
  <cp:lastModifiedBy>Rocio Muñoz</cp:lastModifiedBy>
  <cp:revision>8</cp:revision>
  <dcterms:created xsi:type="dcterms:W3CDTF">2020-09-07T21:38:23Z</dcterms:created>
  <dcterms:modified xsi:type="dcterms:W3CDTF">2026-08-25T17:00:27Z</dcterms:modified>
</cp:coreProperties>
</file>